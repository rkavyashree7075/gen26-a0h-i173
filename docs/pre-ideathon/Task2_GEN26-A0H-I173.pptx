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Lst>
  <p:sldSz cx="18288000" cy="10287000"/>
  <p:notesSz cx="6858000" cy="9144000"/>
  <p:embeddedFontLst>
    <p:embeddedFont>
      <p:font typeface="Archivo Black" panose="020B0604020202020204" charset="0"/>
      <p:regular r:id="rId10"/>
    </p:embeddedFont>
    <p:embeddedFont>
      <p:font typeface="Calibri (MS)" panose="020B0604020202020204" charset="0"/>
      <p:regular r:id="rId11"/>
    </p:embeddedFont>
    <p:embeddedFont>
      <p:font typeface="Calibri (MS) Bold" panose="020B0604020202020204" charset="0"/>
      <p:regular r:id="rId12"/>
    </p:embeddedFont>
    <p:embeddedFont>
      <p:font typeface="Calibri (MS) Italics" panose="020B0604020202020204" charset="0"/>
      <p:regular r:id="rId13"/>
    </p:embeddedFont>
    <p:embeddedFont>
      <p:font typeface="Cambria Bold" panose="02040803050406030204" pitchFamily="18" charset="0"/>
      <p:regular r:id="rId14"/>
      <p:bold r:id="rId15"/>
    </p:embeddedFont>
    <p:embeddedFont>
      <p:font typeface="Cooper BT Bold" panose="020B0604020202020204" charset="0"/>
      <p:regular r:id="rId16"/>
    </p:embeddedFont>
    <p:embeddedFont>
      <p:font typeface="Glacial Indifference" panose="020B0604020202020204" charset="0"/>
      <p:regular r:id="rId17"/>
    </p:embeddedFont>
    <p:embeddedFont>
      <p:font typeface="Glacial Indifference Bold" panose="020B0604020202020204" charset="0"/>
      <p:regular r:id="rId18"/>
    </p:embeddedFont>
    <p:embeddedFont>
      <p:font typeface="Times New Roman MT" panose="020B0604020202020204" charset="0"/>
      <p:regular r:id="rId19"/>
    </p:embeddedFont>
    <p:embeddedFont>
      <p:font typeface="Times New Roman MT Bold" panose="020B0604020202020204" charset="0"/>
      <p:regular r:id="rId2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41" d="100"/>
          <a:sy n="41" d="100"/>
        </p:scale>
        <p:origin x="820"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4.fntdata"/><Relationship Id="rId18"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font" Target="fonts/font3.fntdata"/><Relationship Id="rId17"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font" Target="fonts/font7.fntdata"/><Relationship Id="rId20"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2.fntdata"/><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font" Target="fonts/font6.fntdata"/><Relationship Id="rId23" Type="http://schemas.openxmlformats.org/officeDocument/2006/relationships/theme" Target="theme/theme1.xml"/><Relationship Id="rId10" Type="http://schemas.openxmlformats.org/officeDocument/2006/relationships/font" Target="fonts/font1.fntdata"/><Relationship Id="rId19" Type="http://schemas.openxmlformats.org/officeDocument/2006/relationships/font" Target="fonts/font10.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5.fntdata"/><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jpeg"/><Relationship Id="rId3" Type="http://schemas.openxmlformats.org/officeDocument/2006/relationships/image" Target="../media/image1.jpeg"/><Relationship Id="rId7" Type="http://schemas.openxmlformats.org/officeDocument/2006/relationships/image" Target="../media/image6.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png"/><Relationship Id="rId9"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hyperlink" Target="https://dialogue.earth/en/climate/qa-there-was-a-gap-between-alert-and-action-in-nepal-floods-2/" TargetMode="External"/><Relationship Id="rId3" Type="http://schemas.openxmlformats.org/officeDocument/2006/relationships/image" Target="../media/image1.jpeg"/><Relationship Id="rId7" Type="http://schemas.openxmlformats.org/officeDocument/2006/relationships/image" Target="../media/image11.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hyperlink" Target="https://islamic-relief.org/news/nepal-floods-your-questions-answered/" TargetMode="Externa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image" Target="../media/image2.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6.svg"/><Relationship Id="rId5" Type="http://schemas.openxmlformats.org/officeDocument/2006/relationships/image" Target="../media/image1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20.pn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8" Type="http://schemas.openxmlformats.org/officeDocument/2006/relationships/image" Target="../media/image24.svg"/><Relationship Id="rId3" Type="http://schemas.openxmlformats.org/officeDocument/2006/relationships/image" Target="../media/image1.jpeg"/><Relationship Id="rId7" Type="http://schemas.openxmlformats.org/officeDocument/2006/relationships/image" Target="../media/image23.svg"/><Relationship Id="rId2" Type="http://schemas.openxmlformats.org/officeDocument/2006/relationships/image" Target="../media/image2.png"/><Relationship Id="rId1" Type="http://schemas.openxmlformats.org/officeDocument/2006/relationships/slideLayout" Target="../slideLayouts/slideLayout7.xml"/><Relationship Id="rId6" Type="http://schemas.openxmlformats.org/officeDocument/2006/relationships/image" Target="../media/image22.svg"/><Relationship Id="rId5" Type="http://schemas.openxmlformats.org/officeDocument/2006/relationships/image" Target="../media/image21.sv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52B35"/>
        </a:solidFill>
        <a:effectLst/>
      </p:bgPr>
    </p:bg>
    <p:spTree>
      <p:nvGrpSpPr>
        <p:cNvPr id="1" name=""/>
        <p:cNvGrpSpPr/>
        <p:nvPr/>
      </p:nvGrpSpPr>
      <p:grpSpPr>
        <a:xfrm>
          <a:off x="0" y="0"/>
          <a:ext cx="0" cy="0"/>
          <a:chOff x="0" y="0"/>
          <a:chExt cx="0" cy="0"/>
        </a:xfrm>
      </p:grpSpPr>
      <p:grpSp>
        <p:nvGrpSpPr>
          <p:cNvPr id="2" name="Group 2"/>
          <p:cNvGrpSpPr/>
          <p:nvPr/>
        </p:nvGrpSpPr>
        <p:grpSpPr>
          <a:xfrm rot="5400000">
            <a:off x="13250475" y="-1845697"/>
            <a:ext cx="5567067" cy="4824412"/>
            <a:chOff x="0" y="0"/>
            <a:chExt cx="7422756" cy="6432550"/>
          </a:xfrm>
        </p:grpSpPr>
        <p:sp>
          <p:nvSpPr>
            <p:cNvPr id="3" name="Freeform 3"/>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blipFill>
              <a:blip r:embed="rId2">
                <a:alphaModFix amt="0"/>
              </a:blip>
              <a:stretch>
                <a:fillRect l="-61187" r="-61187"/>
              </a:stretch>
            </a:blipFill>
            <a:ln w="23812" cap="sq">
              <a:solidFill>
                <a:srgbClr val="4FA278"/>
              </a:solidFill>
              <a:prstDash val="solid"/>
              <a:miter/>
            </a:ln>
          </p:spPr>
        </p:sp>
      </p:grpSp>
      <p:grpSp>
        <p:nvGrpSpPr>
          <p:cNvPr id="4" name="Group 4"/>
          <p:cNvGrpSpPr/>
          <p:nvPr/>
        </p:nvGrpSpPr>
        <p:grpSpPr>
          <a:xfrm rot="5400000">
            <a:off x="15774219" y="2525554"/>
            <a:ext cx="5567067" cy="4824412"/>
            <a:chOff x="0" y="0"/>
            <a:chExt cx="7422756" cy="6432550"/>
          </a:xfrm>
        </p:grpSpPr>
        <p:sp>
          <p:nvSpPr>
            <p:cNvPr id="5" name="Freeform 5"/>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solidFill>
              <a:srgbClr val="026855">
                <a:alpha val="5882"/>
              </a:srgbClr>
            </a:solidFill>
            <a:ln w="23812" cap="sq">
              <a:solidFill>
                <a:srgbClr val="4FA278"/>
              </a:solidFill>
              <a:prstDash val="solid"/>
              <a:miter/>
            </a:ln>
          </p:spPr>
        </p:sp>
      </p:grpSp>
      <p:grpSp>
        <p:nvGrpSpPr>
          <p:cNvPr id="6" name="Group 6"/>
          <p:cNvGrpSpPr/>
          <p:nvPr/>
        </p:nvGrpSpPr>
        <p:grpSpPr>
          <a:xfrm rot="5400000">
            <a:off x="13250475" y="6896805"/>
            <a:ext cx="5567067" cy="4824412"/>
            <a:chOff x="0" y="0"/>
            <a:chExt cx="7422756" cy="6432550"/>
          </a:xfrm>
        </p:grpSpPr>
        <p:sp>
          <p:nvSpPr>
            <p:cNvPr id="7" name="Freeform 7"/>
            <p:cNvSpPr/>
            <p:nvPr/>
          </p:nvSpPr>
          <p:spPr>
            <a:xfrm>
              <a:off x="0" y="0"/>
              <a:ext cx="7422769" cy="6432550"/>
            </a:xfrm>
            <a:custGeom>
              <a:avLst/>
              <a:gdLst/>
              <a:ahLst/>
              <a:cxnLst/>
              <a:rect l="l" t="t" r="r" b="b"/>
              <a:pathLst>
                <a:path w="7422769" h="6432550">
                  <a:moveTo>
                    <a:pt x="0" y="3216275"/>
                  </a:moveTo>
                  <a:lnTo>
                    <a:pt x="1608074" y="0"/>
                  </a:lnTo>
                  <a:lnTo>
                    <a:pt x="5814568" y="0"/>
                  </a:lnTo>
                  <a:lnTo>
                    <a:pt x="7422769" y="3216275"/>
                  </a:lnTo>
                  <a:lnTo>
                    <a:pt x="5814568" y="6432550"/>
                  </a:lnTo>
                  <a:lnTo>
                    <a:pt x="1608074" y="6432550"/>
                  </a:lnTo>
                  <a:close/>
                </a:path>
              </a:pathLst>
            </a:custGeom>
            <a:blipFill>
              <a:blip r:embed="rId2">
                <a:alphaModFix amt="0"/>
              </a:blip>
              <a:stretch>
                <a:fillRect l="-61187" r="-61187"/>
              </a:stretch>
            </a:blipFill>
            <a:ln w="23812" cap="sq">
              <a:solidFill>
                <a:srgbClr val="4FA278"/>
              </a:solidFill>
              <a:prstDash val="solid"/>
              <a:miter/>
            </a:ln>
          </p:spPr>
        </p:sp>
      </p:grpSp>
      <p:grpSp>
        <p:nvGrpSpPr>
          <p:cNvPr id="8" name="Group 8"/>
          <p:cNvGrpSpPr/>
          <p:nvPr/>
        </p:nvGrpSpPr>
        <p:grpSpPr>
          <a:xfrm rot="5400000">
            <a:off x="9920040" y="4766310"/>
            <a:ext cx="871080" cy="754380"/>
            <a:chOff x="0" y="0"/>
            <a:chExt cx="1161440" cy="1005840"/>
          </a:xfrm>
        </p:grpSpPr>
        <p:sp>
          <p:nvSpPr>
            <p:cNvPr id="9" name="Freeform 9"/>
            <p:cNvSpPr/>
            <p:nvPr/>
          </p:nvSpPr>
          <p:spPr>
            <a:xfrm>
              <a:off x="0" y="0"/>
              <a:ext cx="1161415" cy="1005840"/>
            </a:xfrm>
            <a:custGeom>
              <a:avLst/>
              <a:gdLst/>
              <a:ahLst/>
              <a:cxnLst/>
              <a:rect l="l" t="t" r="r" b="b"/>
              <a:pathLst>
                <a:path w="1161415" h="1005840">
                  <a:moveTo>
                    <a:pt x="0" y="502920"/>
                  </a:moveTo>
                  <a:lnTo>
                    <a:pt x="251460" y="0"/>
                  </a:lnTo>
                  <a:lnTo>
                    <a:pt x="909955" y="0"/>
                  </a:lnTo>
                  <a:lnTo>
                    <a:pt x="1161415" y="502920"/>
                  </a:lnTo>
                  <a:lnTo>
                    <a:pt x="909955" y="1005840"/>
                  </a:lnTo>
                  <a:lnTo>
                    <a:pt x="251460" y="1005840"/>
                  </a:lnTo>
                  <a:close/>
                </a:path>
              </a:pathLst>
            </a:custGeom>
            <a:solidFill>
              <a:srgbClr val="7AC143"/>
            </a:solidFill>
          </p:spPr>
        </p:sp>
      </p:grpSp>
      <p:grpSp>
        <p:nvGrpSpPr>
          <p:cNvPr id="10" name="Group 10"/>
          <p:cNvGrpSpPr/>
          <p:nvPr/>
        </p:nvGrpSpPr>
        <p:grpSpPr>
          <a:xfrm rot="5400000">
            <a:off x="16274377" y="2592324"/>
            <a:ext cx="506816" cy="438912"/>
            <a:chOff x="0" y="0"/>
            <a:chExt cx="675754" cy="585216"/>
          </a:xfrm>
        </p:grpSpPr>
        <p:sp>
          <p:nvSpPr>
            <p:cNvPr id="11" name="Freeform 11"/>
            <p:cNvSpPr/>
            <p:nvPr/>
          </p:nvSpPr>
          <p:spPr>
            <a:xfrm>
              <a:off x="0" y="0"/>
              <a:ext cx="675767" cy="585216"/>
            </a:xfrm>
            <a:custGeom>
              <a:avLst/>
              <a:gdLst/>
              <a:ahLst/>
              <a:cxnLst/>
              <a:rect l="l" t="t" r="r" b="b"/>
              <a:pathLst>
                <a:path w="675767" h="585216">
                  <a:moveTo>
                    <a:pt x="0" y="292608"/>
                  </a:moveTo>
                  <a:lnTo>
                    <a:pt x="146304" y="0"/>
                  </a:lnTo>
                  <a:lnTo>
                    <a:pt x="529463" y="0"/>
                  </a:lnTo>
                  <a:lnTo>
                    <a:pt x="675767" y="292608"/>
                  </a:lnTo>
                  <a:lnTo>
                    <a:pt x="529463" y="585216"/>
                  </a:lnTo>
                  <a:lnTo>
                    <a:pt x="146304" y="585216"/>
                  </a:lnTo>
                  <a:close/>
                </a:path>
              </a:pathLst>
            </a:custGeom>
            <a:solidFill>
              <a:srgbClr val="7AC143">
                <a:alpha val="48627"/>
              </a:srgbClr>
            </a:solidFill>
          </p:spPr>
        </p:sp>
      </p:grpSp>
      <p:grpSp>
        <p:nvGrpSpPr>
          <p:cNvPr id="12" name="Group 12"/>
          <p:cNvGrpSpPr/>
          <p:nvPr/>
        </p:nvGrpSpPr>
        <p:grpSpPr>
          <a:xfrm rot="5400000">
            <a:off x="10303088" y="2160270"/>
            <a:ext cx="6414335" cy="5554980"/>
            <a:chOff x="0" y="0"/>
            <a:chExt cx="8552447" cy="7406640"/>
          </a:xfrm>
        </p:grpSpPr>
        <p:sp>
          <p:nvSpPr>
            <p:cNvPr id="13" name="Freeform 13"/>
            <p:cNvSpPr/>
            <p:nvPr/>
          </p:nvSpPr>
          <p:spPr>
            <a:xfrm>
              <a:off x="0" y="0"/>
              <a:ext cx="8552434" cy="7406640"/>
            </a:xfrm>
            <a:custGeom>
              <a:avLst/>
              <a:gdLst/>
              <a:ahLst/>
              <a:cxnLst/>
              <a:rect l="l" t="t" r="r" b="b"/>
              <a:pathLst>
                <a:path w="8552434" h="7406640">
                  <a:moveTo>
                    <a:pt x="0" y="3703320"/>
                  </a:moveTo>
                  <a:lnTo>
                    <a:pt x="1851660" y="0"/>
                  </a:lnTo>
                  <a:lnTo>
                    <a:pt x="6700774" y="0"/>
                  </a:lnTo>
                  <a:lnTo>
                    <a:pt x="8552434" y="3703320"/>
                  </a:lnTo>
                  <a:lnTo>
                    <a:pt x="6700774" y="7406640"/>
                  </a:lnTo>
                  <a:lnTo>
                    <a:pt x="1851660" y="7406640"/>
                  </a:lnTo>
                  <a:close/>
                </a:path>
              </a:pathLst>
            </a:custGeom>
            <a:solidFill>
              <a:srgbClr val="026855">
                <a:alpha val="20000"/>
              </a:srgbClr>
            </a:solidFill>
          </p:spPr>
        </p:sp>
      </p:grpSp>
      <p:grpSp>
        <p:nvGrpSpPr>
          <p:cNvPr id="14" name="Group 14"/>
          <p:cNvGrpSpPr/>
          <p:nvPr/>
        </p:nvGrpSpPr>
        <p:grpSpPr>
          <a:xfrm rot="5400000">
            <a:off x="10119255" y="7186612"/>
            <a:ext cx="1295600" cy="1125855"/>
            <a:chOff x="0" y="0"/>
            <a:chExt cx="1727467" cy="1501140"/>
          </a:xfrm>
        </p:grpSpPr>
        <p:sp>
          <p:nvSpPr>
            <p:cNvPr id="15" name="Freeform 15"/>
            <p:cNvSpPr/>
            <p:nvPr/>
          </p:nvSpPr>
          <p:spPr>
            <a:xfrm>
              <a:off x="0" y="0"/>
              <a:ext cx="1727454" cy="1501140"/>
            </a:xfrm>
            <a:custGeom>
              <a:avLst/>
              <a:gdLst/>
              <a:ahLst/>
              <a:cxnLst/>
              <a:rect l="l" t="t" r="r" b="b"/>
              <a:pathLst>
                <a:path w="1727454" h="1501140">
                  <a:moveTo>
                    <a:pt x="0" y="750570"/>
                  </a:moveTo>
                  <a:lnTo>
                    <a:pt x="375285" y="0"/>
                  </a:lnTo>
                  <a:lnTo>
                    <a:pt x="1352169" y="0"/>
                  </a:lnTo>
                  <a:lnTo>
                    <a:pt x="1727454" y="750570"/>
                  </a:lnTo>
                  <a:lnTo>
                    <a:pt x="1352169" y="1501140"/>
                  </a:lnTo>
                  <a:lnTo>
                    <a:pt x="375285" y="1501140"/>
                  </a:lnTo>
                  <a:close/>
                </a:path>
              </a:pathLst>
            </a:custGeom>
            <a:blipFill>
              <a:blip r:embed="rId2">
                <a:alphaModFix amt="0"/>
              </a:blip>
              <a:stretch>
                <a:fillRect l="-61494" r="-61494"/>
              </a:stretch>
            </a:blipFill>
            <a:ln w="28575" cap="sq">
              <a:solidFill>
                <a:srgbClr val="7AC143">
                  <a:alpha val="60000"/>
                </a:srgbClr>
              </a:solidFill>
              <a:prstDash val="solid"/>
              <a:miter/>
            </a:ln>
          </p:spPr>
        </p:sp>
      </p:grpSp>
      <p:grpSp>
        <p:nvGrpSpPr>
          <p:cNvPr id="16" name="Group 16"/>
          <p:cNvGrpSpPr/>
          <p:nvPr/>
        </p:nvGrpSpPr>
        <p:grpSpPr>
          <a:xfrm rot="5400000">
            <a:off x="10710062" y="2508885"/>
            <a:ext cx="5600405" cy="4857750"/>
            <a:chOff x="0" y="0"/>
            <a:chExt cx="7467206" cy="6477000"/>
          </a:xfrm>
        </p:grpSpPr>
        <p:sp>
          <p:nvSpPr>
            <p:cNvPr id="17" name="Freeform 17"/>
            <p:cNvSpPr/>
            <p:nvPr/>
          </p:nvSpPr>
          <p:spPr>
            <a:xfrm>
              <a:off x="0" y="0"/>
              <a:ext cx="7467219" cy="6477000"/>
            </a:xfrm>
            <a:custGeom>
              <a:avLst/>
              <a:gdLst/>
              <a:ahLst/>
              <a:cxnLst/>
              <a:rect l="l" t="t" r="r" b="b"/>
              <a:pathLst>
                <a:path w="7467219" h="6477000">
                  <a:moveTo>
                    <a:pt x="0" y="3238500"/>
                  </a:moveTo>
                  <a:lnTo>
                    <a:pt x="1619250" y="0"/>
                  </a:lnTo>
                  <a:lnTo>
                    <a:pt x="5847969" y="0"/>
                  </a:lnTo>
                  <a:lnTo>
                    <a:pt x="7467219" y="3238500"/>
                  </a:lnTo>
                  <a:lnTo>
                    <a:pt x="5847969" y="6477000"/>
                  </a:lnTo>
                  <a:lnTo>
                    <a:pt x="1619250" y="6477000"/>
                  </a:lnTo>
                  <a:close/>
                </a:path>
              </a:pathLst>
            </a:custGeom>
            <a:solidFill>
              <a:srgbClr val="FFFFFF"/>
            </a:solidFill>
            <a:ln w="57150" cap="sq">
              <a:solidFill>
                <a:srgbClr val="7AC143"/>
              </a:solidFill>
              <a:prstDash val="solid"/>
              <a:miter/>
            </a:ln>
          </p:spPr>
        </p:sp>
      </p:grpSp>
      <p:grpSp>
        <p:nvGrpSpPr>
          <p:cNvPr id="18" name="Group 18"/>
          <p:cNvGrpSpPr/>
          <p:nvPr/>
        </p:nvGrpSpPr>
        <p:grpSpPr>
          <a:xfrm>
            <a:off x="12166149" y="3188970"/>
            <a:ext cx="2688222" cy="3497580"/>
            <a:chOff x="0" y="0"/>
            <a:chExt cx="3584296" cy="4663440"/>
          </a:xfrm>
        </p:grpSpPr>
        <p:sp>
          <p:nvSpPr>
            <p:cNvPr id="19" name="Freeform 19" descr="Genesis logo"/>
            <p:cNvSpPr/>
            <p:nvPr/>
          </p:nvSpPr>
          <p:spPr>
            <a:xfrm>
              <a:off x="0" y="0"/>
              <a:ext cx="3584321" cy="4663440"/>
            </a:xfrm>
            <a:custGeom>
              <a:avLst/>
              <a:gdLst/>
              <a:ahLst/>
              <a:cxnLst/>
              <a:rect l="l" t="t" r="r" b="b"/>
              <a:pathLst>
                <a:path w="3584321" h="4663440">
                  <a:moveTo>
                    <a:pt x="0" y="0"/>
                  </a:moveTo>
                  <a:lnTo>
                    <a:pt x="3584321" y="0"/>
                  </a:lnTo>
                  <a:lnTo>
                    <a:pt x="3584321" y="4663440"/>
                  </a:lnTo>
                  <a:lnTo>
                    <a:pt x="0" y="4663440"/>
                  </a:lnTo>
                  <a:lnTo>
                    <a:pt x="0" y="0"/>
                  </a:lnTo>
                  <a:close/>
                </a:path>
              </a:pathLst>
            </a:custGeom>
            <a:blipFill>
              <a:blip r:embed="rId3"/>
              <a:stretch>
                <a:fillRect/>
              </a:stretch>
            </a:blipFill>
          </p:spPr>
        </p:sp>
      </p:grpSp>
      <p:sp>
        <p:nvSpPr>
          <p:cNvPr id="20" name="TextBox 20"/>
          <p:cNvSpPr txBox="1"/>
          <p:nvPr/>
        </p:nvSpPr>
        <p:spPr>
          <a:xfrm>
            <a:off x="811054" y="864870"/>
            <a:ext cx="8503920" cy="2324100"/>
          </a:xfrm>
          <a:prstGeom prst="rect">
            <a:avLst/>
          </a:prstGeom>
        </p:spPr>
        <p:txBody>
          <a:bodyPr lIns="0" tIns="0" rIns="0" bIns="0" rtlCol="0" anchor="t">
            <a:spAutoFit/>
          </a:bodyPr>
          <a:lstStyle/>
          <a:p>
            <a:pPr algn="l">
              <a:lnSpc>
                <a:spcPts val="8748"/>
              </a:lnSpc>
            </a:pPr>
            <a:r>
              <a:rPr lang="en-US" sz="8100" b="1" spc="299">
                <a:solidFill>
                  <a:srgbClr val="FFFFFF"/>
                </a:solidFill>
                <a:latin typeface="Cambria Bold"/>
                <a:ea typeface="Cambria Bold"/>
                <a:cs typeface="Cambria Bold"/>
                <a:sym typeface="Cambria Bold"/>
              </a:rPr>
              <a:t>GENESIS</a:t>
            </a:r>
          </a:p>
          <a:p>
            <a:pPr algn="l">
              <a:lnSpc>
                <a:spcPts val="8748"/>
              </a:lnSpc>
            </a:pPr>
            <a:r>
              <a:rPr lang="en-US" sz="8100" b="1" spc="299">
                <a:solidFill>
                  <a:srgbClr val="7AC143"/>
                </a:solidFill>
                <a:latin typeface="Cambria Bold"/>
                <a:ea typeface="Cambria Bold"/>
                <a:cs typeface="Cambria Bold"/>
                <a:sym typeface="Cambria Bold"/>
              </a:rPr>
              <a:t>IDEATHON</a:t>
            </a:r>
          </a:p>
        </p:txBody>
      </p:sp>
      <p:grpSp>
        <p:nvGrpSpPr>
          <p:cNvPr id="21" name="Group 21"/>
          <p:cNvGrpSpPr/>
          <p:nvPr/>
        </p:nvGrpSpPr>
        <p:grpSpPr>
          <a:xfrm>
            <a:off x="1028700" y="3350043"/>
            <a:ext cx="3178492" cy="599885"/>
            <a:chOff x="0" y="0"/>
            <a:chExt cx="4237990" cy="799846"/>
          </a:xfrm>
        </p:grpSpPr>
        <p:sp>
          <p:nvSpPr>
            <p:cNvPr id="22" name="Freeform 22"/>
            <p:cNvSpPr/>
            <p:nvPr/>
          </p:nvSpPr>
          <p:spPr>
            <a:xfrm>
              <a:off x="0" y="0"/>
              <a:ext cx="4237990" cy="799846"/>
            </a:xfrm>
            <a:custGeom>
              <a:avLst/>
              <a:gdLst/>
              <a:ahLst/>
              <a:cxnLst/>
              <a:rect l="l" t="t" r="r" b="b"/>
              <a:pathLst>
                <a:path w="4237990" h="799846">
                  <a:moveTo>
                    <a:pt x="0" y="399923"/>
                  </a:moveTo>
                  <a:cubicBezTo>
                    <a:pt x="0" y="179070"/>
                    <a:pt x="179070" y="0"/>
                    <a:pt x="399923" y="0"/>
                  </a:cubicBezTo>
                  <a:lnTo>
                    <a:pt x="3838067" y="0"/>
                  </a:lnTo>
                  <a:cubicBezTo>
                    <a:pt x="4058920" y="0"/>
                    <a:pt x="4237990" y="179070"/>
                    <a:pt x="4237990" y="399923"/>
                  </a:cubicBezTo>
                  <a:cubicBezTo>
                    <a:pt x="4237990" y="620776"/>
                    <a:pt x="4058920" y="799846"/>
                    <a:pt x="3838067" y="799846"/>
                  </a:cubicBezTo>
                  <a:lnTo>
                    <a:pt x="399923" y="799846"/>
                  </a:lnTo>
                  <a:cubicBezTo>
                    <a:pt x="179070" y="799846"/>
                    <a:pt x="0" y="620776"/>
                    <a:pt x="0" y="399923"/>
                  </a:cubicBezTo>
                  <a:close/>
                </a:path>
              </a:pathLst>
            </a:custGeom>
            <a:blipFill>
              <a:blip r:embed="rId2">
                <a:alphaModFix amt="0"/>
              </a:blip>
              <a:stretch>
                <a:fillRect t="-53241" b="-53241"/>
              </a:stretch>
            </a:blipFill>
            <a:ln w="23812" cap="sq">
              <a:solidFill>
                <a:srgbClr val="7AC143"/>
              </a:solidFill>
              <a:prstDash val="solid"/>
              <a:miter/>
            </a:ln>
          </p:spPr>
        </p:sp>
        <p:sp>
          <p:nvSpPr>
            <p:cNvPr id="23" name="TextBox 23"/>
            <p:cNvSpPr txBox="1"/>
            <p:nvPr/>
          </p:nvSpPr>
          <p:spPr>
            <a:xfrm>
              <a:off x="0" y="-47625"/>
              <a:ext cx="4237990" cy="847471"/>
            </a:xfrm>
            <a:prstGeom prst="rect">
              <a:avLst/>
            </a:prstGeom>
          </p:spPr>
          <p:txBody>
            <a:bodyPr lIns="50800" tIns="50800" rIns="50800" bIns="50800" rtlCol="0" anchor="ctr"/>
            <a:lstStyle/>
            <a:p>
              <a:pPr algn="ctr">
                <a:lnSpc>
                  <a:spcPts val="2340"/>
                </a:lnSpc>
              </a:pPr>
              <a:r>
                <a:rPr lang="en-US" sz="1950" b="1" spc="449">
                  <a:solidFill>
                    <a:srgbClr val="FFFFFF"/>
                  </a:solidFill>
                  <a:latin typeface="Calibri (MS) Bold"/>
                  <a:ea typeface="Calibri (MS) Bold"/>
                  <a:cs typeface="Calibri (MS) Bold"/>
                  <a:sym typeface="Calibri (MS) Bold"/>
                </a:rPr>
                <a:t>TEAM &amp; DOMAIN</a:t>
              </a:r>
            </a:p>
          </p:txBody>
        </p:sp>
      </p:grpSp>
      <p:sp>
        <p:nvSpPr>
          <p:cNvPr id="24" name="TextBox 24"/>
          <p:cNvSpPr txBox="1"/>
          <p:nvPr/>
        </p:nvSpPr>
        <p:spPr>
          <a:xfrm>
            <a:off x="257166" y="4382352"/>
            <a:ext cx="10266049" cy="5381625"/>
          </a:xfrm>
          <a:prstGeom prst="rect">
            <a:avLst/>
          </a:prstGeom>
        </p:spPr>
        <p:txBody>
          <a:bodyPr lIns="0" tIns="0" rIns="0" bIns="0" rtlCol="0" anchor="t">
            <a:spAutoFit/>
          </a:bodyPr>
          <a:lstStyle/>
          <a:p>
            <a:pPr marL="488632" lvl="1" indent="-244316" algn="l">
              <a:lnSpc>
                <a:spcPts val="3240"/>
              </a:lnSpc>
              <a:buFont typeface="Arial"/>
              <a:buChar char="•"/>
            </a:pPr>
            <a:r>
              <a:rPr lang="en-US" sz="2700" b="1">
                <a:solidFill>
                  <a:srgbClr val="FFFFFF"/>
                </a:solidFill>
                <a:latin typeface="Times New Roman MT Bold"/>
                <a:ea typeface="Times New Roman MT Bold"/>
                <a:cs typeface="Times New Roman MT Bold"/>
                <a:sym typeface="Times New Roman MT Bold"/>
              </a:rPr>
              <a:t>Team Name</a:t>
            </a:r>
            <a:r>
              <a:rPr lang="en-US" sz="2700">
                <a:solidFill>
                  <a:srgbClr val="FFFFFF"/>
                </a:solidFill>
                <a:latin typeface="Times New Roman MT"/>
                <a:ea typeface="Times New Roman MT"/>
                <a:cs typeface="Times New Roman MT"/>
                <a:sym typeface="Times New Roman MT"/>
              </a:rPr>
              <a:t> – INNOV4</a:t>
            </a:r>
          </a:p>
          <a:p>
            <a:pPr marL="488632" lvl="1" indent="-244316" algn="l">
              <a:lnSpc>
                <a:spcPts val="3240"/>
              </a:lnSpc>
              <a:buFont typeface="Arial"/>
              <a:buChar char="•"/>
            </a:pPr>
            <a:r>
              <a:rPr lang="en-US" sz="2700" b="1">
                <a:solidFill>
                  <a:srgbClr val="FFFFFF"/>
                </a:solidFill>
                <a:latin typeface="Times New Roman MT Bold"/>
                <a:ea typeface="Times New Roman MT Bold"/>
                <a:cs typeface="Times New Roman MT Bold"/>
                <a:sym typeface="Times New Roman MT Bold"/>
              </a:rPr>
              <a:t>Team Members</a:t>
            </a:r>
            <a:r>
              <a:rPr lang="en-US" sz="2700">
                <a:solidFill>
                  <a:srgbClr val="FFFFFF"/>
                </a:solidFill>
                <a:latin typeface="Times New Roman MT"/>
                <a:ea typeface="Times New Roman MT"/>
                <a:cs typeface="Times New Roman MT"/>
                <a:sym typeface="Times New Roman MT"/>
              </a:rPr>
              <a:t> – Danushree K S           - CB.SC.U4CSE26313</a:t>
            </a:r>
          </a:p>
          <a:p>
            <a:pPr marL="488632" lvl="1" indent="-244316" algn="l">
              <a:lnSpc>
                <a:spcPts val="3240"/>
              </a:lnSpc>
              <a:buFont typeface="Arial"/>
              <a:buChar char="•"/>
            </a:pPr>
            <a:r>
              <a:rPr lang="en-US" sz="2700">
                <a:solidFill>
                  <a:srgbClr val="FFFFFF"/>
                </a:solidFill>
                <a:latin typeface="Times New Roman MT"/>
                <a:ea typeface="Times New Roman MT"/>
                <a:cs typeface="Times New Roman MT"/>
                <a:sym typeface="Times New Roman MT"/>
              </a:rPr>
              <a:t>                               Nibashini V G            - CB.SC.U4CSE26363</a:t>
            </a:r>
          </a:p>
          <a:p>
            <a:pPr algn="l">
              <a:lnSpc>
                <a:spcPts val="3240"/>
              </a:lnSpc>
            </a:pPr>
            <a:r>
              <a:rPr lang="en-US" sz="2700">
                <a:solidFill>
                  <a:srgbClr val="FFFFFF"/>
                </a:solidFill>
                <a:latin typeface="Times New Roman MT"/>
                <a:ea typeface="Times New Roman MT"/>
                <a:cs typeface="Times New Roman MT"/>
                <a:sym typeface="Times New Roman MT"/>
              </a:rPr>
              <a:t>                                     Kavyashree Rupesh   - CB.SC.U4CSE26325</a:t>
            </a:r>
          </a:p>
          <a:p>
            <a:pPr algn="l">
              <a:lnSpc>
                <a:spcPts val="3240"/>
              </a:lnSpc>
            </a:pPr>
            <a:r>
              <a:rPr lang="en-US" sz="2700">
                <a:solidFill>
                  <a:srgbClr val="FFFFFF"/>
                </a:solidFill>
                <a:latin typeface="Times New Roman MT"/>
                <a:ea typeface="Times New Roman MT"/>
                <a:cs typeface="Times New Roman MT"/>
                <a:sym typeface="Times New Roman MT"/>
              </a:rPr>
              <a:t>                                     Shamritha                   - CB.SC.U4CSE26354</a:t>
            </a:r>
          </a:p>
          <a:p>
            <a:pPr marL="582930" lvl="1" indent="-291465" algn="l">
              <a:lnSpc>
                <a:spcPts val="3240"/>
              </a:lnSpc>
              <a:buFont typeface="Arial"/>
              <a:buChar char="•"/>
            </a:pPr>
            <a:r>
              <a:rPr lang="en-US" sz="2700">
                <a:solidFill>
                  <a:srgbClr val="FFFFFF"/>
                </a:solidFill>
                <a:latin typeface="Times New Roman MT"/>
                <a:ea typeface="Times New Roman MT"/>
                <a:cs typeface="Times New Roman MT"/>
                <a:sym typeface="Times New Roman MT"/>
              </a:rPr>
              <a:t>Se</a:t>
            </a:r>
            <a:r>
              <a:rPr lang="en-US" sz="2700" b="1">
                <a:solidFill>
                  <a:srgbClr val="FFFFFF"/>
                </a:solidFill>
                <a:latin typeface="Times New Roman MT Bold"/>
                <a:ea typeface="Times New Roman MT Bold"/>
                <a:cs typeface="Times New Roman MT Bold"/>
                <a:sym typeface="Times New Roman MT Bold"/>
              </a:rPr>
              <a:t>lected Domain</a:t>
            </a:r>
            <a:r>
              <a:rPr lang="en-US" sz="2700">
                <a:solidFill>
                  <a:srgbClr val="FFFFFF"/>
                </a:solidFill>
                <a:latin typeface="Times New Roman MT"/>
                <a:ea typeface="Times New Roman MT"/>
                <a:cs typeface="Times New Roman MT"/>
                <a:sym typeface="Times New Roman MT"/>
              </a:rPr>
              <a:t> – 4. Climate action, water and environmental resilience</a:t>
            </a:r>
          </a:p>
          <a:p>
            <a:pPr marL="488632" lvl="1" indent="-244316" algn="l">
              <a:lnSpc>
                <a:spcPts val="3240"/>
              </a:lnSpc>
              <a:buFont typeface="Arial"/>
              <a:buChar char="•"/>
            </a:pPr>
            <a:r>
              <a:rPr lang="en-US" sz="2700" b="1">
                <a:solidFill>
                  <a:srgbClr val="FFFFFF"/>
                </a:solidFill>
                <a:latin typeface="Times New Roman MT Bold"/>
                <a:ea typeface="Times New Roman MT Bold"/>
                <a:cs typeface="Times New Roman MT Bold"/>
                <a:sym typeface="Times New Roman MT Bold"/>
              </a:rPr>
              <a:t>Problem Statement </a:t>
            </a:r>
            <a:r>
              <a:rPr lang="en-US" sz="2700">
                <a:solidFill>
                  <a:srgbClr val="FFFFFF"/>
                </a:solidFill>
                <a:latin typeface="Times New Roman MT"/>
                <a:ea typeface="Times New Roman MT"/>
                <a:cs typeface="Times New Roman MT"/>
                <a:sym typeface="Times New Roman MT"/>
              </a:rPr>
              <a:t>–  Climate-related disasters repeatedly damage homes, roads, public facilities and livelihoods, yet reconstruction often focuses on restoring what existed before rather than adapting communities to the risks they are increasingly likely to face. How can post-disaster reconstruction become more resilient to future climate conditions rather than simply replacing what was lost?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583925" y="209192"/>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807691" y="267176"/>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4154678" y="-544893"/>
            <a:ext cx="12821923" cy="2649939"/>
            <a:chOff x="0" y="0"/>
            <a:chExt cx="14631477" cy="3023924"/>
          </a:xfrm>
        </p:grpSpPr>
        <p:sp>
          <p:nvSpPr>
            <p:cNvPr id="14" name="Freeform 14"/>
            <p:cNvSpPr/>
            <p:nvPr/>
          </p:nvSpPr>
          <p:spPr>
            <a:xfrm>
              <a:off x="0" y="0"/>
              <a:ext cx="14631477" cy="3023924"/>
            </a:xfrm>
            <a:custGeom>
              <a:avLst/>
              <a:gdLst/>
              <a:ahLst/>
              <a:cxnLst/>
              <a:rect l="l" t="t" r="r" b="b"/>
              <a:pathLst>
                <a:path w="14631477" h="3023924">
                  <a:moveTo>
                    <a:pt x="0" y="0"/>
                  </a:moveTo>
                  <a:lnTo>
                    <a:pt x="14631477" y="0"/>
                  </a:lnTo>
                  <a:lnTo>
                    <a:pt x="14631477" y="3023924"/>
                  </a:lnTo>
                  <a:lnTo>
                    <a:pt x="0" y="3023924"/>
                  </a:lnTo>
                  <a:close/>
                </a:path>
              </a:pathLst>
            </a:custGeom>
            <a:blipFill>
              <a:blip r:embed="rId3">
                <a:alphaModFix amt="0"/>
              </a:blip>
              <a:stretch>
                <a:fillRect t="-69414" r="-2492" b="-23844"/>
              </a:stretch>
            </a:blipFill>
          </p:spPr>
        </p:sp>
        <p:sp>
          <p:nvSpPr>
            <p:cNvPr id="15" name="TextBox 15"/>
            <p:cNvSpPr txBox="1"/>
            <p:nvPr/>
          </p:nvSpPr>
          <p:spPr>
            <a:xfrm>
              <a:off x="0" y="-9525"/>
              <a:ext cx="14631477" cy="3033449"/>
            </a:xfrm>
            <a:prstGeom prst="rect">
              <a:avLst/>
            </a:prstGeom>
          </p:spPr>
          <p:txBody>
            <a:bodyPr lIns="0" tIns="0" rIns="0" bIns="0" rtlCol="0" anchor="ctr"/>
            <a:lstStyle/>
            <a:p>
              <a:pPr algn="ctr">
                <a:lnSpc>
                  <a:spcPts val="3840"/>
                </a:lnSpc>
              </a:pPr>
              <a:r>
                <a:rPr lang="en-US" sz="3200" b="1" spc="133">
                  <a:solidFill>
                    <a:srgbClr val="052B35"/>
                  </a:solidFill>
                  <a:latin typeface="Cambria Bold"/>
                  <a:ea typeface="Cambria Bold"/>
                  <a:cs typeface="Cambria Bold"/>
                  <a:sym typeface="Cambria Bold"/>
                </a:rPr>
                <a:t>WHY DO WE REBUILD THE SAME WAY AFTER A DISASTER?</a:t>
              </a:r>
            </a:p>
          </p:txBody>
        </p:sp>
      </p:grpSp>
      <p:grpSp>
        <p:nvGrpSpPr>
          <p:cNvPr id="16" name="Group 16"/>
          <p:cNvGrpSpPr/>
          <p:nvPr/>
        </p:nvGrpSpPr>
        <p:grpSpPr>
          <a:xfrm>
            <a:off x="575500" y="26717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822674" y="534352"/>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1028700" y="75438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1923030" y="370332"/>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2</a:t>
              </a:r>
            </a:p>
          </p:txBody>
        </p:sp>
      </p:grpSp>
      <p:grpSp>
        <p:nvGrpSpPr>
          <p:cNvPr id="28" name="Group 28"/>
          <p:cNvGrpSpPr/>
          <p:nvPr/>
        </p:nvGrpSpPr>
        <p:grpSpPr>
          <a:xfrm>
            <a:off x="2080945" y="5987447"/>
            <a:ext cx="6357202" cy="3086100"/>
            <a:chOff x="0" y="0"/>
            <a:chExt cx="1674325" cy="812800"/>
          </a:xfrm>
        </p:grpSpPr>
        <p:sp>
          <p:nvSpPr>
            <p:cNvPr id="29" name="Freeform 29"/>
            <p:cNvSpPr/>
            <p:nvPr/>
          </p:nvSpPr>
          <p:spPr>
            <a:xfrm>
              <a:off x="0" y="0"/>
              <a:ext cx="1674325" cy="812800"/>
            </a:xfrm>
            <a:custGeom>
              <a:avLst/>
              <a:gdLst/>
              <a:ahLst/>
              <a:cxnLst/>
              <a:rect l="l" t="t" r="r" b="b"/>
              <a:pathLst>
                <a:path w="1674325" h="812800">
                  <a:moveTo>
                    <a:pt x="36535" y="0"/>
                  </a:moveTo>
                  <a:lnTo>
                    <a:pt x="1637790" y="0"/>
                  </a:lnTo>
                  <a:cubicBezTo>
                    <a:pt x="1647480" y="0"/>
                    <a:pt x="1656773" y="3849"/>
                    <a:pt x="1663624" y="10701"/>
                  </a:cubicBezTo>
                  <a:cubicBezTo>
                    <a:pt x="1670476" y="17552"/>
                    <a:pt x="1674325" y="26845"/>
                    <a:pt x="1674325" y="36535"/>
                  </a:cubicBezTo>
                  <a:lnTo>
                    <a:pt x="1674325" y="776265"/>
                  </a:lnTo>
                  <a:cubicBezTo>
                    <a:pt x="1674325" y="785955"/>
                    <a:pt x="1670476" y="795248"/>
                    <a:pt x="1663624" y="802099"/>
                  </a:cubicBezTo>
                  <a:cubicBezTo>
                    <a:pt x="1656773" y="808951"/>
                    <a:pt x="1647480" y="812800"/>
                    <a:pt x="1637790" y="812800"/>
                  </a:cubicBezTo>
                  <a:lnTo>
                    <a:pt x="36535" y="812800"/>
                  </a:lnTo>
                  <a:cubicBezTo>
                    <a:pt x="26845" y="812800"/>
                    <a:pt x="17552" y="808951"/>
                    <a:pt x="10701" y="802099"/>
                  </a:cubicBezTo>
                  <a:cubicBezTo>
                    <a:pt x="3849" y="795248"/>
                    <a:pt x="0" y="785955"/>
                    <a:pt x="0" y="776265"/>
                  </a:cubicBezTo>
                  <a:lnTo>
                    <a:pt x="0" y="36535"/>
                  </a:lnTo>
                  <a:cubicBezTo>
                    <a:pt x="0" y="26845"/>
                    <a:pt x="3849" y="17552"/>
                    <a:pt x="10701" y="10701"/>
                  </a:cubicBezTo>
                  <a:cubicBezTo>
                    <a:pt x="17552" y="3849"/>
                    <a:pt x="26845" y="0"/>
                    <a:pt x="36535" y="0"/>
                  </a:cubicBezTo>
                  <a:close/>
                </a:path>
              </a:pathLst>
            </a:custGeom>
            <a:solidFill>
              <a:srgbClr val="FBF2CC"/>
            </a:solidFill>
          </p:spPr>
        </p:sp>
        <p:sp>
          <p:nvSpPr>
            <p:cNvPr id="30" name="TextBox 30"/>
            <p:cNvSpPr txBox="1"/>
            <p:nvPr/>
          </p:nvSpPr>
          <p:spPr>
            <a:xfrm>
              <a:off x="0" y="-19050"/>
              <a:ext cx="1674325" cy="831850"/>
            </a:xfrm>
            <a:prstGeom prst="rect">
              <a:avLst/>
            </a:prstGeom>
          </p:spPr>
          <p:txBody>
            <a:bodyPr lIns="50800" tIns="50800" rIns="50800" bIns="50800" rtlCol="0" anchor="ctr"/>
            <a:lstStyle/>
            <a:p>
              <a:pPr algn="ctr">
                <a:lnSpc>
                  <a:spcPts val="1889"/>
                </a:lnSpc>
              </a:pPr>
              <a:endParaRPr/>
            </a:p>
          </p:txBody>
        </p:sp>
      </p:grpSp>
      <p:grpSp>
        <p:nvGrpSpPr>
          <p:cNvPr id="31" name="Group 31"/>
          <p:cNvGrpSpPr/>
          <p:nvPr/>
        </p:nvGrpSpPr>
        <p:grpSpPr>
          <a:xfrm>
            <a:off x="10565639" y="5940758"/>
            <a:ext cx="6242052" cy="3086100"/>
            <a:chOff x="0" y="0"/>
            <a:chExt cx="1643997" cy="812800"/>
          </a:xfrm>
        </p:grpSpPr>
        <p:sp>
          <p:nvSpPr>
            <p:cNvPr id="32" name="Freeform 32"/>
            <p:cNvSpPr/>
            <p:nvPr/>
          </p:nvSpPr>
          <p:spPr>
            <a:xfrm>
              <a:off x="0" y="0"/>
              <a:ext cx="1643997" cy="812800"/>
            </a:xfrm>
            <a:custGeom>
              <a:avLst/>
              <a:gdLst/>
              <a:ahLst/>
              <a:cxnLst/>
              <a:rect l="l" t="t" r="r" b="b"/>
              <a:pathLst>
                <a:path w="1643997" h="812800">
                  <a:moveTo>
                    <a:pt x="37209" y="0"/>
                  </a:moveTo>
                  <a:lnTo>
                    <a:pt x="1606789" y="0"/>
                  </a:lnTo>
                  <a:cubicBezTo>
                    <a:pt x="1627338" y="0"/>
                    <a:pt x="1643997" y="16659"/>
                    <a:pt x="1643997" y="37209"/>
                  </a:cubicBezTo>
                  <a:lnTo>
                    <a:pt x="1643997" y="775591"/>
                  </a:lnTo>
                  <a:cubicBezTo>
                    <a:pt x="1643997" y="796141"/>
                    <a:pt x="1627338" y="812800"/>
                    <a:pt x="1606789" y="812800"/>
                  </a:cubicBezTo>
                  <a:lnTo>
                    <a:pt x="37209" y="812800"/>
                  </a:lnTo>
                  <a:cubicBezTo>
                    <a:pt x="16659" y="812800"/>
                    <a:pt x="0" y="796141"/>
                    <a:pt x="0" y="775591"/>
                  </a:cubicBezTo>
                  <a:lnTo>
                    <a:pt x="0" y="37209"/>
                  </a:lnTo>
                  <a:cubicBezTo>
                    <a:pt x="0" y="16659"/>
                    <a:pt x="16659" y="0"/>
                    <a:pt x="37209" y="0"/>
                  </a:cubicBezTo>
                  <a:close/>
                </a:path>
              </a:pathLst>
            </a:custGeom>
            <a:solidFill>
              <a:srgbClr val="FBF2CC"/>
            </a:solidFill>
          </p:spPr>
        </p:sp>
        <p:sp>
          <p:nvSpPr>
            <p:cNvPr id="33" name="TextBox 33"/>
            <p:cNvSpPr txBox="1"/>
            <p:nvPr/>
          </p:nvSpPr>
          <p:spPr>
            <a:xfrm>
              <a:off x="0" y="-19050"/>
              <a:ext cx="1643997" cy="831850"/>
            </a:xfrm>
            <a:prstGeom prst="rect">
              <a:avLst/>
            </a:prstGeom>
          </p:spPr>
          <p:txBody>
            <a:bodyPr lIns="50800" tIns="50800" rIns="50800" bIns="50800" rtlCol="0" anchor="ctr"/>
            <a:lstStyle/>
            <a:p>
              <a:pPr algn="ctr">
                <a:lnSpc>
                  <a:spcPts val="1889"/>
                </a:lnSpc>
              </a:pPr>
              <a:endParaRPr/>
            </a:p>
          </p:txBody>
        </p:sp>
      </p:grpSp>
      <p:sp>
        <p:nvSpPr>
          <p:cNvPr id="34" name="Freeform 34"/>
          <p:cNvSpPr/>
          <p:nvPr/>
        </p:nvSpPr>
        <p:spPr>
          <a:xfrm>
            <a:off x="309532" y="5975539"/>
            <a:ext cx="1438336" cy="1554957"/>
          </a:xfrm>
          <a:custGeom>
            <a:avLst/>
            <a:gdLst/>
            <a:ahLst/>
            <a:cxnLst/>
            <a:rect l="l" t="t" r="r" b="b"/>
            <a:pathLst>
              <a:path w="1438336" h="1554957">
                <a:moveTo>
                  <a:pt x="0" y="0"/>
                </a:moveTo>
                <a:lnTo>
                  <a:pt x="1438336" y="0"/>
                </a:lnTo>
                <a:lnTo>
                  <a:pt x="1438336" y="1554958"/>
                </a:lnTo>
                <a:lnTo>
                  <a:pt x="0" y="1554958"/>
                </a:lnTo>
                <a:lnTo>
                  <a:pt x="0" y="0"/>
                </a:lnTo>
                <a:close/>
              </a:path>
            </a:pathLst>
          </a:custGeom>
          <a:blipFill>
            <a:blip r:embed="rId5"/>
            <a:stretch>
              <a:fillRect/>
            </a:stretch>
          </a:blipFill>
        </p:spPr>
      </p:sp>
      <p:sp>
        <p:nvSpPr>
          <p:cNvPr id="35" name="Freeform 35"/>
          <p:cNvSpPr/>
          <p:nvPr/>
        </p:nvSpPr>
        <p:spPr>
          <a:xfrm>
            <a:off x="9143771" y="5987447"/>
            <a:ext cx="1281747" cy="1294694"/>
          </a:xfrm>
          <a:custGeom>
            <a:avLst/>
            <a:gdLst/>
            <a:ahLst/>
            <a:cxnLst/>
            <a:rect l="l" t="t" r="r" b="b"/>
            <a:pathLst>
              <a:path w="1281747" h="1294694">
                <a:moveTo>
                  <a:pt x="0" y="0"/>
                </a:moveTo>
                <a:lnTo>
                  <a:pt x="1281747" y="0"/>
                </a:lnTo>
                <a:lnTo>
                  <a:pt x="1281747" y="1294693"/>
                </a:lnTo>
                <a:lnTo>
                  <a:pt x="0" y="1294693"/>
                </a:lnTo>
                <a:lnTo>
                  <a:pt x="0" y="0"/>
                </a:lnTo>
                <a:close/>
              </a:path>
            </a:pathLst>
          </a:custGeom>
          <a:blipFill>
            <a:blip>
              <a:extLst>
                <a:ext uri="{96DAC541-7B7A-43D3-8B79-37D633B846F1}">
                  <asvg:svgBlip xmlns:asvg="http://schemas.microsoft.com/office/drawing/2016/SVG/main" r:embed="rId6"/>
                </a:ext>
              </a:extLst>
            </a:blip>
            <a:stretch>
              <a:fillRect/>
            </a:stretch>
          </a:blipFill>
        </p:spPr>
      </p:sp>
      <p:grpSp>
        <p:nvGrpSpPr>
          <p:cNvPr id="36" name="Group 36"/>
          <p:cNvGrpSpPr/>
          <p:nvPr/>
        </p:nvGrpSpPr>
        <p:grpSpPr>
          <a:xfrm>
            <a:off x="1018256" y="4123953"/>
            <a:ext cx="3480592" cy="735866"/>
            <a:chOff x="0" y="0"/>
            <a:chExt cx="812800" cy="171842"/>
          </a:xfrm>
        </p:grpSpPr>
        <p:sp>
          <p:nvSpPr>
            <p:cNvPr id="37" name="Freeform 37"/>
            <p:cNvSpPr/>
            <p:nvPr/>
          </p:nvSpPr>
          <p:spPr>
            <a:xfrm>
              <a:off x="0" y="0"/>
              <a:ext cx="812800" cy="171842"/>
            </a:xfrm>
            <a:custGeom>
              <a:avLst/>
              <a:gdLst/>
              <a:ahLst/>
              <a:cxnLst/>
              <a:rect l="l" t="t" r="r" b="b"/>
              <a:pathLst>
                <a:path w="812800" h="171842">
                  <a:moveTo>
                    <a:pt x="812800" y="0"/>
                  </a:moveTo>
                  <a:lnTo>
                    <a:pt x="0" y="0"/>
                  </a:lnTo>
                  <a:lnTo>
                    <a:pt x="101600" y="85921"/>
                  </a:lnTo>
                  <a:lnTo>
                    <a:pt x="0" y="171842"/>
                  </a:lnTo>
                  <a:lnTo>
                    <a:pt x="812800" y="171842"/>
                  </a:lnTo>
                  <a:lnTo>
                    <a:pt x="711200" y="85921"/>
                  </a:lnTo>
                  <a:lnTo>
                    <a:pt x="812800" y="0"/>
                  </a:lnTo>
                  <a:close/>
                </a:path>
              </a:pathLst>
            </a:custGeom>
            <a:solidFill>
              <a:srgbClr val="FBF2CC"/>
            </a:solidFill>
          </p:spPr>
        </p:sp>
        <p:sp>
          <p:nvSpPr>
            <p:cNvPr id="38" name="TextBox 38"/>
            <p:cNvSpPr txBox="1"/>
            <p:nvPr/>
          </p:nvSpPr>
          <p:spPr>
            <a:xfrm>
              <a:off x="88900" y="-38100"/>
              <a:ext cx="635000" cy="209942"/>
            </a:xfrm>
            <a:prstGeom prst="rect">
              <a:avLst/>
            </a:prstGeom>
          </p:spPr>
          <p:txBody>
            <a:bodyPr lIns="50800" tIns="50800" rIns="50800" bIns="50800" rtlCol="0" anchor="ctr"/>
            <a:lstStyle/>
            <a:p>
              <a:pPr algn="ctr">
                <a:lnSpc>
                  <a:spcPts val="2129"/>
                </a:lnSpc>
              </a:pPr>
              <a:r>
                <a:rPr lang="en-US" sz="1774" spc="169">
                  <a:solidFill>
                    <a:srgbClr val="000000"/>
                  </a:solidFill>
                  <a:latin typeface="Times New Roman MT"/>
                  <a:ea typeface="Times New Roman MT"/>
                  <a:cs typeface="Times New Roman MT"/>
                  <a:sym typeface="Times New Roman MT"/>
                </a:rPr>
                <a:t>A family. A home. A road. A community.</a:t>
              </a:r>
            </a:p>
          </p:txBody>
        </p:sp>
      </p:grpSp>
      <p:grpSp>
        <p:nvGrpSpPr>
          <p:cNvPr id="39" name="Group 39"/>
          <p:cNvGrpSpPr/>
          <p:nvPr/>
        </p:nvGrpSpPr>
        <p:grpSpPr>
          <a:xfrm>
            <a:off x="7598342" y="4015739"/>
            <a:ext cx="3091317" cy="750262"/>
            <a:chOff x="0" y="0"/>
            <a:chExt cx="1121761" cy="272251"/>
          </a:xfrm>
        </p:grpSpPr>
        <p:sp>
          <p:nvSpPr>
            <p:cNvPr id="40" name="Freeform 40"/>
            <p:cNvSpPr/>
            <p:nvPr/>
          </p:nvSpPr>
          <p:spPr>
            <a:xfrm>
              <a:off x="0" y="0"/>
              <a:ext cx="1121761" cy="272251"/>
            </a:xfrm>
            <a:custGeom>
              <a:avLst/>
              <a:gdLst/>
              <a:ahLst/>
              <a:cxnLst/>
              <a:rect l="l" t="t" r="r" b="b"/>
              <a:pathLst>
                <a:path w="1121761" h="272251">
                  <a:moveTo>
                    <a:pt x="1121761" y="0"/>
                  </a:moveTo>
                  <a:lnTo>
                    <a:pt x="0" y="0"/>
                  </a:lnTo>
                  <a:lnTo>
                    <a:pt x="101600" y="136126"/>
                  </a:lnTo>
                  <a:lnTo>
                    <a:pt x="0" y="272251"/>
                  </a:lnTo>
                  <a:lnTo>
                    <a:pt x="1121761" y="272251"/>
                  </a:lnTo>
                  <a:lnTo>
                    <a:pt x="1020161" y="136126"/>
                  </a:lnTo>
                  <a:lnTo>
                    <a:pt x="1121761" y="0"/>
                  </a:lnTo>
                  <a:close/>
                </a:path>
              </a:pathLst>
            </a:custGeom>
            <a:solidFill>
              <a:srgbClr val="FBF2CC"/>
            </a:solidFill>
          </p:spPr>
        </p:sp>
        <p:sp>
          <p:nvSpPr>
            <p:cNvPr id="41" name="TextBox 41"/>
            <p:cNvSpPr txBox="1"/>
            <p:nvPr/>
          </p:nvSpPr>
          <p:spPr>
            <a:xfrm>
              <a:off x="88900" y="-38100"/>
              <a:ext cx="943961" cy="310351"/>
            </a:xfrm>
            <a:prstGeom prst="rect">
              <a:avLst/>
            </a:prstGeom>
          </p:spPr>
          <p:txBody>
            <a:bodyPr lIns="50800" tIns="50800" rIns="50800" bIns="50800" rtlCol="0" anchor="ctr"/>
            <a:lstStyle/>
            <a:p>
              <a:pPr algn="ctr">
                <a:lnSpc>
                  <a:spcPts val="2129"/>
                </a:lnSpc>
              </a:pPr>
              <a:r>
                <a:rPr lang="en-US" sz="1774" spc="169">
                  <a:solidFill>
                    <a:srgbClr val="000000"/>
                  </a:solidFill>
                  <a:latin typeface="Times New Roman MT"/>
                  <a:ea typeface="Times New Roman MT"/>
                  <a:cs typeface="Times New Roman MT"/>
                  <a:sym typeface="Times New Roman MT"/>
                </a:rPr>
                <a:t>Floods. Landslides. Extreme weather.</a:t>
              </a:r>
            </a:p>
          </p:txBody>
        </p:sp>
      </p:grpSp>
      <p:grpSp>
        <p:nvGrpSpPr>
          <p:cNvPr id="42" name="Group 42"/>
          <p:cNvGrpSpPr/>
          <p:nvPr/>
        </p:nvGrpSpPr>
        <p:grpSpPr>
          <a:xfrm>
            <a:off x="13686665" y="4212535"/>
            <a:ext cx="3086100" cy="743967"/>
            <a:chOff x="0" y="0"/>
            <a:chExt cx="812800" cy="195942"/>
          </a:xfrm>
        </p:grpSpPr>
        <p:sp>
          <p:nvSpPr>
            <p:cNvPr id="43" name="Freeform 43"/>
            <p:cNvSpPr/>
            <p:nvPr/>
          </p:nvSpPr>
          <p:spPr>
            <a:xfrm>
              <a:off x="0" y="0"/>
              <a:ext cx="812800" cy="195942"/>
            </a:xfrm>
            <a:custGeom>
              <a:avLst/>
              <a:gdLst/>
              <a:ahLst/>
              <a:cxnLst/>
              <a:rect l="l" t="t" r="r" b="b"/>
              <a:pathLst>
                <a:path w="812800" h="195942">
                  <a:moveTo>
                    <a:pt x="812800" y="0"/>
                  </a:moveTo>
                  <a:lnTo>
                    <a:pt x="0" y="0"/>
                  </a:lnTo>
                  <a:lnTo>
                    <a:pt x="101600" y="97971"/>
                  </a:lnTo>
                  <a:lnTo>
                    <a:pt x="0" y="195942"/>
                  </a:lnTo>
                  <a:lnTo>
                    <a:pt x="812800" y="195942"/>
                  </a:lnTo>
                  <a:lnTo>
                    <a:pt x="711200" y="97971"/>
                  </a:lnTo>
                  <a:lnTo>
                    <a:pt x="812800" y="0"/>
                  </a:lnTo>
                  <a:close/>
                </a:path>
              </a:pathLst>
            </a:custGeom>
            <a:solidFill>
              <a:srgbClr val="FBF2CC"/>
            </a:solidFill>
          </p:spPr>
        </p:sp>
        <p:sp>
          <p:nvSpPr>
            <p:cNvPr id="44" name="TextBox 44"/>
            <p:cNvSpPr txBox="1"/>
            <p:nvPr/>
          </p:nvSpPr>
          <p:spPr>
            <a:xfrm>
              <a:off x="88900" y="-38100"/>
              <a:ext cx="635000" cy="234042"/>
            </a:xfrm>
            <a:prstGeom prst="rect">
              <a:avLst/>
            </a:prstGeom>
          </p:spPr>
          <p:txBody>
            <a:bodyPr lIns="50800" tIns="50800" rIns="50800" bIns="50800" rtlCol="0" anchor="ctr"/>
            <a:lstStyle/>
            <a:p>
              <a:pPr algn="ctr">
                <a:lnSpc>
                  <a:spcPts val="2129"/>
                </a:lnSpc>
              </a:pPr>
              <a:r>
                <a:rPr lang="en-US" sz="1774" spc="169">
                  <a:solidFill>
                    <a:srgbClr val="000000"/>
                  </a:solidFill>
                  <a:latin typeface="Times New Roman MT"/>
                  <a:ea typeface="Times New Roman MT"/>
                  <a:cs typeface="Times New Roman MT"/>
                  <a:sym typeface="Times New Roman MT"/>
                </a:rPr>
                <a:t>The community starts again.</a:t>
              </a:r>
            </a:p>
          </p:txBody>
        </p:sp>
      </p:grpSp>
      <p:sp>
        <p:nvSpPr>
          <p:cNvPr id="45" name="Freeform 45"/>
          <p:cNvSpPr/>
          <p:nvPr/>
        </p:nvSpPr>
        <p:spPr>
          <a:xfrm>
            <a:off x="7280753" y="1804098"/>
            <a:ext cx="3726036" cy="2095895"/>
          </a:xfrm>
          <a:custGeom>
            <a:avLst/>
            <a:gdLst/>
            <a:ahLst/>
            <a:cxnLst/>
            <a:rect l="l" t="t" r="r" b="b"/>
            <a:pathLst>
              <a:path w="3726036" h="2095895">
                <a:moveTo>
                  <a:pt x="0" y="0"/>
                </a:moveTo>
                <a:lnTo>
                  <a:pt x="3726036" y="0"/>
                </a:lnTo>
                <a:lnTo>
                  <a:pt x="3726036" y="2095895"/>
                </a:lnTo>
                <a:lnTo>
                  <a:pt x="0" y="2095895"/>
                </a:lnTo>
                <a:lnTo>
                  <a:pt x="0" y="0"/>
                </a:lnTo>
                <a:close/>
              </a:path>
            </a:pathLst>
          </a:custGeom>
          <a:blipFill>
            <a:blip r:embed="rId7"/>
            <a:stretch>
              <a:fillRect/>
            </a:stretch>
          </a:blipFill>
        </p:spPr>
      </p:sp>
      <p:sp>
        <p:nvSpPr>
          <p:cNvPr id="46" name="Freeform 46"/>
          <p:cNvSpPr/>
          <p:nvPr/>
        </p:nvSpPr>
        <p:spPr>
          <a:xfrm>
            <a:off x="1028700" y="1770883"/>
            <a:ext cx="3539504" cy="2095895"/>
          </a:xfrm>
          <a:custGeom>
            <a:avLst/>
            <a:gdLst/>
            <a:ahLst/>
            <a:cxnLst/>
            <a:rect l="l" t="t" r="r" b="b"/>
            <a:pathLst>
              <a:path w="3539504" h="2095895">
                <a:moveTo>
                  <a:pt x="0" y="0"/>
                </a:moveTo>
                <a:lnTo>
                  <a:pt x="3539504" y="0"/>
                </a:lnTo>
                <a:lnTo>
                  <a:pt x="3539504" y="2095895"/>
                </a:lnTo>
                <a:lnTo>
                  <a:pt x="0" y="2095895"/>
                </a:lnTo>
                <a:lnTo>
                  <a:pt x="0" y="0"/>
                </a:lnTo>
                <a:close/>
              </a:path>
            </a:pathLst>
          </a:custGeom>
          <a:blipFill>
            <a:blip r:embed="rId8"/>
            <a:stretch>
              <a:fillRect t="-79192" b="-118469"/>
            </a:stretch>
          </a:blipFill>
        </p:spPr>
      </p:sp>
      <p:sp>
        <p:nvSpPr>
          <p:cNvPr id="47" name="Freeform 47"/>
          <p:cNvSpPr/>
          <p:nvPr/>
        </p:nvSpPr>
        <p:spPr>
          <a:xfrm>
            <a:off x="13231016" y="1804098"/>
            <a:ext cx="3657495" cy="2268546"/>
          </a:xfrm>
          <a:custGeom>
            <a:avLst/>
            <a:gdLst/>
            <a:ahLst/>
            <a:cxnLst/>
            <a:rect l="l" t="t" r="r" b="b"/>
            <a:pathLst>
              <a:path w="3657495" h="2268546">
                <a:moveTo>
                  <a:pt x="0" y="0"/>
                </a:moveTo>
                <a:lnTo>
                  <a:pt x="3657495" y="0"/>
                </a:lnTo>
                <a:lnTo>
                  <a:pt x="3657495" y="2268546"/>
                </a:lnTo>
                <a:lnTo>
                  <a:pt x="0" y="2268546"/>
                </a:lnTo>
                <a:lnTo>
                  <a:pt x="0" y="0"/>
                </a:lnTo>
                <a:close/>
              </a:path>
            </a:pathLst>
          </a:custGeom>
          <a:blipFill>
            <a:blip r:embed="rId9"/>
            <a:stretch>
              <a:fillRect b="-7484"/>
            </a:stretch>
          </a:blipFill>
        </p:spPr>
      </p:sp>
      <p:sp>
        <p:nvSpPr>
          <p:cNvPr id="48" name="Freeform 48"/>
          <p:cNvSpPr/>
          <p:nvPr/>
        </p:nvSpPr>
        <p:spPr>
          <a:xfrm>
            <a:off x="5001542" y="2781320"/>
            <a:ext cx="1728161" cy="483885"/>
          </a:xfrm>
          <a:custGeom>
            <a:avLst/>
            <a:gdLst/>
            <a:ahLst/>
            <a:cxnLst/>
            <a:rect l="l" t="t" r="r" b="b"/>
            <a:pathLst>
              <a:path w="1728161" h="483885">
                <a:moveTo>
                  <a:pt x="0" y="0"/>
                </a:moveTo>
                <a:lnTo>
                  <a:pt x="1728161" y="0"/>
                </a:lnTo>
                <a:lnTo>
                  <a:pt x="1728161" y="483886"/>
                </a:lnTo>
                <a:lnTo>
                  <a:pt x="0" y="483886"/>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49" name="Freeform 49"/>
          <p:cNvSpPr/>
          <p:nvPr/>
        </p:nvSpPr>
        <p:spPr>
          <a:xfrm>
            <a:off x="11254822" y="2852046"/>
            <a:ext cx="1728161" cy="483885"/>
          </a:xfrm>
          <a:custGeom>
            <a:avLst/>
            <a:gdLst/>
            <a:ahLst/>
            <a:cxnLst/>
            <a:rect l="l" t="t" r="r" b="b"/>
            <a:pathLst>
              <a:path w="1728161" h="483885">
                <a:moveTo>
                  <a:pt x="0" y="0"/>
                </a:moveTo>
                <a:lnTo>
                  <a:pt x="1728161" y="0"/>
                </a:lnTo>
                <a:lnTo>
                  <a:pt x="1728161" y="483885"/>
                </a:lnTo>
                <a:lnTo>
                  <a:pt x="0" y="483885"/>
                </a:lnTo>
                <a:lnTo>
                  <a:pt x="0" y="0"/>
                </a:lnTo>
                <a:close/>
              </a:path>
            </a:pathLst>
          </a:custGeom>
          <a:blipFill>
            <a:blip>
              <a:extLst>
                <a:ext uri="{96DAC541-7B7A-43D3-8B79-37D633B846F1}">
                  <asvg:svgBlip xmlns:asvg="http://schemas.microsoft.com/office/drawing/2016/SVG/main" r:embed="rId10"/>
                </a:ext>
              </a:extLst>
            </a:blip>
            <a:stretch>
              <a:fillRect/>
            </a:stretch>
          </a:blipFill>
        </p:spPr>
      </p:sp>
      <p:sp>
        <p:nvSpPr>
          <p:cNvPr id="50" name="TextBox 50"/>
          <p:cNvSpPr txBox="1"/>
          <p:nvPr/>
        </p:nvSpPr>
        <p:spPr>
          <a:xfrm>
            <a:off x="3429000" y="5032701"/>
            <a:ext cx="10971413" cy="451947"/>
          </a:xfrm>
          <a:prstGeom prst="rect">
            <a:avLst/>
          </a:prstGeom>
        </p:spPr>
        <p:txBody>
          <a:bodyPr lIns="0" tIns="0" rIns="0" bIns="0" rtlCol="0" anchor="t">
            <a:spAutoFit/>
          </a:bodyPr>
          <a:lstStyle/>
          <a:p>
            <a:pPr algn="ctr">
              <a:lnSpc>
                <a:spcPts val="3575"/>
              </a:lnSpc>
              <a:spcBef>
                <a:spcPct val="0"/>
              </a:spcBef>
            </a:pPr>
            <a:r>
              <a:rPr lang="en-US" sz="2979">
                <a:solidFill>
                  <a:srgbClr val="251D85"/>
                </a:solidFill>
                <a:latin typeface="Glacial Indifference"/>
                <a:ea typeface="Glacial Indifference"/>
                <a:cs typeface="Glacial Indifference"/>
                <a:sym typeface="Glacial Indifference"/>
              </a:rPr>
              <a:t>“They shouldn't have to rebuild the same home after every disaster.”</a:t>
            </a:r>
          </a:p>
        </p:txBody>
      </p:sp>
      <p:sp>
        <p:nvSpPr>
          <p:cNvPr id="51" name="TextBox 51"/>
          <p:cNvSpPr txBox="1"/>
          <p:nvPr/>
        </p:nvSpPr>
        <p:spPr>
          <a:xfrm>
            <a:off x="1879995" y="5645285"/>
            <a:ext cx="6679764" cy="361950"/>
          </a:xfrm>
          <a:prstGeom prst="rect">
            <a:avLst/>
          </a:prstGeom>
        </p:spPr>
        <p:txBody>
          <a:bodyPr lIns="0" tIns="0" rIns="0" bIns="0" rtlCol="0" anchor="t">
            <a:spAutoFit/>
          </a:bodyPr>
          <a:lstStyle/>
          <a:p>
            <a:pPr algn="ctr">
              <a:lnSpc>
                <a:spcPts val="2879"/>
              </a:lnSpc>
              <a:spcBef>
                <a:spcPct val="0"/>
              </a:spcBef>
            </a:pPr>
            <a:r>
              <a:rPr lang="en-US" sz="2400" dirty="0">
                <a:solidFill>
                  <a:srgbClr val="000000"/>
                </a:solidFill>
                <a:latin typeface="Archivo Black"/>
                <a:ea typeface="Archivo Black"/>
                <a:cs typeface="Archivo Black"/>
                <a:sym typeface="Archivo Black"/>
              </a:rPr>
              <a:t>WHAT EXACTLY NEEDS TO BE SOLVED?</a:t>
            </a:r>
          </a:p>
        </p:txBody>
      </p:sp>
      <p:sp>
        <p:nvSpPr>
          <p:cNvPr id="52" name="TextBox 52"/>
          <p:cNvSpPr txBox="1"/>
          <p:nvPr/>
        </p:nvSpPr>
        <p:spPr>
          <a:xfrm>
            <a:off x="10510900" y="5576914"/>
            <a:ext cx="6079260" cy="363844"/>
          </a:xfrm>
          <a:prstGeom prst="rect">
            <a:avLst/>
          </a:prstGeom>
        </p:spPr>
        <p:txBody>
          <a:bodyPr lIns="0" tIns="0" rIns="0" bIns="0" rtlCol="0" anchor="t">
            <a:spAutoFit/>
          </a:bodyPr>
          <a:lstStyle/>
          <a:p>
            <a:pPr algn="ctr">
              <a:lnSpc>
                <a:spcPts val="2878"/>
              </a:lnSpc>
              <a:spcBef>
                <a:spcPct val="0"/>
              </a:spcBef>
            </a:pPr>
            <a:r>
              <a:rPr lang="en-US" sz="2398">
                <a:solidFill>
                  <a:srgbClr val="000000"/>
                </a:solidFill>
                <a:latin typeface="Archivo Black"/>
                <a:ea typeface="Archivo Black"/>
                <a:cs typeface="Archivo Black"/>
                <a:sym typeface="Archivo Black"/>
              </a:rPr>
              <a:t>WHY IS IT IMPORTANT RIGHT NOW?</a:t>
            </a:r>
          </a:p>
        </p:txBody>
      </p:sp>
      <p:sp>
        <p:nvSpPr>
          <p:cNvPr id="53" name="TextBox 53"/>
          <p:cNvSpPr txBox="1"/>
          <p:nvPr/>
        </p:nvSpPr>
        <p:spPr>
          <a:xfrm>
            <a:off x="2032414" y="6289864"/>
            <a:ext cx="6271373" cy="2924175"/>
          </a:xfrm>
          <a:prstGeom prst="rect">
            <a:avLst/>
          </a:prstGeom>
        </p:spPr>
        <p:txBody>
          <a:bodyPr lIns="0" tIns="0" rIns="0" bIns="0" rtlCol="0" anchor="t">
            <a:spAutoFit/>
          </a:bodyPr>
          <a:lstStyle/>
          <a:p>
            <a:pPr marL="582930" lvl="1" indent="-291465" algn="l">
              <a:lnSpc>
                <a:spcPts val="3240"/>
              </a:lnSpc>
              <a:spcBef>
                <a:spcPct val="0"/>
              </a:spcBef>
              <a:buFont typeface="Arial"/>
              <a:buChar char="•"/>
            </a:pPr>
            <a:r>
              <a:rPr lang="en-US" sz="2700" dirty="0">
                <a:solidFill>
                  <a:srgbClr val="000000"/>
                </a:solidFill>
                <a:latin typeface="Calibri (MS)"/>
                <a:ea typeface="Calibri (MS)"/>
                <a:cs typeface="Calibri (MS)"/>
                <a:sym typeface="Calibri (MS)"/>
              </a:rPr>
              <a:t>After a disaster, communities often focus on restoring damaged homes and infrastructure as quickly as possible.</a:t>
            </a:r>
          </a:p>
          <a:p>
            <a:pPr marL="582930" lvl="1" indent="-291465" algn="l">
              <a:lnSpc>
                <a:spcPts val="3240"/>
              </a:lnSpc>
              <a:spcBef>
                <a:spcPct val="0"/>
              </a:spcBef>
              <a:buFont typeface="Arial"/>
              <a:buChar char="•"/>
            </a:pPr>
            <a:r>
              <a:rPr lang="en-US" sz="2700" dirty="0">
                <a:solidFill>
                  <a:srgbClr val="000000"/>
                </a:solidFill>
                <a:latin typeface="Calibri (MS)"/>
                <a:ea typeface="Calibri (MS)"/>
                <a:cs typeface="Calibri (MS)"/>
                <a:sym typeface="Calibri (MS)"/>
              </a:rPr>
              <a:t>The challenge is to make reconstruction consider the risks of future disasters — not just repair the damage from the last one.</a:t>
            </a:r>
          </a:p>
        </p:txBody>
      </p:sp>
      <p:sp>
        <p:nvSpPr>
          <p:cNvPr id="54" name="TextBox 54"/>
          <p:cNvSpPr txBox="1"/>
          <p:nvPr/>
        </p:nvSpPr>
        <p:spPr>
          <a:xfrm>
            <a:off x="10429504" y="6154579"/>
            <a:ext cx="6242052" cy="2514600"/>
          </a:xfrm>
          <a:prstGeom prst="rect">
            <a:avLst/>
          </a:prstGeom>
        </p:spPr>
        <p:txBody>
          <a:bodyPr lIns="0" tIns="0" rIns="0" bIns="0" rtlCol="0" anchor="t">
            <a:spAutoFit/>
          </a:bodyPr>
          <a:lstStyle/>
          <a:p>
            <a:pPr marL="582930" lvl="1" indent="-291465" algn="l">
              <a:lnSpc>
                <a:spcPts val="3240"/>
              </a:lnSpc>
              <a:spcBef>
                <a:spcPct val="0"/>
              </a:spcBef>
              <a:buFont typeface="Arial"/>
              <a:buChar char="•"/>
            </a:pPr>
            <a:r>
              <a:rPr lang="en-US" sz="2700">
                <a:solidFill>
                  <a:srgbClr val="000000"/>
                </a:solidFill>
                <a:latin typeface="Calibri (MS)"/>
                <a:ea typeface="Calibri (MS)"/>
                <a:cs typeface="Calibri (MS)"/>
                <a:sym typeface="Calibri (MS)"/>
              </a:rPr>
              <a:t>Communities are facing increasingly difficult climate-related risks, while rebuilding resources are limited.</a:t>
            </a:r>
          </a:p>
          <a:p>
            <a:pPr marL="582930" lvl="1" indent="-291465" algn="l">
              <a:lnSpc>
                <a:spcPts val="3240"/>
              </a:lnSpc>
              <a:spcBef>
                <a:spcPct val="0"/>
              </a:spcBef>
              <a:buFont typeface="Arial"/>
              <a:buChar char="•"/>
            </a:pPr>
            <a:r>
              <a:rPr lang="en-US" sz="2700">
                <a:solidFill>
                  <a:srgbClr val="000000"/>
                </a:solidFill>
                <a:latin typeface="Calibri (MS)"/>
                <a:ea typeface="Calibri (MS)"/>
                <a:cs typeface="Calibri (MS)"/>
                <a:sym typeface="Calibri (MS)"/>
              </a:rPr>
              <a:t>If we rebuild without adapting, the same people and infrastructure can remain vulnerable to the next disaster.</a:t>
            </a:r>
          </a:p>
        </p:txBody>
      </p:sp>
      <p:sp>
        <p:nvSpPr>
          <p:cNvPr id="55" name="TextBox 55"/>
          <p:cNvSpPr txBox="1"/>
          <p:nvPr/>
        </p:nvSpPr>
        <p:spPr>
          <a:xfrm>
            <a:off x="5552433" y="9026858"/>
            <a:ext cx="10026413" cy="432895"/>
          </a:xfrm>
          <a:prstGeom prst="rect">
            <a:avLst/>
          </a:prstGeom>
        </p:spPr>
        <p:txBody>
          <a:bodyPr lIns="0" tIns="0" rIns="0" bIns="0" rtlCol="0" anchor="t">
            <a:spAutoFit/>
          </a:bodyPr>
          <a:lstStyle/>
          <a:p>
            <a:pPr algn="l">
              <a:lnSpc>
                <a:spcPts val="3461"/>
              </a:lnSpc>
              <a:spcBef>
                <a:spcPct val="0"/>
              </a:spcBef>
            </a:pPr>
            <a:r>
              <a:rPr lang="en-US" sz="2884" b="1" spc="274">
                <a:solidFill>
                  <a:srgbClr val="000000"/>
                </a:solidFill>
                <a:latin typeface="Glacial Indifference Bold"/>
                <a:ea typeface="Glacial Indifference Bold"/>
                <a:cs typeface="Glacial Indifference Bold"/>
                <a:sym typeface="Glacial Indifference Bold"/>
              </a:rPr>
              <a:t>-DON'T JUST BUILD BACK. BUILD BETTER-</a:t>
            </a:r>
          </a:p>
        </p:txBody>
      </p:sp>
      <p:sp>
        <p:nvSpPr>
          <p:cNvPr id="56" name="TextBox 56"/>
          <p:cNvSpPr txBox="1"/>
          <p:nvPr/>
        </p:nvSpPr>
        <p:spPr>
          <a:xfrm>
            <a:off x="14172741" y="9232029"/>
            <a:ext cx="4114802" cy="300591"/>
          </a:xfrm>
          <a:prstGeom prst="rect">
            <a:avLst/>
          </a:prstGeom>
        </p:spPr>
        <p:txBody>
          <a:bodyPr lIns="0" tIns="0" rIns="0" bIns="0" rtlCol="0" anchor="t">
            <a:spAutoFit/>
          </a:bodyPr>
          <a:lstStyle/>
          <a:p>
            <a:pPr algn="ctr">
              <a:lnSpc>
                <a:spcPts val="2083"/>
              </a:lnSpc>
              <a:spcBef>
                <a:spcPct val="0"/>
              </a:spcBef>
            </a:pPr>
            <a:r>
              <a:rPr lang="en-US" sz="1736" spc="165">
                <a:solidFill>
                  <a:srgbClr val="000000"/>
                </a:solidFill>
                <a:latin typeface="Times New Roman MT"/>
                <a:ea typeface="Times New Roman MT"/>
                <a:cs typeface="Times New Roman MT"/>
                <a:sym typeface="Times New Roman MT"/>
              </a:rPr>
              <a:t>image source : generated by Gemini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1837433" y="-332370"/>
            <a:ext cx="15051077" cy="2859300"/>
            <a:chOff x="0" y="0"/>
            <a:chExt cx="14996160" cy="2848867"/>
          </a:xfrm>
        </p:grpSpPr>
        <p:sp>
          <p:nvSpPr>
            <p:cNvPr id="14" name="Freeform 14"/>
            <p:cNvSpPr/>
            <p:nvPr/>
          </p:nvSpPr>
          <p:spPr>
            <a:xfrm>
              <a:off x="0" y="0"/>
              <a:ext cx="14996161" cy="2848867"/>
            </a:xfrm>
            <a:custGeom>
              <a:avLst/>
              <a:gdLst/>
              <a:ahLst/>
              <a:cxnLst/>
              <a:rect l="l" t="t" r="r" b="b"/>
              <a:pathLst>
                <a:path w="14996161" h="2848867">
                  <a:moveTo>
                    <a:pt x="0" y="0"/>
                  </a:moveTo>
                  <a:lnTo>
                    <a:pt x="14996161" y="0"/>
                  </a:lnTo>
                  <a:lnTo>
                    <a:pt x="14996161" y="2848867"/>
                  </a:lnTo>
                  <a:lnTo>
                    <a:pt x="0" y="2848867"/>
                  </a:lnTo>
                  <a:close/>
                </a:path>
              </a:pathLst>
            </a:custGeom>
            <a:blipFill>
              <a:blip r:embed="rId3">
                <a:alphaModFix amt="0"/>
              </a:blip>
              <a:stretch>
                <a:fillRect t="-73680" b="-31454"/>
              </a:stretch>
            </a:blipFill>
          </p:spPr>
        </p:sp>
        <p:sp>
          <p:nvSpPr>
            <p:cNvPr id="15" name="TextBox 15"/>
            <p:cNvSpPr txBox="1"/>
            <p:nvPr/>
          </p:nvSpPr>
          <p:spPr>
            <a:xfrm>
              <a:off x="0" y="0"/>
              <a:ext cx="14996160" cy="2848867"/>
            </a:xfrm>
            <a:prstGeom prst="rect">
              <a:avLst/>
            </a:prstGeom>
          </p:spPr>
          <p:txBody>
            <a:bodyPr lIns="0" tIns="0" rIns="0" bIns="0" rtlCol="0" anchor="ctr"/>
            <a:lstStyle/>
            <a:p>
              <a:pPr algn="ctr">
                <a:lnSpc>
                  <a:spcPts val="4679"/>
                </a:lnSpc>
              </a:pPr>
              <a:r>
                <a:rPr lang="en-US" sz="3899" b="1" spc="162">
                  <a:solidFill>
                    <a:srgbClr val="052B35"/>
                  </a:solidFill>
                  <a:latin typeface="Cambria Bold"/>
                  <a:ea typeface="Cambria Bold"/>
                  <a:cs typeface="Cambria Bold"/>
                  <a:sym typeface="Cambria Bold"/>
                </a:rPr>
                <a:t>WHO IS AFFECTED?</a:t>
              </a:r>
            </a:p>
          </p:txBody>
        </p:sp>
      </p:grpSp>
      <p:grpSp>
        <p:nvGrpSpPr>
          <p:cNvPr id="16" name="Group 16"/>
          <p:cNvGrpSpPr/>
          <p:nvPr/>
        </p:nvGrpSpPr>
        <p:grpSpPr>
          <a:xfrm>
            <a:off x="678656" y="47291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898112" y="678656"/>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1104138" y="82296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2057400" y="576072"/>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3</a:t>
              </a:r>
            </a:p>
          </p:txBody>
        </p:sp>
      </p:grpSp>
      <p:grpSp>
        <p:nvGrpSpPr>
          <p:cNvPr id="28" name="Group 28"/>
          <p:cNvGrpSpPr/>
          <p:nvPr/>
        </p:nvGrpSpPr>
        <p:grpSpPr>
          <a:xfrm rot="5400000">
            <a:off x="-30997" y="3359835"/>
            <a:ext cx="6319102" cy="4899795"/>
            <a:chOff x="0" y="0"/>
            <a:chExt cx="1664290" cy="1290481"/>
          </a:xfrm>
        </p:grpSpPr>
        <p:sp>
          <p:nvSpPr>
            <p:cNvPr id="29" name="Freeform 29"/>
            <p:cNvSpPr/>
            <p:nvPr/>
          </p:nvSpPr>
          <p:spPr>
            <a:xfrm>
              <a:off x="0" y="0"/>
              <a:ext cx="1664290" cy="1290481"/>
            </a:xfrm>
            <a:custGeom>
              <a:avLst/>
              <a:gdLst/>
              <a:ahLst/>
              <a:cxnLst/>
              <a:rect l="l" t="t" r="r" b="b"/>
              <a:pathLst>
                <a:path w="1664290" h="1290481">
                  <a:moveTo>
                    <a:pt x="36755" y="0"/>
                  </a:moveTo>
                  <a:lnTo>
                    <a:pt x="1627535" y="0"/>
                  </a:lnTo>
                  <a:cubicBezTo>
                    <a:pt x="1637283" y="0"/>
                    <a:pt x="1646632" y="3872"/>
                    <a:pt x="1653525" y="10765"/>
                  </a:cubicBezTo>
                  <a:cubicBezTo>
                    <a:pt x="1660418" y="17658"/>
                    <a:pt x="1664290" y="27007"/>
                    <a:pt x="1664290" y="36755"/>
                  </a:cubicBezTo>
                  <a:lnTo>
                    <a:pt x="1664290" y="1253726"/>
                  </a:lnTo>
                  <a:cubicBezTo>
                    <a:pt x="1664290" y="1263474"/>
                    <a:pt x="1660418" y="1272823"/>
                    <a:pt x="1653525" y="1279716"/>
                  </a:cubicBezTo>
                  <a:cubicBezTo>
                    <a:pt x="1646632" y="1286609"/>
                    <a:pt x="1637283" y="1290481"/>
                    <a:pt x="1627535" y="1290481"/>
                  </a:cubicBezTo>
                  <a:lnTo>
                    <a:pt x="36755" y="1290481"/>
                  </a:lnTo>
                  <a:cubicBezTo>
                    <a:pt x="27007" y="1290481"/>
                    <a:pt x="17658" y="1286609"/>
                    <a:pt x="10765" y="1279716"/>
                  </a:cubicBezTo>
                  <a:cubicBezTo>
                    <a:pt x="3872" y="1272823"/>
                    <a:pt x="0" y="1263474"/>
                    <a:pt x="0" y="1253726"/>
                  </a:cubicBezTo>
                  <a:lnTo>
                    <a:pt x="0" y="36755"/>
                  </a:lnTo>
                  <a:cubicBezTo>
                    <a:pt x="0" y="27007"/>
                    <a:pt x="3872" y="17658"/>
                    <a:pt x="10765" y="10765"/>
                  </a:cubicBezTo>
                  <a:cubicBezTo>
                    <a:pt x="17658" y="3872"/>
                    <a:pt x="27007" y="0"/>
                    <a:pt x="36755" y="0"/>
                  </a:cubicBezTo>
                  <a:close/>
                </a:path>
              </a:pathLst>
            </a:custGeom>
            <a:solidFill>
              <a:srgbClr val="FBF2CC"/>
            </a:solidFill>
          </p:spPr>
        </p:sp>
        <p:sp>
          <p:nvSpPr>
            <p:cNvPr id="30" name="TextBox 30"/>
            <p:cNvSpPr txBox="1"/>
            <p:nvPr/>
          </p:nvSpPr>
          <p:spPr>
            <a:xfrm>
              <a:off x="0" y="-19050"/>
              <a:ext cx="1664290" cy="1309531"/>
            </a:xfrm>
            <a:prstGeom prst="rect">
              <a:avLst/>
            </a:prstGeom>
          </p:spPr>
          <p:txBody>
            <a:bodyPr lIns="50800" tIns="50800" rIns="50800" bIns="50800" rtlCol="0" anchor="ctr"/>
            <a:lstStyle/>
            <a:p>
              <a:pPr algn="ctr">
                <a:lnSpc>
                  <a:spcPts val="1889"/>
                </a:lnSpc>
              </a:pPr>
              <a:endParaRPr/>
            </a:p>
          </p:txBody>
        </p:sp>
      </p:grpSp>
      <p:grpSp>
        <p:nvGrpSpPr>
          <p:cNvPr id="31" name="Group 31"/>
          <p:cNvGrpSpPr/>
          <p:nvPr/>
        </p:nvGrpSpPr>
        <p:grpSpPr>
          <a:xfrm rot="5400000">
            <a:off x="12785980" y="875441"/>
            <a:ext cx="3230989" cy="6637593"/>
            <a:chOff x="0" y="0"/>
            <a:chExt cx="850960" cy="1748173"/>
          </a:xfrm>
        </p:grpSpPr>
        <p:sp>
          <p:nvSpPr>
            <p:cNvPr id="32" name="Freeform 32"/>
            <p:cNvSpPr/>
            <p:nvPr/>
          </p:nvSpPr>
          <p:spPr>
            <a:xfrm>
              <a:off x="0" y="0"/>
              <a:ext cx="850960" cy="1748173"/>
            </a:xfrm>
            <a:custGeom>
              <a:avLst/>
              <a:gdLst/>
              <a:ahLst/>
              <a:cxnLst/>
              <a:rect l="l" t="t" r="r" b="b"/>
              <a:pathLst>
                <a:path w="850960" h="1748173">
                  <a:moveTo>
                    <a:pt x="71884" y="0"/>
                  </a:moveTo>
                  <a:lnTo>
                    <a:pt x="779076" y="0"/>
                  </a:lnTo>
                  <a:cubicBezTo>
                    <a:pt x="798141" y="0"/>
                    <a:pt x="816425" y="7574"/>
                    <a:pt x="829906" y="21054"/>
                  </a:cubicBezTo>
                  <a:cubicBezTo>
                    <a:pt x="843387" y="34535"/>
                    <a:pt x="850960" y="52819"/>
                    <a:pt x="850960" y="71884"/>
                  </a:cubicBezTo>
                  <a:lnTo>
                    <a:pt x="850960" y="1676288"/>
                  </a:lnTo>
                  <a:cubicBezTo>
                    <a:pt x="850960" y="1715989"/>
                    <a:pt x="818776" y="1748173"/>
                    <a:pt x="779076" y="1748173"/>
                  </a:cubicBezTo>
                  <a:lnTo>
                    <a:pt x="71884" y="1748173"/>
                  </a:lnTo>
                  <a:cubicBezTo>
                    <a:pt x="32184" y="1748173"/>
                    <a:pt x="0" y="1715989"/>
                    <a:pt x="0" y="1676288"/>
                  </a:cubicBezTo>
                  <a:lnTo>
                    <a:pt x="0" y="71884"/>
                  </a:lnTo>
                  <a:cubicBezTo>
                    <a:pt x="0" y="32184"/>
                    <a:pt x="32184" y="0"/>
                    <a:pt x="71884" y="0"/>
                  </a:cubicBezTo>
                  <a:close/>
                </a:path>
              </a:pathLst>
            </a:custGeom>
            <a:solidFill>
              <a:srgbClr val="D3E6DD"/>
            </a:solidFill>
          </p:spPr>
        </p:sp>
        <p:sp>
          <p:nvSpPr>
            <p:cNvPr id="33" name="TextBox 33"/>
            <p:cNvSpPr txBox="1"/>
            <p:nvPr/>
          </p:nvSpPr>
          <p:spPr>
            <a:xfrm>
              <a:off x="0" y="-19050"/>
              <a:ext cx="850960" cy="1767223"/>
            </a:xfrm>
            <a:prstGeom prst="rect">
              <a:avLst/>
            </a:prstGeom>
          </p:spPr>
          <p:txBody>
            <a:bodyPr lIns="50800" tIns="50800" rIns="50800" bIns="50800" rtlCol="0" anchor="ctr"/>
            <a:lstStyle/>
            <a:p>
              <a:pPr algn="ctr">
                <a:lnSpc>
                  <a:spcPts val="1889"/>
                </a:lnSpc>
              </a:pPr>
              <a:endParaRPr/>
            </a:p>
          </p:txBody>
        </p:sp>
      </p:grpSp>
      <p:grpSp>
        <p:nvGrpSpPr>
          <p:cNvPr id="34" name="Group 34"/>
          <p:cNvGrpSpPr/>
          <p:nvPr/>
        </p:nvGrpSpPr>
        <p:grpSpPr>
          <a:xfrm rot="5400000">
            <a:off x="12934129" y="4413804"/>
            <a:ext cx="3139005" cy="6549987"/>
            <a:chOff x="0" y="0"/>
            <a:chExt cx="826734" cy="1725099"/>
          </a:xfrm>
        </p:grpSpPr>
        <p:sp>
          <p:nvSpPr>
            <p:cNvPr id="35" name="Freeform 35"/>
            <p:cNvSpPr/>
            <p:nvPr/>
          </p:nvSpPr>
          <p:spPr>
            <a:xfrm>
              <a:off x="0" y="0"/>
              <a:ext cx="826734" cy="1725099"/>
            </a:xfrm>
            <a:custGeom>
              <a:avLst/>
              <a:gdLst/>
              <a:ahLst/>
              <a:cxnLst/>
              <a:rect l="l" t="t" r="r" b="b"/>
              <a:pathLst>
                <a:path w="826734" h="1725099">
                  <a:moveTo>
                    <a:pt x="73991" y="0"/>
                  </a:moveTo>
                  <a:lnTo>
                    <a:pt x="752743" y="0"/>
                  </a:lnTo>
                  <a:cubicBezTo>
                    <a:pt x="772367" y="0"/>
                    <a:pt x="791187" y="7795"/>
                    <a:pt x="805063" y="21671"/>
                  </a:cubicBezTo>
                  <a:cubicBezTo>
                    <a:pt x="818938" y="35547"/>
                    <a:pt x="826734" y="54367"/>
                    <a:pt x="826734" y="73991"/>
                  </a:cubicBezTo>
                  <a:lnTo>
                    <a:pt x="826734" y="1651109"/>
                  </a:lnTo>
                  <a:cubicBezTo>
                    <a:pt x="826734" y="1670732"/>
                    <a:pt x="818938" y="1689552"/>
                    <a:pt x="805063" y="1703428"/>
                  </a:cubicBezTo>
                  <a:cubicBezTo>
                    <a:pt x="791187" y="1717304"/>
                    <a:pt x="772367" y="1725099"/>
                    <a:pt x="752743" y="1725099"/>
                  </a:cubicBezTo>
                  <a:lnTo>
                    <a:pt x="73991" y="1725099"/>
                  </a:lnTo>
                  <a:cubicBezTo>
                    <a:pt x="54367" y="1725099"/>
                    <a:pt x="35547" y="1717304"/>
                    <a:pt x="21671" y="1703428"/>
                  </a:cubicBezTo>
                  <a:cubicBezTo>
                    <a:pt x="7795" y="1689552"/>
                    <a:pt x="0" y="1670732"/>
                    <a:pt x="0" y="1651109"/>
                  </a:cubicBezTo>
                  <a:lnTo>
                    <a:pt x="0" y="73991"/>
                  </a:lnTo>
                  <a:cubicBezTo>
                    <a:pt x="0" y="54367"/>
                    <a:pt x="7795" y="35547"/>
                    <a:pt x="21671" y="21671"/>
                  </a:cubicBezTo>
                  <a:cubicBezTo>
                    <a:pt x="35547" y="7795"/>
                    <a:pt x="54367" y="0"/>
                    <a:pt x="73991" y="0"/>
                  </a:cubicBezTo>
                  <a:close/>
                </a:path>
              </a:pathLst>
            </a:custGeom>
            <a:solidFill>
              <a:srgbClr val="FBF2CC"/>
            </a:solidFill>
          </p:spPr>
        </p:sp>
        <p:sp>
          <p:nvSpPr>
            <p:cNvPr id="36" name="TextBox 36"/>
            <p:cNvSpPr txBox="1"/>
            <p:nvPr/>
          </p:nvSpPr>
          <p:spPr>
            <a:xfrm>
              <a:off x="0" y="-19050"/>
              <a:ext cx="826734" cy="1744149"/>
            </a:xfrm>
            <a:prstGeom prst="rect">
              <a:avLst/>
            </a:prstGeom>
          </p:spPr>
          <p:txBody>
            <a:bodyPr lIns="50800" tIns="50800" rIns="50800" bIns="50800" rtlCol="0" anchor="ctr"/>
            <a:lstStyle/>
            <a:p>
              <a:pPr algn="ctr">
                <a:lnSpc>
                  <a:spcPts val="1889"/>
                </a:lnSpc>
              </a:pPr>
              <a:endParaRPr/>
            </a:p>
          </p:txBody>
        </p:sp>
      </p:grpSp>
      <p:sp>
        <p:nvSpPr>
          <p:cNvPr id="37" name="Freeform 37">
            <a:hlinkClick r:id="rId5" tooltip="https://islamic-relief.org/news/nepal-floods-your-questions-answered/"/>
          </p:cNvPr>
          <p:cNvSpPr/>
          <p:nvPr/>
        </p:nvSpPr>
        <p:spPr>
          <a:xfrm>
            <a:off x="6102099" y="6209782"/>
            <a:ext cx="4398577" cy="3048518"/>
          </a:xfrm>
          <a:custGeom>
            <a:avLst/>
            <a:gdLst/>
            <a:ahLst/>
            <a:cxnLst/>
            <a:rect l="l" t="t" r="r" b="b"/>
            <a:pathLst>
              <a:path w="4398577" h="3048518">
                <a:moveTo>
                  <a:pt x="0" y="0"/>
                </a:moveTo>
                <a:lnTo>
                  <a:pt x="4398577" y="0"/>
                </a:lnTo>
                <a:lnTo>
                  <a:pt x="4398577" y="3048518"/>
                </a:lnTo>
                <a:lnTo>
                  <a:pt x="0" y="3048518"/>
                </a:lnTo>
                <a:lnTo>
                  <a:pt x="0" y="0"/>
                </a:lnTo>
                <a:close/>
              </a:path>
            </a:pathLst>
          </a:custGeom>
          <a:blipFill>
            <a:blip r:embed="rId6"/>
            <a:stretch>
              <a:fillRect l="-1980" r="-1980"/>
            </a:stretch>
          </a:blipFill>
        </p:spPr>
      </p:sp>
      <p:sp>
        <p:nvSpPr>
          <p:cNvPr id="38" name="Freeform 38"/>
          <p:cNvSpPr/>
          <p:nvPr/>
        </p:nvSpPr>
        <p:spPr>
          <a:xfrm>
            <a:off x="6102099" y="2650181"/>
            <a:ext cx="4398577" cy="3135739"/>
          </a:xfrm>
          <a:custGeom>
            <a:avLst/>
            <a:gdLst/>
            <a:ahLst/>
            <a:cxnLst/>
            <a:rect l="l" t="t" r="r" b="b"/>
            <a:pathLst>
              <a:path w="4398577" h="3135739">
                <a:moveTo>
                  <a:pt x="0" y="0"/>
                </a:moveTo>
                <a:lnTo>
                  <a:pt x="4398577" y="0"/>
                </a:lnTo>
                <a:lnTo>
                  <a:pt x="4398577" y="3135739"/>
                </a:lnTo>
                <a:lnTo>
                  <a:pt x="0" y="3135739"/>
                </a:lnTo>
                <a:lnTo>
                  <a:pt x="0" y="0"/>
                </a:lnTo>
                <a:close/>
              </a:path>
            </a:pathLst>
          </a:custGeom>
          <a:blipFill>
            <a:blip r:embed="rId7"/>
            <a:stretch>
              <a:fillRect l="-4150" t="-1215" r="-4150"/>
            </a:stretch>
          </a:blipFill>
        </p:spPr>
      </p:sp>
      <p:sp>
        <p:nvSpPr>
          <p:cNvPr id="39" name="TextBox 39"/>
          <p:cNvSpPr txBox="1"/>
          <p:nvPr/>
        </p:nvSpPr>
        <p:spPr>
          <a:xfrm>
            <a:off x="788384" y="4015509"/>
            <a:ext cx="4680339" cy="4664085"/>
          </a:xfrm>
          <a:prstGeom prst="rect">
            <a:avLst/>
          </a:prstGeom>
        </p:spPr>
        <p:txBody>
          <a:bodyPr lIns="0" tIns="0" rIns="0" bIns="0" rtlCol="0" anchor="t">
            <a:spAutoFit/>
          </a:bodyPr>
          <a:lstStyle/>
          <a:p>
            <a:pPr marL="470509" lvl="1" indent="-235254" algn="l">
              <a:lnSpc>
                <a:spcPts val="2615"/>
              </a:lnSpc>
              <a:spcBef>
                <a:spcPct val="0"/>
              </a:spcBef>
              <a:buFont typeface="Arial"/>
              <a:buChar char="•"/>
            </a:pPr>
            <a:r>
              <a:rPr lang="en-US" sz="2179" spc="207">
                <a:solidFill>
                  <a:srgbClr val="000000"/>
                </a:solidFill>
                <a:latin typeface="Calibri (MS)"/>
                <a:ea typeface="Calibri (MS)"/>
                <a:cs typeface="Calibri (MS)"/>
                <a:sym typeface="Calibri (MS)"/>
              </a:rPr>
              <a:t>People living in disaster-prone areas: Families living in flood- and landslide-prone regions are directly affected when roads, bridges and other infrastructure are damaged.</a:t>
            </a:r>
          </a:p>
          <a:p>
            <a:pPr algn="l">
              <a:lnSpc>
                <a:spcPts val="2615"/>
              </a:lnSpc>
              <a:spcBef>
                <a:spcPct val="0"/>
              </a:spcBef>
            </a:pPr>
            <a:endParaRPr lang="en-US" sz="2179" spc="207">
              <a:solidFill>
                <a:srgbClr val="000000"/>
              </a:solidFill>
              <a:latin typeface="Calibri (MS)"/>
              <a:ea typeface="Calibri (MS)"/>
              <a:cs typeface="Calibri (MS)"/>
              <a:sym typeface="Calibri (MS)"/>
            </a:endParaRPr>
          </a:p>
          <a:p>
            <a:pPr marL="470509" lvl="1" indent="-235254" algn="l">
              <a:lnSpc>
                <a:spcPts val="2615"/>
              </a:lnSpc>
              <a:spcBef>
                <a:spcPct val="0"/>
              </a:spcBef>
              <a:buFont typeface="Arial"/>
              <a:buChar char="•"/>
            </a:pPr>
            <a:r>
              <a:rPr lang="en-US" sz="2179" spc="207">
                <a:solidFill>
                  <a:srgbClr val="000000"/>
                </a:solidFill>
                <a:latin typeface="Calibri (MS)"/>
                <a:ea typeface="Calibri (MS)"/>
                <a:cs typeface="Calibri (MS)"/>
                <a:sym typeface="Calibri (MS)"/>
              </a:rPr>
              <a:t>Daily commuters and local residents: People who depend on roads to reach schools, hospitals, workplaces and markets face difficulties when transport routes are disrupted.</a:t>
            </a:r>
          </a:p>
        </p:txBody>
      </p:sp>
      <p:sp>
        <p:nvSpPr>
          <p:cNvPr id="40" name="TextBox 40"/>
          <p:cNvSpPr txBox="1"/>
          <p:nvPr/>
        </p:nvSpPr>
        <p:spPr>
          <a:xfrm>
            <a:off x="91847" y="3116161"/>
            <a:ext cx="6073414" cy="634972"/>
          </a:xfrm>
          <a:prstGeom prst="rect">
            <a:avLst/>
          </a:prstGeom>
        </p:spPr>
        <p:txBody>
          <a:bodyPr lIns="0" tIns="0" rIns="0" bIns="0" rtlCol="0" anchor="t">
            <a:spAutoFit/>
          </a:bodyPr>
          <a:lstStyle/>
          <a:p>
            <a:pPr algn="ctr">
              <a:lnSpc>
                <a:spcPts val="4427"/>
              </a:lnSpc>
              <a:spcBef>
                <a:spcPct val="0"/>
              </a:spcBef>
            </a:pPr>
            <a:r>
              <a:rPr lang="en-US" sz="3689" b="1" spc="351">
                <a:solidFill>
                  <a:srgbClr val="000000"/>
                </a:solidFill>
                <a:latin typeface="Times New Roman MT Bold"/>
                <a:ea typeface="Times New Roman MT Bold"/>
                <a:cs typeface="Times New Roman MT Bold"/>
                <a:sym typeface="Times New Roman MT Bold"/>
              </a:rPr>
              <a:t>TARGET USERS</a:t>
            </a:r>
          </a:p>
        </p:txBody>
      </p:sp>
      <p:sp>
        <p:nvSpPr>
          <p:cNvPr id="41" name="TextBox 41"/>
          <p:cNvSpPr txBox="1"/>
          <p:nvPr/>
        </p:nvSpPr>
        <p:spPr>
          <a:xfrm>
            <a:off x="11024324" y="2375848"/>
            <a:ext cx="6754301" cy="3343275"/>
          </a:xfrm>
          <a:prstGeom prst="rect">
            <a:avLst/>
          </a:prstGeom>
        </p:spPr>
        <p:txBody>
          <a:bodyPr lIns="0" tIns="0" rIns="0" bIns="0" rtlCol="0" anchor="t">
            <a:spAutoFit/>
          </a:bodyPr>
          <a:lstStyle/>
          <a:p>
            <a:pPr algn="l">
              <a:lnSpc>
                <a:spcPts val="3595"/>
              </a:lnSpc>
              <a:spcBef>
                <a:spcPct val="0"/>
              </a:spcBef>
            </a:pPr>
            <a:endParaRPr dirty="0"/>
          </a:p>
          <a:p>
            <a:pPr algn="l">
              <a:lnSpc>
                <a:spcPts val="2116"/>
              </a:lnSpc>
              <a:spcBef>
                <a:spcPct val="0"/>
              </a:spcBef>
            </a:pPr>
            <a:endParaRPr dirty="0"/>
          </a:p>
          <a:p>
            <a:pPr algn="l">
              <a:lnSpc>
                <a:spcPts val="2116"/>
              </a:lnSpc>
              <a:spcBef>
                <a:spcPct val="0"/>
              </a:spcBef>
            </a:pPr>
            <a:endParaRPr dirty="0"/>
          </a:p>
          <a:p>
            <a:pPr marL="414748" lvl="1" indent="-207374" algn="l">
              <a:lnSpc>
                <a:spcPts val="2305"/>
              </a:lnSpc>
              <a:spcBef>
                <a:spcPct val="0"/>
              </a:spcBef>
              <a:buFont typeface="Arial"/>
              <a:buChar char="•"/>
            </a:pPr>
            <a:r>
              <a:rPr lang="en-US" sz="1921" spc="182" dirty="0">
                <a:solidFill>
                  <a:srgbClr val="000000"/>
                </a:solidFill>
                <a:latin typeface="Calibri (MS)"/>
                <a:ea typeface="Calibri (MS)"/>
                <a:cs typeface="Calibri (MS)"/>
                <a:sym typeface="Calibri (MS)"/>
              </a:rPr>
              <a:t>Government and local authorities: They are responsible for planning reconstruction, managing budgets and ensuring essential services are restored.</a:t>
            </a:r>
          </a:p>
          <a:p>
            <a:pPr algn="l">
              <a:lnSpc>
                <a:spcPts val="2305"/>
              </a:lnSpc>
              <a:spcBef>
                <a:spcPct val="0"/>
              </a:spcBef>
            </a:pPr>
            <a:endParaRPr lang="en-US" sz="1921" spc="182" dirty="0">
              <a:solidFill>
                <a:srgbClr val="000000"/>
              </a:solidFill>
              <a:latin typeface="Calibri (MS)"/>
              <a:ea typeface="Calibri (MS)"/>
              <a:cs typeface="Calibri (MS)"/>
              <a:sym typeface="Calibri (MS)"/>
            </a:endParaRPr>
          </a:p>
          <a:p>
            <a:pPr marL="414748" lvl="1" indent="-207374" algn="l">
              <a:lnSpc>
                <a:spcPts val="2305"/>
              </a:lnSpc>
              <a:spcBef>
                <a:spcPct val="0"/>
              </a:spcBef>
              <a:buFont typeface="Arial"/>
              <a:buChar char="•"/>
            </a:pPr>
            <a:r>
              <a:rPr lang="en-US" sz="1921" spc="182" dirty="0">
                <a:solidFill>
                  <a:srgbClr val="000000"/>
                </a:solidFill>
                <a:latin typeface="Calibri (MS)"/>
                <a:ea typeface="Calibri (MS)"/>
                <a:cs typeface="Calibri (MS)"/>
                <a:sym typeface="Calibri (MS)"/>
              </a:rPr>
              <a:t>Engineers and construction teams: They help repair damaged infrastructure and find ways to make roads and bridges safer against future disasters.</a:t>
            </a:r>
          </a:p>
        </p:txBody>
      </p:sp>
      <p:sp>
        <p:nvSpPr>
          <p:cNvPr id="42" name="TextBox 42"/>
          <p:cNvSpPr txBox="1"/>
          <p:nvPr/>
        </p:nvSpPr>
        <p:spPr>
          <a:xfrm>
            <a:off x="11088002" y="7000357"/>
            <a:ext cx="6402488" cy="2114550"/>
          </a:xfrm>
          <a:prstGeom prst="rect">
            <a:avLst/>
          </a:prstGeom>
        </p:spPr>
        <p:txBody>
          <a:bodyPr lIns="0" tIns="0" rIns="0" bIns="0" rtlCol="0" anchor="t">
            <a:spAutoFit/>
          </a:bodyPr>
          <a:lstStyle/>
          <a:p>
            <a:pPr marL="423816" lvl="1" indent="-211908" algn="l">
              <a:lnSpc>
                <a:spcPts val="2355"/>
              </a:lnSpc>
              <a:spcBef>
                <a:spcPct val="0"/>
              </a:spcBef>
              <a:buFont typeface="Arial"/>
              <a:buChar char="•"/>
            </a:pPr>
            <a:r>
              <a:rPr lang="en-US" sz="1963" spc="186">
                <a:solidFill>
                  <a:srgbClr val="000000"/>
                </a:solidFill>
                <a:latin typeface="Calibri (MS)"/>
                <a:ea typeface="Calibri (MS)"/>
                <a:cs typeface="Calibri (MS)"/>
                <a:sym typeface="Calibri (MS)"/>
              </a:rPr>
              <a:t>Local communities: They benefit from safer infrastructure, fewer disruptions and better access to essential services.</a:t>
            </a:r>
          </a:p>
          <a:p>
            <a:pPr algn="l">
              <a:lnSpc>
                <a:spcPts val="2355"/>
              </a:lnSpc>
              <a:spcBef>
                <a:spcPct val="0"/>
              </a:spcBef>
            </a:pPr>
            <a:endParaRPr lang="en-US" sz="1963" spc="186">
              <a:solidFill>
                <a:srgbClr val="000000"/>
              </a:solidFill>
              <a:latin typeface="Calibri (MS)"/>
              <a:ea typeface="Calibri (MS)"/>
              <a:cs typeface="Calibri (MS)"/>
              <a:sym typeface="Calibri (MS)"/>
            </a:endParaRPr>
          </a:p>
          <a:p>
            <a:pPr marL="423816" lvl="1" indent="-211908" algn="l">
              <a:lnSpc>
                <a:spcPts val="2355"/>
              </a:lnSpc>
              <a:spcBef>
                <a:spcPct val="0"/>
              </a:spcBef>
              <a:buFont typeface="Arial"/>
              <a:buChar char="•"/>
            </a:pPr>
            <a:r>
              <a:rPr lang="en-US" sz="1963" spc="186">
                <a:solidFill>
                  <a:srgbClr val="000000"/>
                </a:solidFill>
                <a:latin typeface="Calibri (MS)"/>
                <a:ea typeface="Calibri (MS)"/>
                <a:cs typeface="Calibri (MS)"/>
                <a:sym typeface="Calibri (MS)"/>
              </a:rPr>
              <a:t>Farmers and small businesses: Reliable roads and bridges help them transport goods, reach markets and recover more easily after disasters.</a:t>
            </a:r>
          </a:p>
        </p:txBody>
      </p:sp>
      <p:sp>
        <p:nvSpPr>
          <p:cNvPr id="43" name="TextBox 43"/>
          <p:cNvSpPr txBox="1"/>
          <p:nvPr/>
        </p:nvSpPr>
        <p:spPr>
          <a:xfrm>
            <a:off x="11709882" y="2653203"/>
            <a:ext cx="5274640" cy="593752"/>
          </a:xfrm>
          <a:prstGeom prst="rect">
            <a:avLst/>
          </a:prstGeom>
        </p:spPr>
        <p:txBody>
          <a:bodyPr wrap="square" lIns="0" tIns="0" rIns="0" bIns="0" rtlCol="0" anchor="t">
            <a:spAutoFit/>
          </a:bodyPr>
          <a:lstStyle/>
          <a:p>
            <a:pPr algn="ctr">
              <a:lnSpc>
                <a:spcPts val="4687"/>
              </a:lnSpc>
              <a:spcBef>
                <a:spcPct val="0"/>
              </a:spcBef>
            </a:pPr>
            <a:r>
              <a:rPr lang="en-US" sz="3905" b="1" spc="371" dirty="0">
                <a:solidFill>
                  <a:srgbClr val="000000"/>
                </a:solidFill>
                <a:latin typeface="Times New Roman MT Bold"/>
                <a:ea typeface="Times New Roman MT Bold"/>
                <a:cs typeface="Times New Roman MT Bold"/>
                <a:sym typeface="Times New Roman MT Bold"/>
              </a:rPr>
              <a:t>STAKEHOLDERS</a:t>
            </a:r>
          </a:p>
        </p:txBody>
      </p:sp>
      <p:sp>
        <p:nvSpPr>
          <p:cNvPr id="44" name="TextBox 44"/>
          <p:cNvSpPr txBox="1"/>
          <p:nvPr/>
        </p:nvSpPr>
        <p:spPr>
          <a:xfrm>
            <a:off x="11992774" y="6295164"/>
            <a:ext cx="4287797" cy="631183"/>
          </a:xfrm>
          <a:prstGeom prst="rect">
            <a:avLst/>
          </a:prstGeom>
        </p:spPr>
        <p:txBody>
          <a:bodyPr lIns="0" tIns="0" rIns="0" bIns="0" rtlCol="0" anchor="t">
            <a:spAutoFit/>
          </a:bodyPr>
          <a:lstStyle/>
          <a:p>
            <a:pPr algn="ctr">
              <a:lnSpc>
                <a:spcPts val="4404"/>
              </a:lnSpc>
              <a:spcBef>
                <a:spcPct val="0"/>
              </a:spcBef>
            </a:pPr>
            <a:r>
              <a:rPr lang="en-US" sz="3670" b="1" spc="349">
                <a:solidFill>
                  <a:srgbClr val="000000"/>
                </a:solidFill>
                <a:latin typeface="Times New Roman MT Bold"/>
                <a:ea typeface="Times New Roman MT Bold"/>
                <a:cs typeface="Times New Roman MT Bold"/>
                <a:sym typeface="Times New Roman MT Bold"/>
              </a:rPr>
              <a:t>BENEFICIARIES</a:t>
            </a:r>
          </a:p>
        </p:txBody>
      </p:sp>
      <p:sp>
        <p:nvSpPr>
          <p:cNvPr id="45" name="TextBox 45"/>
          <p:cNvSpPr txBox="1"/>
          <p:nvPr/>
        </p:nvSpPr>
        <p:spPr>
          <a:xfrm>
            <a:off x="5730851" y="5914507"/>
            <a:ext cx="8034573" cy="236090"/>
          </a:xfrm>
          <a:prstGeom prst="rect">
            <a:avLst/>
          </a:prstGeom>
        </p:spPr>
        <p:txBody>
          <a:bodyPr lIns="0" tIns="0" rIns="0" bIns="0" rtlCol="0" anchor="t">
            <a:spAutoFit/>
          </a:bodyPr>
          <a:lstStyle/>
          <a:p>
            <a:pPr algn="ctr">
              <a:lnSpc>
                <a:spcPts val="1889"/>
              </a:lnSpc>
              <a:spcBef>
                <a:spcPct val="0"/>
              </a:spcBef>
            </a:pPr>
            <a:r>
              <a:rPr lang="en-US" sz="1575" u="sng" spc="150" dirty="0">
                <a:solidFill>
                  <a:srgbClr val="000000"/>
                </a:solidFill>
                <a:latin typeface="Calibri (MS)"/>
                <a:ea typeface="Calibri (MS)"/>
                <a:cs typeface="Calibri (MS)"/>
                <a:sym typeface="Calibri (MS)"/>
              </a:rPr>
              <a:t>Source:- </a:t>
            </a:r>
            <a:r>
              <a:rPr lang="en-US" sz="1575" u="sng" spc="150" dirty="0">
                <a:latin typeface="Calibri (MS)"/>
                <a:ea typeface="Calibri (MS)"/>
                <a:cs typeface="Calibri (MS)"/>
                <a:sym typeface="Calibri (MS)"/>
                <a:hlinkClick r:id="rId8" tooltip="https://dialogue.earth/en/climate/qa-there-was-a-gap-between-alert-and-action-in-nepal-floods-2/">
                  <a:extLst>
                    <a:ext uri="{A12FA001-AC4F-418D-AE19-62706E023703}">
                      <ahyp:hlinkClr xmlns:ahyp="http://schemas.microsoft.com/office/drawing/2018/hyperlinkcolor" val="tx"/>
                    </a:ext>
                  </a:extLst>
                </a:hlinkClick>
              </a:rPr>
              <a:t>https://islamic-relief.org/news/nepal-floods-your-questions-answered/</a:t>
            </a:r>
          </a:p>
        </p:txBody>
      </p:sp>
      <p:sp>
        <p:nvSpPr>
          <p:cNvPr id="46" name="TextBox 46"/>
          <p:cNvSpPr txBox="1"/>
          <p:nvPr/>
        </p:nvSpPr>
        <p:spPr>
          <a:xfrm>
            <a:off x="5730851" y="9239250"/>
            <a:ext cx="8034573" cy="236090"/>
          </a:xfrm>
          <a:prstGeom prst="rect">
            <a:avLst/>
          </a:prstGeom>
        </p:spPr>
        <p:txBody>
          <a:bodyPr lIns="0" tIns="0" rIns="0" bIns="0" rtlCol="0" anchor="t">
            <a:spAutoFit/>
          </a:bodyPr>
          <a:lstStyle/>
          <a:p>
            <a:pPr algn="ctr">
              <a:lnSpc>
                <a:spcPts val="1889"/>
              </a:lnSpc>
              <a:spcBef>
                <a:spcPct val="0"/>
              </a:spcBef>
            </a:pPr>
            <a:r>
              <a:rPr lang="en-US" sz="1575" u="sng" spc="150" dirty="0">
                <a:solidFill>
                  <a:srgbClr val="000000"/>
                </a:solidFill>
                <a:latin typeface="Calibri (MS)"/>
                <a:ea typeface="Calibri (MS)"/>
                <a:cs typeface="Calibri (MS)"/>
                <a:sym typeface="Calibri (MS)"/>
              </a:rPr>
              <a:t>Source:- https://islamic-relief.org/news/nepal-floods-your-questions-answered/</a:t>
            </a:r>
          </a:p>
        </p:txBody>
      </p:sp>
      <p:sp>
        <p:nvSpPr>
          <p:cNvPr id="47" name="TextBox 47"/>
          <p:cNvSpPr txBox="1"/>
          <p:nvPr/>
        </p:nvSpPr>
        <p:spPr>
          <a:xfrm>
            <a:off x="2474967" y="1690048"/>
            <a:ext cx="13318780" cy="742950"/>
          </a:xfrm>
          <a:prstGeom prst="rect">
            <a:avLst/>
          </a:prstGeom>
        </p:spPr>
        <p:txBody>
          <a:bodyPr lIns="0" tIns="0" rIns="0" bIns="0" rtlCol="0" anchor="t">
            <a:spAutoFit/>
          </a:bodyPr>
          <a:lstStyle/>
          <a:p>
            <a:pPr algn="ctr">
              <a:lnSpc>
                <a:spcPts val="2982"/>
              </a:lnSpc>
              <a:spcBef>
                <a:spcPct val="0"/>
              </a:spcBef>
            </a:pPr>
            <a:r>
              <a:rPr lang="en-US" sz="2485" spc="236">
                <a:solidFill>
                  <a:srgbClr val="000000"/>
                </a:solidFill>
                <a:latin typeface="Glacial Indifference"/>
                <a:ea typeface="Glacial Indifference"/>
                <a:cs typeface="Glacial Indifference"/>
                <a:sym typeface="Glacial Indifference"/>
              </a:rPr>
              <a:t>‘</a:t>
            </a:r>
            <a:r>
              <a:rPr lang="en-US" sz="2485" spc="236">
                <a:solidFill>
                  <a:srgbClr val="094542"/>
                </a:solidFill>
                <a:latin typeface="Glacial Indifference"/>
                <a:ea typeface="Glacial Indifference"/>
                <a:cs typeface="Glacial Indifference"/>
                <a:sym typeface="Glacial Indifference"/>
              </a:rPr>
              <a:t>’Effective disaster recovery requires a balance between immediate restoration and long-term resilience.’’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549349" y="201508"/>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773115" y="304663"/>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806585" y="-75491"/>
            <a:ext cx="16424826" cy="1802725"/>
            <a:chOff x="0" y="0"/>
            <a:chExt cx="14996160" cy="1645920"/>
          </a:xfrm>
        </p:grpSpPr>
        <p:sp>
          <p:nvSpPr>
            <p:cNvPr id="14" name="Freeform 14"/>
            <p:cNvSpPr/>
            <p:nvPr/>
          </p:nvSpPr>
          <p:spPr>
            <a:xfrm>
              <a:off x="0" y="0"/>
              <a:ext cx="14996161" cy="1645920"/>
            </a:xfrm>
            <a:custGeom>
              <a:avLst/>
              <a:gdLst/>
              <a:ahLst/>
              <a:cxnLst/>
              <a:rect l="l" t="t" r="r" b="b"/>
              <a:pathLst>
                <a:path w="14996161" h="1645920">
                  <a:moveTo>
                    <a:pt x="0" y="0"/>
                  </a:moveTo>
                  <a:lnTo>
                    <a:pt x="14996161" y="0"/>
                  </a:lnTo>
                  <a:lnTo>
                    <a:pt x="14996161" y="1645920"/>
                  </a:lnTo>
                  <a:lnTo>
                    <a:pt x="0" y="1645920"/>
                  </a:lnTo>
                  <a:close/>
                </a:path>
              </a:pathLst>
            </a:custGeom>
            <a:blipFill>
              <a:blip r:embed="rId3">
                <a:alphaModFix amt="0"/>
              </a:blip>
              <a:stretch>
                <a:fillRect t="-127530" b="-127530"/>
              </a:stretch>
            </a:blipFill>
          </p:spPr>
        </p:sp>
        <p:sp>
          <p:nvSpPr>
            <p:cNvPr id="15" name="TextBox 15"/>
            <p:cNvSpPr txBox="1"/>
            <p:nvPr/>
          </p:nvSpPr>
          <p:spPr>
            <a:xfrm>
              <a:off x="0" y="-19050"/>
              <a:ext cx="14996160" cy="1664970"/>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CURRENT SITUATION &amp; CONTEXT</a:t>
              </a:r>
            </a:p>
          </p:txBody>
        </p:sp>
      </p:grpSp>
      <p:grpSp>
        <p:nvGrpSpPr>
          <p:cNvPr id="16" name="Group 16"/>
          <p:cNvGrpSpPr/>
          <p:nvPr/>
        </p:nvGrpSpPr>
        <p:grpSpPr>
          <a:xfrm>
            <a:off x="678656" y="47291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898112" y="678656"/>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1104138" y="82296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1906377" y="652709"/>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4</a:t>
              </a:r>
            </a:p>
          </p:txBody>
        </p:sp>
      </p:grpSp>
      <p:grpSp>
        <p:nvGrpSpPr>
          <p:cNvPr id="28" name="Group 28"/>
          <p:cNvGrpSpPr/>
          <p:nvPr/>
        </p:nvGrpSpPr>
        <p:grpSpPr>
          <a:xfrm>
            <a:off x="514350" y="2269450"/>
            <a:ext cx="5061196" cy="3100518"/>
            <a:chOff x="0" y="0"/>
            <a:chExt cx="1332990" cy="816597"/>
          </a:xfrm>
        </p:grpSpPr>
        <p:sp>
          <p:nvSpPr>
            <p:cNvPr id="29" name="Freeform 29"/>
            <p:cNvSpPr/>
            <p:nvPr/>
          </p:nvSpPr>
          <p:spPr>
            <a:xfrm>
              <a:off x="0" y="0"/>
              <a:ext cx="1332990" cy="816597"/>
            </a:xfrm>
            <a:custGeom>
              <a:avLst/>
              <a:gdLst/>
              <a:ahLst/>
              <a:cxnLst/>
              <a:rect l="l" t="t" r="r" b="b"/>
              <a:pathLst>
                <a:path w="1332990" h="816597">
                  <a:moveTo>
                    <a:pt x="78013" y="0"/>
                  </a:moveTo>
                  <a:lnTo>
                    <a:pt x="1254977" y="0"/>
                  </a:lnTo>
                  <a:cubicBezTo>
                    <a:pt x="1275668" y="0"/>
                    <a:pt x="1295510" y="8219"/>
                    <a:pt x="1310141" y="22849"/>
                  </a:cubicBezTo>
                  <a:cubicBezTo>
                    <a:pt x="1324771" y="37480"/>
                    <a:pt x="1332990" y="57322"/>
                    <a:pt x="1332990" y="78013"/>
                  </a:cubicBezTo>
                  <a:lnTo>
                    <a:pt x="1332990" y="738585"/>
                  </a:lnTo>
                  <a:cubicBezTo>
                    <a:pt x="1332990" y="781670"/>
                    <a:pt x="1298063" y="816597"/>
                    <a:pt x="1254977" y="816597"/>
                  </a:cubicBezTo>
                  <a:lnTo>
                    <a:pt x="78013" y="816597"/>
                  </a:lnTo>
                  <a:cubicBezTo>
                    <a:pt x="57322" y="816597"/>
                    <a:pt x="37480" y="808378"/>
                    <a:pt x="22849" y="793748"/>
                  </a:cubicBezTo>
                  <a:cubicBezTo>
                    <a:pt x="8219" y="779118"/>
                    <a:pt x="0" y="759275"/>
                    <a:pt x="0" y="738585"/>
                  </a:cubicBezTo>
                  <a:lnTo>
                    <a:pt x="0" y="78013"/>
                  </a:lnTo>
                  <a:cubicBezTo>
                    <a:pt x="0" y="34928"/>
                    <a:pt x="34928" y="0"/>
                    <a:pt x="78013" y="0"/>
                  </a:cubicBezTo>
                  <a:close/>
                </a:path>
              </a:pathLst>
            </a:custGeom>
            <a:solidFill>
              <a:srgbClr val="CCDED5"/>
            </a:solidFill>
          </p:spPr>
        </p:sp>
        <p:sp>
          <p:nvSpPr>
            <p:cNvPr id="30" name="TextBox 30"/>
            <p:cNvSpPr txBox="1"/>
            <p:nvPr/>
          </p:nvSpPr>
          <p:spPr>
            <a:xfrm>
              <a:off x="0" y="0"/>
              <a:ext cx="1332990" cy="816597"/>
            </a:xfrm>
            <a:prstGeom prst="rect">
              <a:avLst/>
            </a:prstGeom>
          </p:spPr>
          <p:txBody>
            <a:bodyPr lIns="50800" tIns="50800" rIns="50800" bIns="50800" rtlCol="0" anchor="ctr"/>
            <a:lstStyle/>
            <a:p>
              <a:pPr algn="l">
                <a:lnSpc>
                  <a:spcPts val="2249"/>
                </a:lnSpc>
              </a:pPr>
              <a:endParaRPr/>
            </a:p>
          </p:txBody>
        </p:sp>
      </p:grpSp>
      <p:sp>
        <p:nvSpPr>
          <p:cNvPr id="31" name="Freeform 31"/>
          <p:cNvSpPr/>
          <p:nvPr/>
        </p:nvSpPr>
        <p:spPr>
          <a:xfrm>
            <a:off x="6343070" y="1381319"/>
            <a:ext cx="4400033" cy="7876981"/>
          </a:xfrm>
          <a:custGeom>
            <a:avLst/>
            <a:gdLst/>
            <a:ahLst/>
            <a:cxnLst/>
            <a:rect l="l" t="t" r="r" b="b"/>
            <a:pathLst>
              <a:path w="4400033" h="7876981">
                <a:moveTo>
                  <a:pt x="0" y="0"/>
                </a:moveTo>
                <a:lnTo>
                  <a:pt x="4400032" y="0"/>
                </a:lnTo>
                <a:lnTo>
                  <a:pt x="4400032" y="7876981"/>
                </a:lnTo>
                <a:lnTo>
                  <a:pt x="0" y="7876981"/>
                </a:lnTo>
                <a:lnTo>
                  <a:pt x="0" y="0"/>
                </a:lnTo>
                <a:close/>
              </a:path>
            </a:pathLst>
          </a:custGeom>
          <a:blipFill>
            <a:blip r:embed="rId5"/>
            <a:stretch>
              <a:fillRect/>
            </a:stretch>
          </a:blipFill>
        </p:spPr>
      </p:sp>
      <p:grpSp>
        <p:nvGrpSpPr>
          <p:cNvPr id="32" name="Group 32"/>
          <p:cNvGrpSpPr/>
          <p:nvPr/>
        </p:nvGrpSpPr>
        <p:grpSpPr>
          <a:xfrm>
            <a:off x="246972" y="5816005"/>
            <a:ext cx="5545066" cy="3086100"/>
            <a:chOff x="0" y="0"/>
            <a:chExt cx="1460429" cy="812800"/>
          </a:xfrm>
        </p:grpSpPr>
        <p:sp>
          <p:nvSpPr>
            <p:cNvPr id="33" name="Freeform 33"/>
            <p:cNvSpPr/>
            <p:nvPr/>
          </p:nvSpPr>
          <p:spPr>
            <a:xfrm>
              <a:off x="0" y="0"/>
              <a:ext cx="1460429" cy="812800"/>
            </a:xfrm>
            <a:custGeom>
              <a:avLst/>
              <a:gdLst/>
              <a:ahLst/>
              <a:cxnLst/>
              <a:rect l="l" t="t" r="r" b="b"/>
              <a:pathLst>
                <a:path w="1460429" h="812800">
                  <a:moveTo>
                    <a:pt x="71205" y="0"/>
                  </a:moveTo>
                  <a:lnTo>
                    <a:pt x="1389224" y="0"/>
                  </a:lnTo>
                  <a:cubicBezTo>
                    <a:pt x="1428549" y="0"/>
                    <a:pt x="1460429" y="31880"/>
                    <a:pt x="1460429" y="71205"/>
                  </a:cubicBezTo>
                  <a:lnTo>
                    <a:pt x="1460429" y="741595"/>
                  </a:lnTo>
                  <a:cubicBezTo>
                    <a:pt x="1460429" y="760480"/>
                    <a:pt x="1452927" y="778591"/>
                    <a:pt x="1439574" y="791944"/>
                  </a:cubicBezTo>
                  <a:cubicBezTo>
                    <a:pt x="1426220" y="805298"/>
                    <a:pt x="1408109" y="812800"/>
                    <a:pt x="1389224" y="812800"/>
                  </a:cubicBezTo>
                  <a:lnTo>
                    <a:pt x="71205" y="812800"/>
                  </a:lnTo>
                  <a:cubicBezTo>
                    <a:pt x="31880" y="812800"/>
                    <a:pt x="0" y="780920"/>
                    <a:pt x="0" y="741595"/>
                  </a:cubicBezTo>
                  <a:lnTo>
                    <a:pt x="0" y="71205"/>
                  </a:lnTo>
                  <a:cubicBezTo>
                    <a:pt x="0" y="31880"/>
                    <a:pt x="31880" y="0"/>
                    <a:pt x="71205" y="0"/>
                  </a:cubicBezTo>
                  <a:close/>
                </a:path>
              </a:pathLst>
            </a:custGeom>
            <a:solidFill>
              <a:srgbClr val="FBF2CC"/>
            </a:solidFill>
          </p:spPr>
        </p:sp>
        <p:sp>
          <p:nvSpPr>
            <p:cNvPr id="34" name="TextBox 34"/>
            <p:cNvSpPr txBox="1"/>
            <p:nvPr/>
          </p:nvSpPr>
          <p:spPr>
            <a:xfrm>
              <a:off x="0" y="-19050"/>
              <a:ext cx="1460429" cy="831850"/>
            </a:xfrm>
            <a:prstGeom prst="rect">
              <a:avLst/>
            </a:prstGeom>
          </p:spPr>
          <p:txBody>
            <a:bodyPr lIns="50800" tIns="50800" rIns="50800" bIns="50800" rtlCol="0" anchor="ctr"/>
            <a:lstStyle/>
            <a:p>
              <a:pPr algn="ctr">
                <a:lnSpc>
                  <a:spcPts val="1889"/>
                </a:lnSpc>
              </a:pPr>
              <a:endParaRPr/>
            </a:p>
          </p:txBody>
        </p:sp>
      </p:grpSp>
      <p:grpSp>
        <p:nvGrpSpPr>
          <p:cNvPr id="35" name="Group 35"/>
          <p:cNvGrpSpPr/>
          <p:nvPr/>
        </p:nvGrpSpPr>
        <p:grpSpPr>
          <a:xfrm>
            <a:off x="11125136" y="5846356"/>
            <a:ext cx="6878621" cy="3244015"/>
            <a:chOff x="0" y="0"/>
            <a:chExt cx="1811653" cy="854391"/>
          </a:xfrm>
        </p:grpSpPr>
        <p:sp>
          <p:nvSpPr>
            <p:cNvPr id="36" name="Freeform 36"/>
            <p:cNvSpPr/>
            <p:nvPr/>
          </p:nvSpPr>
          <p:spPr>
            <a:xfrm>
              <a:off x="0" y="0"/>
              <a:ext cx="1811653" cy="854391"/>
            </a:xfrm>
            <a:custGeom>
              <a:avLst/>
              <a:gdLst/>
              <a:ahLst/>
              <a:cxnLst/>
              <a:rect l="l" t="t" r="r" b="b"/>
              <a:pathLst>
                <a:path w="1811653" h="854391">
                  <a:moveTo>
                    <a:pt x="57401" y="0"/>
                  </a:moveTo>
                  <a:lnTo>
                    <a:pt x="1754253" y="0"/>
                  </a:lnTo>
                  <a:cubicBezTo>
                    <a:pt x="1769476" y="0"/>
                    <a:pt x="1784076" y="6048"/>
                    <a:pt x="1794841" y="16812"/>
                  </a:cubicBezTo>
                  <a:cubicBezTo>
                    <a:pt x="1805606" y="27577"/>
                    <a:pt x="1811653" y="42177"/>
                    <a:pt x="1811653" y="57401"/>
                  </a:cubicBezTo>
                  <a:lnTo>
                    <a:pt x="1811653" y="796990"/>
                  </a:lnTo>
                  <a:cubicBezTo>
                    <a:pt x="1811653" y="812214"/>
                    <a:pt x="1805606" y="826814"/>
                    <a:pt x="1794841" y="837579"/>
                  </a:cubicBezTo>
                  <a:cubicBezTo>
                    <a:pt x="1784076" y="848343"/>
                    <a:pt x="1769476" y="854391"/>
                    <a:pt x="1754253" y="854391"/>
                  </a:cubicBezTo>
                  <a:lnTo>
                    <a:pt x="57401" y="854391"/>
                  </a:lnTo>
                  <a:cubicBezTo>
                    <a:pt x="25699" y="854391"/>
                    <a:pt x="0" y="828692"/>
                    <a:pt x="0" y="796990"/>
                  </a:cubicBezTo>
                  <a:lnTo>
                    <a:pt x="0" y="57401"/>
                  </a:lnTo>
                  <a:cubicBezTo>
                    <a:pt x="0" y="42177"/>
                    <a:pt x="6048" y="27577"/>
                    <a:pt x="16812" y="16812"/>
                  </a:cubicBezTo>
                  <a:cubicBezTo>
                    <a:pt x="27577" y="6048"/>
                    <a:pt x="42177" y="0"/>
                    <a:pt x="57401" y="0"/>
                  </a:cubicBezTo>
                  <a:close/>
                </a:path>
              </a:pathLst>
            </a:custGeom>
            <a:solidFill>
              <a:srgbClr val="FBF2CC"/>
            </a:solidFill>
          </p:spPr>
        </p:sp>
        <p:sp>
          <p:nvSpPr>
            <p:cNvPr id="37" name="TextBox 37"/>
            <p:cNvSpPr txBox="1"/>
            <p:nvPr/>
          </p:nvSpPr>
          <p:spPr>
            <a:xfrm>
              <a:off x="0" y="-19050"/>
              <a:ext cx="1811653" cy="873441"/>
            </a:xfrm>
            <a:prstGeom prst="rect">
              <a:avLst/>
            </a:prstGeom>
          </p:spPr>
          <p:txBody>
            <a:bodyPr lIns="50800" tIns="50800" rIns="50800" bIns="50800" rtlCol="0" anchor="ctr"/>
            <a:lstStyle/>
            <a:p>
              <a:pPr algn="ctr">
                <a:lnSpc>
                  <a:spcPts val="1889"/>
                </a:lnSpc>
              </a:pPr>
              <a:endParaRPr/>
            </a:p>
          </p:txBody>
        </p:sp>
      </p:grpSp>
      <p:sp>
        <p:nvSpPr>
          <p:cNvPr id="38" name="Freeform 38"/>
          <p:cNvSpPr/>
          <p:nvPr/>
        </p:nvSpPr>
        <p:spPr>
          <a:xfrm>
            <a:off x="11411880" y="1618488"/>
            <a:ext cx="6305135" cy="3546638"/>
          </a:xfrm>
          <a:custGeom>
            <a:avLst/>
            <a:gdLst/>
            <a:ahLst/>
            <a:cxnLst/>
            <a:rect l="l" t="t" r="r" b="b"/>
            <a:pathLst>
              <a:path w="6305135" h="3546638">
                <a:moveTo>
                  <a:pt x="0" y="0"/>
                </a:moveTo>
                <a:lnTo>
                  <a:pt x="6305135" y="0"/>
                </a:lnTo>
                <a:lnTo>
                  <a:pt x="6305135" y="3546638"/>
                </a:lnTo>
                <a:lnTo>
                  <a:pt x="0" y="3546638"/>
                </a:lnTo>
                <a:lnTo>
                  <a:pt x="0" y="0"/>
                </a:lnTo>
                <a:close/>
              </a:path>
            </a:pathLst>
          </a:custGeom>
          <a:blipFill>
            <a:blip r:embed="rId6"/>
            <a:stretch>
              <a:fillRect/>
            </a:stretch>
          </a:blipFill>
        </p:spPr>
      </p:sp>
      <p:sp>
        <p:nvSpPr>
          <p:cNvPr id="39" name="TextBox 39"/>
          <p:cNvSpPr txBox="1"/>
          <p:nvPr/>
        </p:nvSpPr>
        <p:spPr>
          <a:xfrm>
            <a:off x="678656" y="3207842"/>
            <a:ext cx="4896890" cy="2038350"/>
          </a:xfrm>
          <a:prstGeom prst="rect">
            <a:avLst/>
          </a:prstGeom>
        </p:spPr>
        <p:txBody>
          <a:bodyPr lIns="0" tIns="0" rIns="0" bIns="0" rtlCol="0" anchor="t">
            <a:spAutoFit/>
          </a:bodyPr>
          <a:lstStyle/>
          <a:p>
            <a:pPr algn="l">
              <a:lnSpc>
                <a:spcPts val="2264"/>
              </a:lnSpc>
              <a:spcBef>
                <a:spcPct val="0"/>
              </a:spcBef>
            </a:pPr>
            <a:r>
              <a:rPr lang="en-US" sz="1887" spc="179">
                <a:solidFill>
                  <a:srgbClr val="000000"/>
                </a:solidFill>
                <a:latin typeface="Calibri (MS)"/>
                <a:ea typeface="Calibri (MS)"/>
                <a:cs typeface="Calibri (MS)"/>
                <a:sym typeface="Calibri (MS)"/>
              </a:rPr>
              <a:t>After a disaster, authorities and communities assess damage, restore essential access and arrange repairs or reconstruction. Under pressure to restore services quickly, immediate recovery needs may compete with longer-term resilience considerations.</a:t>
            </a:r>
          </a:p>
        </p:txBody>
      </p:sp>
      <p:sp>
        <p:nvSpPr>
          <p:cNvPr id="40" name="TextBox 40"/>
          <p:cNvSpPr txBox="1"/>
          <p:nvPr/>
        </p:nvSpPr>
        <p:spPr>
          <a:xfrm>
            <a:off x="887384" y="2417267"/>
            <a:ext cx="4315128" cy="828675"/>
          </a:xfrm>
          <a:prstGeom prst="rect">
            <a:avLst/>
          </a:prstGeom>
        </p:spPr>
        <p:txBody>
          <a:bodyPr lIns="0" tIns="0" rIns="0" bIns="0" rtlCol="0" anchor="t">
            <a:spAutoFit/>
          </a:bodyPr>
          <a:lstStyle/>
          <a:p>
            <a:pPr algn="ctr">
              <a:lnSpc>
                <a:spcPts val="3089"/>
              </a:lnSpc>
              <a:spcBef>
                <a:spcPct val="0"/>
              </a:spcBef>
            </a:pPr>
            <a:r>
              <a:rPr lang="en-US" sz="2574" b="1" spc="245">
                <a:solidFill>
                  <a:srgbClr val="000000"/>
                </a:solidFill>
                <a:latin typeface="Times New Roman MT Bold"/>
                <a:ea typeface="Times New Roman MT Bold"/>
                <a:cs typeface="Times New Roman MT Bold"/>
                <a:sym typeface="Times New Roman MT Bold"/>
              </a:rPr>
              <a:t>EXISTING SCENARIO AND BACKGROUND</a:t>
            </a:r>
          </a:p>
        </p:txBody>
      </p:sp>
      <p:sp>
        <p:nvSpPr>
          <p:cNvPr id="41" name="TextBox 41"/>
          <p:cNvSpPr txBox="1"/>
          <p:nvPr/>
        </p:nvSpPr>
        <p:spPr>
          <a:xfrm>
            <a:off x="409986" y="6488057"/>
            <a:ext cx="5269924" cy="2219325"/>
          </a:xfrm>
          <a:prstGeom prst="rect">
            <a:avLst/>
          </a:prstGeom>
        </p:spPr>
        <p:txBody>
          <a:bodyPr lIns="0" tIns="0" rIns="0" bIns="0" rtlCol="0" anchor="t">
            <a:spAutoFit/>
          </a:bodyPr>
          <a:lstStyle/>
          <a:p>
            <a:pPr algn="ctr">
              <a:lnSpc>
                <a:spcPts val="2920"/>
              </a:lnSpc>
              <a:spcBef>
                <a:spcPct val="0"/>
              </a:spcBef>
            </a:pPr>
            <a:r>
              <a:rPr lang="en-US" sz="2433" spc="231" dirty="0">
                <a:solidFill>
                  <a:srgbClr val="000000"/>
                </a:solidFill>
                <a:latin typeface="Calibri (MS)"/>
                <a:ea typeface="Calibri (MS)"/>
                <a:cs typeface="Calibri (MS)"/>
                <a:sym typeface="Calibri (MS)"/>
              </a:rPr>
              <a:t>Nepal's mountainous terrain, monsoon rainfall, river systems and landslide exposure make infrastructure resilience an important context for examining disaster recovery.</a:t>
            </a:r>
          </a:p>
        </p:txBody>
      </p:sp>
      <p:sp>
        <p:nvSpPr>
          <p:cNvPr id="42" name="TextBox 42"/>
          <p:cNvSpPr txBox="1"/>
          <p:nvPr/>
        </p:nvSpPr>
        <p:spPr>
          <a:xfrm>
            <a:off x="793897" y="5960518"/>
            <a:ext cx="4502103" cy="441531"/>
          </a:xfrm>
          <a:prstGeom prst="rect">
            <a:avLst/>
          </a:prstGeom>
        </p:spPr>
        <p:txBody>
          <a:bodyPr lIns="0" tIns="0" rIns="0" bIns="0" rtlCol="0" anchor="t">
            <a:spAutoFit/>
          </a:bodyPr>
          <a:lstStyle/>
          <a:p>
            <a:pPr algn="ctr">
              <a:lnSpc>
                <a:spcPts val="3469"/>
              </a:lnSpc>
              <a:spcBef>
                <a:spcPct val="0"/>
              </a:spcBef>
            </a:pPr>
            <a:r>
              <a:rPr lang="en-US" sz="2800" b="1" spc="275" dirty="0">
                <a:solidFill>
                  <a:srgbClr val="000000"/>
                </a:solidFill>
                <a:latin typeface="Times New Roman MT Bold"/>
                <a:ea typeface="Times New Roman MT Bold"/>
                <a:cs typeface="Times New Roman MT Bold"/>
                <a:sym typeface="Times New Roman MT Bold"/>
              </a:rPr>
              <a:t>RELEVANT</a:t>
            </a:r>
            <a:r>
              <a:rPr lang="en-US" sz="2891" b="1" spc="275" dirty="0">
                <a:solidFill>
                  <a:srgbClr val="000000"/>
                </a:solidFill>
                <a:latin typeface="Times New Roman MT Bold"/>
                <a:ea typeface="Times New Roman MT Bold"/>
                <a:cs typeface="Times New Roman MT Bold"/>
                <a:sym typeface="Times New Roman MT Bold"/>
              </a:rPr>
              <a:t> CONTEXT</a:t>
            </a:r>
          </a:p>
        </p:txBody>
      </p:sp>
      <p:sp>
        <p:nvSpPr>
          <p:cNvPr id="43" name="TextBox 43"/>
          <p:cNvSpPr txBox="1"/>
          <p:nvPr/>
        </p:nvSpPr>
        <p:spPr>
          <a:xfrm>
            <a:off x="11125136" y="6551171"/>
            <a:ext cx="7162864" cy="2707129"/>
          </a:xfrm>
          <a:prstGeom prst="rect">
            <a:avLst/>
          </a:prstGeom>
        </p:spPr>
        <p:txBody>
          <a:bodyPr lIns="0" tIns="0" rIns="0" bIns="0" rtlCol="0" anchor="t">
            <a:spAutoFit/>
          </a:bodyPr>
          <a:lstStyle/>
          <a:p>
            <a:pPr marL="495057" lvl="1" indent="-247528" algn="l">
              <a:lnSpc>
                <a:spcPts val="2751"/>
              </a:lnSpc>
              <a:spcBef>
                <a:spcPct val="0"/>
              </a:spcBef>
              <a:buFont typeface="Arial"/>
              <a:buChar char="•"/>
            </a:pPr>
            <a:r>
              <a:rPr lang="en-US" sz="2292" spc="217" dirty="0">
                <a:solidFill>
                  <a:srgbClr val="000000"/>
                </a:solidFill>
                <a:latin typeface="Calibri (MS)"/>
                <a:ea typeface="Calibri (MS)"/>
                <a:cs typeface="Calibri (MS)"/>
                <a:sym typeface="Calibri (MS)"/>
              </a:rPr>
              <a:t>Examples of infrastructure repeatedly damaged by hazards.</a:t>
            </a:r>
          </a:p>
          <a:p>
            <a:pPr marL="495057" lvl="1" indent="-247528" algn="l">
              <a:lnSpc>
                <a:spcPts val="2751"/>
              </a:lnSpc>
              <a:spcBef>
                <a:spcPct val="0"/>
              </a:spcBef>
              <a:buFont typeface="Arial"/>
              <a:buChar char="•"/>
            </a:pPr>
            <a:r>
              <a:rPr lang="en-US" sz="2292" spc="217" dirty="0">
                <a:solidFill>
                  <a:srgbClr val="000000"/>
                </a:solidFill>
                <a:latin typeface="Calibri (MS)"/>
                <a:ea typeface="Calibri (MS)"/>
                <a:cs typeface="Calibri (MS)"/>
                <a:sym typeface="Calibri (MS)"/>
              </a:rPr>
              <a:t>Repair and reconstruction timelines, where documented.</a:t>
            </a:r>
          </a:p>
          <a:p>
            <a:pPr marL="495057" lvl="1" indent="-247528" algn="l">
              <a:lnSpc>
                <a:spcPts val="2751"/>
              </a:lnSpc>
              <a:spcBef>
                <a:spcPct val="0"/>
              </a:spcBef>
              <a:buFont typeface="Arial"/>
              <a:buChar char="•"/>
            </a:pPr>
            <a:r>
              <a:rPr lang="en-US" sz="2292" spc="217" dirty="0">
                <a:solidFill>
                  <a:srgbClr val="000000"/>
                </a:solidFill>
                <a:latin typeface="Calibri (MS)"/>
                <a:ea typeface="Calibri (MS)"/>
                <a:cs typeface="Calibri (MS)"/>
                <a:sym typeface="Calibri (MS)"/>
              </a:rPr>
              <a:t>Whether hazard assessments and resilient design measures were incorporated into reconstruction.</a:t>
            </a:r>
          </a:p>
          <a:p>
            <a:pPr algn="l">
              <a:lnSpc>
                <a:spcPts val="2751"/>
              </a:lnSpc>
              <a:spcBef>
                <a:spcPct val="0"/>
              </a:spcBef>
            </a:pPr>
            <a:endParaRPr lang="en-US" sz="2292" spc="217" dirty="0">
              <a:solidFill>
                <a:srgbClr val="000000"/>
              </a:solidFill>
              <a:latin typeface="Calibri (MS)"/>
              <a:ea typeface="Calibri (MS)"/>
              <a:cs typeface="Calibri (MS)"/>
              <a:sym typeface="Calibri (MS)"/>
            </a:endParaRPr>
          </a:p>
        </p:txBody>
      </p:sp>
      <p:sp>
        <p:nvSpPr>
          <p:cNvPr id="44" name="TextBox 44"/>
          <p:cNvSpPr txBox="1"/>
          <p:nvPr/>
        </p:nvSpPr>
        <p:spPr>
          <a:xfrm>
            <a:off x="11638268" y="6045492"/>
            <a:ext cx="5746847" cy="491866"/>
          </a:xfrm>
          <a:prstGeom prst="rect">
            <a:avLst/>
          </a:prstGeom>
        </p:spPr>
        <p:txBody>
          <a:bodyPr lIns="0" tIns="0" rIns="0" bIns="0" rtlCol="0" anchor="t">
            <a:spAutoFit/>
          </a:bodyPr>
          <a:lstStyle/>
          <a:p>
            <a:pPr algn="ctr">
              <a:lnSpc>
                <a:spcPts val="3862"/>
              </a:lnSpc>
              <a:spcBef>
                <a:spcPct val="0"/>
              </a:spcBef>
            </a:pPr>
            <a:r>
              <a:rPr lang="en-US" sz="2800" b="1" spc="306" dirty="0">
                <a:solidFill>
                  <a:srgbClr val="000000"/>
                </a:solidFill>
                <a:latin typeface="Times New Roman MT Bold"/>
                <a:ea typeface="Times New Roman MT Bold"/>
                <a:cs typeface="Times New Roman MT Bold"/>
                <a:sym typeface="Times New Roman MT Bold"/>
              </a:rPr>
              <a:t>EVIDENCE</a:t>
            </a:r>
            <a:r>
              <a:rPr lang="en-US" sz="3218" b="1" spc="306" dirty="0">
                <a:solidFill>
                  <a:srgbClr val="000000"/>
                </a:solidFill>
                <a:latin typeface="Times New Roman MT Bold"/>
                <a:ea typeface="Times New Roman MT Bold"/>
                <a:cs typeface="Times New Roman MT Bold"/>
                <a:sym typeface="Times New Roman MT Bold"/>
              </a:rPr>
              <a:t> TO COLLECT</a:t>
            </a:r>
          </a:p>
        </p:txBody>
      </p:sp>
      <p:sp>
        <p:nvSpPr>
          <p:cNvPr id="45" name="TextBox 45"/>
          <p:cNvSpPr txBox="1"/>
          <p:nvPr/>
        </p:nvSpPr>
        <p:spPr>
          <a:xfrm>
            <a:off x="7205836" y="9239250"/>
            <a:ext cx="2674501" cy="257175"/>
          </a:xfrm>
          <a:prstGeom prst="rect">
            <a:avLst/>
          </a:prstGeom>
        </p:spPr>
        <p:txBody>
          <a:bodyPr lIns="0" tIns="0" rIns="0" bIns="0" rtlCol="0" anchor="t">
            <a:spAutoFit/>
          </a:bodyPr>
          <a:lstStyle/>
          <a:p>
            <a:pPr algn="ctr">
              <a:lnSpc>
                <a:spcPts val="1889"/>
              </a:lnSpc>
              <a:spcBef>
                <a:spcPct val="0"/>
              </a:spcBef>
            </a:pPr>
            <a:r>
              <a:rPr lang="en-US" sz="1575" spc="150">
                <a:solidFill>
                  <a:srgbClr val="000000"/>
                </a:solidFill>
                <a:latin typeface="Calibri (MS)"/>
                <a:ea typeface="Calibri (MS)"/>
                <a:cs typeface="Calibri (MS)"/>
                <a:sym typeface="Calibri (MS)"/>
              </a:rPr>
              <a:t>image generated by gemini</a:t>
            </a:r>
          </a:p>
        </p:txBody>
      </p:sp>
      <p:sp>
        <p:nvSpPr>
          <p:cNvPr id="46" name="TextBox 46"/>
          <p:cNvSpPr txBox="1"/>
          <p:nvPr/>
        </p:nvSpPr>
        <p:spPr>
          <a:xfrm>
            <a:off x="11228904" y="5146076"/>
            <a:ext cx="6565577" cy="726426"/>
          </a:xfrm>
          <a:prstGeom prst="rect">
            <a:avLst/>
          </a:prstGeom>
        </p:spPr>
        <p:txBody>
          <a:bodyPr lIns="0" tIns="0" rIns="0" bIns="0" rtlCol="0" anchor="t">
            <a:spAutoFit/>
          </a:bodyPr>
          <a:lstStyle/>
          <a:p>
            <a:pPr algn="ctr">
              <a:lnSpc>
                <a:spcPts val="1886"/>
              </a:lnSpc>
              <a:spcBef>
                <a:spcPct val="0"/>
              </a:spcBef>
            </a:pPr>
            <a:r>
              <a:rPr lang="en-US" sz="1572" spc="149">
                <a:solidFill>
                  <a:srgbClr val="000000"/>
                </a:solidFill>
                <a:latin typeface="Calibri (MS)"/>
                <a:ea typeface="Calibri (MS)"/>
                <a:cs typeface="Calibri (MS)"/>
                <a:sym typeface="Calibri (MS)"/>
              </a:rPr>
              <a:t>source : https://www.france24.com/en/asia-pacific/20260829-nepal-tibet-floods-live-death-toll-passes-600-nearly-2-500-people-still-missing</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6318995" y="-1318597"/>
            <a:ext cx="9314221" cy="4694594"/>
            <a:chOff x="0" y="0"/>
            <a:chExt cx="9721765" cy="4900005"/>
          </a:xfrm>
        </p:grpSpPr>
        <p:sp>
          <p:nvSpPr>
            <p:cNvPr id="14" name="Freeform 14"/>
            <p:cNvSpPr/>
            <p:nvPr/>
          </p:nvSpPr>
          <p:spPr>
            <a:xfrm>
              <a:off x="0" y="0"/>
              <a:ext cx="9721766" cy="4900006"/>
            </a:xfrm>
            <a:custGeom>
              <a:avLst/>
              <a:gdLst/>
              <a:ahLst/>
              <a:cxnLst/>
              <a:rect l="l" t="t" r="r" b="b"/>
              <a:pathLst>
                <a:path w="9721766" h="4900006">
                  <a:moveTo>
                    <a:pt x="0" y="0"/>
                  </a:moveTo>
                  <a:lnTo>
                    <a:pt x="9721766" y="0"/>
                  </a:lnTo>
                  <a:lnTo>
                    <a:pt x="9721766" y="4900006"/>
                  </a:lnTo>
                  <a:lnTo>
                    <a:pt x="0" y="4900006"/>
                  </a:lnTo>
                  <a:close/>
                </a:path>
              </a:pathLst>
            </a:custGeom>
            <a:blipFill>
              <a:blip r:embed="rId3">
                <a:alphaModFix amt="0"/>
              </a:blip>
              <a:stretch>
                <a:fillRect t="-42837" r="-54253" b="23572"/>
              </a:stretch>
            </a:blipFill>
          </p:spPr>
        </p:sp>
        <p:sp>
          <p:nvSpPr>
            <p:cNvPr id="15" name="TextBox 15"/>
            <p:cNvSpPr txBox="1"/>
            <p:nvPr/>
          </p:nvSpPr>
          <p:spPr>
            <a:xfrm>
              <a:off x="0" y="-9525"/>
              <a:ext cx="9721765" cy="4909530"/>
            </a:xfrm>
            <a:prstGeom prst="rect">
              <a:avLst/>
            </a:prstGeom>
          </p:spPr>
          <p:txBody>
            <a:bodyPr lIns="0" tIns="0" rIns="0" bIns="0" rtlCol="0" anchor="ctr"/>
            <a:lstStyle/>
            <a:p>
              <a:pPr algn="ctr">
                <a:lnSpc>
                  <a:spcPts val="7679"/>
                </a:lnSpc>
              </a:pPr>
              <a:r>
                <a:rPr lang="en-US" sz="6399" b="1" spc="266">
                  <a:solidFill>
                    <a:srgbClr val="052B35"/>
                  </a:solidFill>
                  <a:latin typeface="Cambria Bold"/>
                  <a:ea typeface="Cambria Bold"/>
                  <a:cs typeface="Cambria Bold"/>
                  <a:sym typeface="Cambria Bold"/>
                </a:rPr>
                <a:t>KEY CHALLENGES</a:t>
              </a:r>
            </a:p>
          </p:txBody>
        </p:sp>
      </p:grpSp>
      <p:grpSp>
        <p:nvGrpSpPr>
          <p:cNvPr id="16" name="Group 16"/>
          <p:cNvGrpSpPr/>
          <p:nvPr/>
        </p:nvGrpSpPr>
        <p:grpSpPr>
          <a:xfrm>
            <a:off x="678656" y="47291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898112" y="678656"/>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1104138" y="82296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2057400" y="576072"/>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5</a:t>
              </a:r>
            </a:p>
          </p:txBody>
        </p:sp>
      </p:grpSp>
      <p:grpSp>
        <p:nvGrpSpPr>
          <p:cNvPr id="28" name="Group 28"/>
          <p:cNvGrpSpPr/>
          <p:nvPr/>
        </p:nvGrpSpPr>
        <p:grpSpPr>
          <a:xfrm rot="5400000">
            <a:off x="11649835" y="2719598"/>
            <a:ext cx="6998515" cy="5527217"/>
            <a:chOff x="0" y="0"/>
            <a:chExt cx="1843230" cy="1455728"/>
          </a:xfrm>
        </p:grpSpPr>
        <p:sp>
          <p:nvSpPr>
            <p:cNvPr id="29" name="Freeform 29"/>
            <p:cNvSpPr/>
            <p:nvPr/>
          </p:nvSpPr>
          <p:spPr>
            <a:xfrm>
              <a:off x="0" y="0"/>
              <a:ext cx="1843230" cy="1455728"/>
            </a:xfrm>
            <a:custGeom>
              <a:avLst/>
              <a:gdLst/>
              <a:ahLst/>
              <a:cxnLst/>
              <a:rect l="l" t="t" r="r" b="b"/>
              <a:pathLst>
                <a:path w="1843230" h="1455728">
                  <a:moveTo>
                    <a:pt x="33187" y="0"/>
                  </a:moveTo>
                  <a:lnTo>
                    <a:pt x="1810044" y="0"/>
                  </a:lnTo>
                  <a:cubicBezTo>
                    <a:pt x="1818845" y="0"/>
                    <a:pt x="1827287" y="3496"/>
                    <a:pt x="1833510" y="9720"/>
                  </a:cubicBezTo>
                  <a:cubicBezTo>
                    <a:pt x="1839734" y="15944"/>
                    <a:pt x="1843230" y="24385"/>
                    <a:pt x="1843230" y="33187"/>
                  </a:cubicBezTo>
                  <a:lnTo>
                    <a:pt x="1843230" y="1422541"/>
                  </a:lnTo>
                  <a:cubicBezTo>
                    <a:pt x="1843230" y="1440870"/>
                    <a:pt x="1828372" y="1455728"/>
                    <a:pt x="1810044" y="1455728"/>
                  </a:cubicBezTo>
                  <a:lnTo>
                    <a:pt x="33187" y="1455728"/>
                  </a:lnTo>
                  <a:cubicBezTo>
                    <a:pt x="14858" y="1455728"/>
                    <a:pt x="0" y="1440870"/>
                    <a:pt x="0" y="1422541"/>
                  </a:cubicBezTo>
                  <a:lnTo>
                    <a:pt x="0" y="33187"/>
                  </a:lnTo>
                  <a:cubicBezTo>
                    <a:pt x="0" y="14858"/>
                    <a:pt x="14858" y="0"/>
                    <a:pt x="33187" y="0"/>
                  </a:cubicBezTo>
                  <a:close/>
                </a:path>
              </a:pathLst>
            </a:custGeom>
            <a:solidFill>
              <a:srgbClr val="FBF2CC"/>
            </a:solidFill>
          </p:spPr>
        </p:sp>
        <p:sp>
          <p:nvSpPr>
            <p:cNvPr id="30" name="TextBox 30"/>
            <p:cNvSpPr txBox="1"/>
            <p:nvPr/>
          </p:nvSpPr>
          <p:spPr>
            <a:xfrm>
              <a:off x="0" y="-19050"/>
              <a:ext cx="1843230" cy="1474778"/>
            </a:xfrm>
            <a:prstGeom prst="rect">
              <a:avLst/>
            </a:prstGeom>
          </p:spPr>
          <p:txBody>
            <a:bodyPr lIns="50800" tIns="50800" rIns="50800" bIns="50800" rtlCol="0" anchor="ctr"/>
            <a:lstStyle/>
            <a:p>
              <a:pPr algn="ctr">
                <a:lnSpc>
                  <a:spcPts val="1889"/>
                </a:lnSpc>
              </a:pPr>
              <a:endParaRPr/>
            </a:p>
          </p:txBody>
        </p:sp>
      </p:grpSp>
      <p:grpSp>
        <p:nvGrpSpPr>
          <p:cNvPr id="31" name="Group 31"/>
          <p:cNvGrpSpPr/>
          <p:nvPr/>
        </p:nvGrpSpPr>
        <p:grpSpPr>
          <a:xfrm rot="5400000">
            <a:off x="5793761" y="2695542"/>
            <a:ext cx="6917297" cy="5656547"/>
            <a:chOff x="0" y="0"/>
            <a:chExt cx="1821840" cy="1489790"/>
          </a:xfrm>
        </p:grpSpPr>
        <p:sp>
          <p:nvSpPr>
            <p:cNvPr id="32" name="Freeform 32"/>
            <p:cNvSpPr/>
            <p:nvPr/>
          </p:nvSpPr>
          <p:spPr>
            <a:xfrm>
              <a:off x="0" y="0"/>
              <a:ext cx="1821840" cy="1489790"/>
            </a:xfrm>
            <a:custGeom>
              <a:avLst/>
              <a:gdLst/>
              <a:ahLst/>
              <a:cxnLst/>
              <a:rect l="l" t="t" r="r" b="b"/>
              <a:pathLst>
                <a:path w="1821840" h="1489790">
                  <a:moveTo>
                    <a:pt x="33576" y="0"/>
                  </a:moveTo>
                  <a:lnTo>
                    <a:pt x="1788263" y="0"/>
                  </a:lnTo>
                  <a:cubicBezTo>
                    <a:pt x="1806807" y="0"/>
                    <a:pt x="1821840" y="15033"/>
                    <a:pt x="1821840" y="33576"/>
                  </a:cubicBezTo>
                  <a:lnTo>
                    <a:pt x="1821840" y="1456214"/>
                  </a:lnTo>
                  <a:cubicBezTo>
                    <a:pt x="1821840" y="1465119"/>
                    <a:pt x="1818302" y="1473659"/>
                    <a:pt x="1812005" y="1479956"/>
                  </a:cubicBezTo>
                  <a:cubicBezTo>
                    <a:pt x="1805709" y="1486253"/>
                    <a:pt x="1797168" y="1489790"/>
                    <a:pt x="1788263" y="1489790"/>
                  </a:cubicBezTo>
                  <a:lnTo>
                    <a:pt x="33576" y="1489790"/>
                  </a:lnTo>
                  <a:cubicBezTo>
                    <a:pt x="24671" y="1489790"/>
                    <a:pt x="16131" y="1486253"/>
                    <a:pt x="9834" y="1479956"/>
                  </a:cubicBezTo>
                  <a:cubicBezTo>
                    <a:pt x="3537" y="1473659"/>
                    <a:pt x="0" y="1465119"/>
                    <a:pt x="0" y="1456214"/>
                  </a:cubicBezTo>
                  <a:lnTo>
                    <a:pt x="0" y="33576"/>
                  </a:lnTo>
                  <a:cubicBezTo>
                    <a:pt x="0" y="24671"/>
                    <a:pt x="3537" y="16131"/>
                    <a:pt x="9834" y="9834"/>
                  </a:cubicBezTo>
                  <a:cubicBezTo>
                    <a:pt x="16131" y="3537"/>
                    <a:pt x="24671" y="0"/>
                    <a:pt x="33576" y="0"/>
                  </a:cubicBezTo>
                  <a:close/>
                </a:path>
              </a:pathLst>
            </a:custGeom>
            <a:solidFill>
              <a:srgbClr val="D3E6DD"/>
            </a:solidFill>
          </p:spPr>
        </p:sp>
        <p:sp>
          <p:nvSpPr>
            <p:cNvPr id="33" name="TextBox 33"/>
            <p:cNvSpPr txBox="1"/>
            <p:nvPr/>
          </p:nvSpPr>
          <p:spPr>
            <a:xfrm>
              <a:off x="0" y="-19050"/>
              <a:ext cx="1821840" cy="1508840"/>
            </a:xfrm>
            <a:prstGeom prst="rect">
              <a:avLst/>
            </a:prstGeom>
          </p:spPr>
          <p:txBody>
            <a:bodyPr lIns="50800" tIns="50800" rIns="50800" bIns="50800" rtlCol="0" anchor="ctr"/>
            <a:lstStyle/>
            <a:p>
              <a:pPr algn="ctr">
                <a:lnSpc>
                  <a:spcPts val="1889"/>
                </a:lnSpc>
              </a:pPr>
              <a:endParaRPr/>
            </a:p>
          </p:txBody>
        </p:sp>
      </p:grpSp>
      <p:grpSp>
        <p:nvGrpSpPr>
          <p:cNvPr id="34" name="Group 34"/>
          <p:cNvGrpSpPr/>
          <p:nvPr/>
        </p:nvGrpSpPr>
        <p:grpSpPr>
          <a:xfrm rot="5400000">
            <a:off x="-235116" y="2628378"/>
            <a:ext cx="6917297" cy="5790875"/>
            <a:chOff x="0" y="0"/>
            <a:chExt cx="1821840" cy="1525169"/>
          </a:xfrm>
        </p:grpSpPr>
        <p:sp>
          <p:nvSpPr>
            <p:cNvPr id="35" name="Freeform 35"/>
            <p:cNvSpPr/>
            <p:nvPr/>
          </p:nvSpPr>
          <p:spPr>
            <a:xfrm>
              <a:off x="0" y="0"/>
              <a:ext cx="1821840" cy="1525169"/>
            </a:xfrm>
            <a:custGeom>
              <a:avLst/>
              <a:gdLst/>
              <a:ahLst/>
              <a:cxnLst/>
              <a:rect l="l" t="t" r="r" b="b"/>
              <a:pathLst>
                <a:path w="1821840" h="1525169">
                  <a:moveTo>
                    <a:pt x="33576" y="0"/>
                  </a:moveTo>
                  <a:lnTo>
                    <a:pt x="1788263" y="0"/>
                  </a:lnTo>
                  <a:cubicBezTo>
                    <a:pt x="1806807" y="0"/>
                    <a:pt x="1821840" y="15033"/>
                    <a:pt x="1821840" y="33576"/>
                  </a:cubicBezTo>
                  <a:lnTo>
                    <a:pt x="1821840" y="1491592"/>
                  </a:lnTo>
                  <a:cubicBezTo>
                    <a:pt x="1821840" y="1500497"/>
                    <a:pt x="1818302" y="1509038"/>
                    <a:pt x="1812005" y="1515335"/>
                  </a:cubicBezTo>
                  <a:cubicBezTo>
                    <a:pt x="1805709" y="1521631"/>
                    <a:pt x="1797168" y="1525169"/>
                    <a:pt x="1788263" y="1525169"/>
                  </a:cubicBezTo>
                  <a:lnTo>
                    <a:pt x="33576" y="1525169"/>
                  </a:lnTo>
                  <a:cubicBezTo>
                    <a:pt x="24671" y="1525169"/>
                    <a:pt x="16131" y="1521631"/>
                    <a:pt x="9834" y="1515335"/>
                  </a:cubicBezTo>
                  <a:cubicBezTo>
                    <a:pt x="3537" y="1509038"/>
                    <a:pt x="0" y="1500497"/>
                    <a:pt x="0" y="1491592"/>
                  </a:cubicBezTo>
                  <a:lnTo>
                    <a:pt x="0" y="33576"/>
                  </a:lnTo>
                  <a:cubicBezTo>
                    <a:pt x="0" y="24671"/>
                    <a:pt x="3537" y="16131"/>
                    <a:pt x="9834" y="9834"/>
                  </a:cubicBezTo>
                  <a:cubicBezTo>
                    <a:pt x="16131" y="3537"/>
                    <a:pt x="24671" y="0"/>
                    <a:pt x="33576" y="0"/>
                  </a:cubicBezTo>
                  <a:close/>
                </a:path>
              </a:pathLst>
            </a:custGeom>
            <a:solidFill>
              <a:srgbClr val="FBF2CC"/>
            </a:solidFill>
          </p:spPr>
        </p:sp>
        <p:sp>
          <p:nvSpPr>
            <p:cNvPr id="36" name="TextBox 36"/>
            <p:cNvSpPr txBox="1"/>
            <p:nvPr/>
          </p:nvSpPr>
          <p:spPr>
            <a:xfrm>
              <a:off x="0" y="-19050"/>
              <a:ext cx="1821840" cy="1544219"/>
            </a:xfrm>
            <a:prstGeom prst="rect">
              <a:avLst/>
            </a:prstGeom>
          </p:spPr>
          <p:txBody>
            <a:bodyPr lIns="50800" tIns="50800" rIns="50800" bIns="50800" rtlCol="0" anchor="ctr"/>
            <a:lstStyle/>
            <a:p>
              <a:pPr algn="ctr">
                <a:lnSpc>
                  <a:spcPts val="1889"/>
                </a:lnSpc>
              </a:pPr>
              <a:endParaRPr/>
            </a:p>
          </p:txBody>
        </p:sp>
      </p:grpSp>
      <p:sp>
        <p:nvSpPr>
          <p:cNvPr id="37" name="TextBox 37"/>
          <p:cNvSpPr txBox="1"/>
          <p:nvPr/>
        </p:nvSpPr>
        <p:spPr>
          <a:xfrm>
            <a:off x="6624782" y="3699960"/>
            <a:ext cx="5133323" cy="5200650"/>
          </a:xfrm>
          <a:prstGeom prst="rect">
            <a:avLst/>
          </a:prstGeom>
        </p:spPr>
        <p:txBody>
          <a:bodyPr lIns="0" tIns="0" rIns="0" bIns="0" rtlCol="0" anchor="t">
            <a:spAutoFit/>
          </a:bodyPr>
          <a:lstStyle/>
          <a:p>
            <a:pPr marL="488672" lvl="1" indent="-244336" algn="l">
              <a:lnSpc>
                <a:spcPts val="2716"/>
              </a:lnSpc>
              <a:spcBef>
                <a:spcPct val="0"/>
              </a:spcBef>
              <a:buFont typeface="Arial"/>
              <a:buChar char="•"/>
            </a:pPr>
            <a:r>
              <a:rPr lang="en-US" sz="2263" b="1" spc="215">
                <a:solidFill>
                  <a:srgbClr val="000000"/>
                </a:solidFill>
                <a:latin typeface="Calibri (MS) Bold"/>
                <a:ea typeface="Calibri (MS) Bold"/>
                <a:cs typeface="Calibri (MS) Bold"/>
                <a:sym typeface="Calibri (MS) Bold"/>
              </a:rPr>
              <a:t>Repeated Damage and Vulnerability:</a:t>
            </a:r>
            <a:r>
              <a:rPr lang="en-US" sz="2263" spc="215">
                <a:solidFill>
                  <a:srgbClr val="000000"/>
                </a:solidFill>
                <a:latin typeface="Calibri (MS)"/>
                <a:ea typeface="Calibri (MS)"/>
                <a:cs typeface="Calibri (MS)"/>
                <a:sym typeface="Calibri (MS)"/>
              </a:rPr>
              <a:t>When underlying risks are not addressed, the same roads, bridges and facilities can remain exposed to similar hazards, leading to repeated damage and disruption.</a:t>
            </a:r>
          </a:p>
          <a:p>
            <a:pPr marL="488672" lvl="1" indent="-244336" algn="l">
              <a:lnSpc>
                <a:spcPts val="2716"/>
              </a:lnSpc>
              <a:spcBef>
                <a:spcPct val="0"/>
              </a:spcBef>
              <a:buFont typeface="Arial"/>
              <a:buChar char="•"/>
            </a:pPr>
            <a:r>
              <a:rPr lang="en-US" sz="2263" b="1" spc="215">
                <a:solidFill>
                  <a:srgbClr val="000000"/>
                </a:solidFill>
                <a:latin typeface="Calibri (MS) Bold"/>
                <a:ea typeface="Calibri (MS) Bold"/>
                <a:cs typeface="Calibri (MS) Bold"/>
                <a:sym typeface="Calibri (MS) Bold"/>
              </a:rPr>
              <a:t>Growing Social and Economic Losses:</a:t>
            </a:r>
            <a:r>
              <a:rPr lang="en-US" sz="2263" spc="215">
                <a:solidFill>
                  <a:srgbClr val="000000"/>
                </a:solidFill>
                <a:latin typeface="Calibri (MS)"/>
                <a:ea typeface="Calibri (MS)"/>
                <a:cs typeface="Calibri (MS)"/>
                <a:sym typeface="Calibri (MS)"/>
              </a:rPr>
              <a:t>Repeated reconstruction consumes public resources and can disrupt transportation, education, healthcare, businesses and local livelihoods for communities.</a:t>
            </a:r>
          </a:p>
        </p:txBody>
      </p:sp>
      <p:sp>
        <p:nvSpPr>
          <p:cNvPr id="38" name="Freeform 38"/>
          <p:cNvSpPr/>
          <p:nvPr/>
        </p:nvSpPr>
        <p:spPr>
          <a:xfrm>
            <a:off x="5046691" y="283052"/>
            <a:ext cx="1578091" cy="1491296"/>
          </a:xfrm>
          <a:custGeom>
            <a:avLst/>
            <a:gdLst/>
            <a:ahLst/>
            <a:cxnLst/>
            <a:rect l="l" t="t" r="r" b="b"/>
            <a:pathLst>
              <a:path w="1578091" h="1491296">
                <a:moveTo>
                  <a:pt x="0" y="0"/>
                </a:moveTo>
                <a:lnTo>
                  <a:pt x="1578091" y="0"/>
                </a:lnTo>
                <a:lnTo>
                  <a:pt x="1578091" y="1491296"/>
                </a:lnTo>
                <a:lnTo>
                  <a:pt x="0" y="1491296"/>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39" name="TextBox 39"/>
          <p:cNvSpPr txBox="1"/>
          <p:nvPr/>
        </p:nvSpPr>
        <p:spPr>
          <a:xfrm>
            <a:off x="12385483" y="2982589"/>
            <a:ext cx="5470991" cy="5852097"/>
          </a:xfrm>
          <a:prstGeom prst="rect">
            <a:avLst/>
          </a:prstGeom>
        </p:spPr>
        <p:txBody>
          <a:bodyPr lIns="0" tIns="0" rIns="0" bIns="0" rtlCol="0" anchor="t">
            <a:spAutoFit/>
          </a:bodyPr>
          <a:lstStyle/>
          <a:p>
            <a:pPr algn="ctr">
              <a:lnSpc>
                <a:spcPts val="2483"/>
              </a:lnSpc>
              <a:spcBef>
                <a:spcPct val="0"/>
              </a:spcBef>
            </a:pPr>
            <a:endParaRPr/>
          </a:p>
          <a:p>
            <a:pPr marL="446838" lvl="1" indent="-223419" algn="l">
              <a:lnSpc>
                <a:spcPts val="2483"/>
              </a:lnSpc>
              <a:spcBef>
                <a:spcPct val="0"/>
              </a:spcBef>
              <a:buFont typeface="Arial"/>
              <a:buChar char="•"/>
            </a:pPr>
            <a:r>
              <a:rPr lang="en-US" sz="2069" spc="197">
                <a:solidFill>
                  <a:srgbClr val="000000"/>
                </a:solidFill>
                <a:latin typeface="Calibri (MS)"/>
                <a:ea typeface="Calibri (MS)"/>
                <a:cs typeface="Calibri (MS)"/>
                <a:sym typeface="Calibri (MS)"/>
              </a:rPr>
              <a:t>After a disaster, roads, bridges and essential facilities need to be restored quickly. This urgency can reduce the time available for detailed planning and risk assessment.</a:t>
            </a:r>
          </a:p>
          <a:p>
            <a:pPr marL="446838" lvl="1" indent="-223419" algn="l">
              <a:lnSpc>
                <a:spcPts val="2483"/>
              </a:lnSpc>
              <a:spcBef>
                <a:spcPct val="0"/>
              </a:spcBef>
              <a:buFont typeface="Arial"/>
              <a:buChar char="•"/>
            </a:pPr>
            <a:r>
              <a:rPr lang="en-US" sz="2069" spc="197">
                <a:solidFill>
                  <a:srgbClr val="000000"/>
                </a:solidFill>
                <a:latin typeface="Calibri (MS)"/>
                <a:ea typeface="Calibri (MS)"/>
                <a:cs typeface="Calibri (MS)"/>
                <a:sym typeface="Calibri (MS)"/>
              </a:rPr>
              <a:t>Limited Resources and Expertise Budget constraoge of skilled professionals and limited technicaL resources can make resilient reconstruction difficult. Immediate repairs may become the priority over better long-term alternatives.</a:t>
            </a:r>
          </a:p>
          <a:p>
            <a:pPr marL="446838" lvl="1" indent="-223419" algn="l">
              <a:lnSpc>
                <a:spcPts val="2483"/>
              </a:lnSpc>
              <a:spcBef>
                <a:spcPct val="0"/>
              </a:spcBef>
              <a:buFont typeface="Arial"/>
              <a:buChar char="•"/>
            </a:pPr>
            <a:r>
              <a:rPr lang="en-US" sz="2069" spc="197">
                <a:solidFill>
                  <a:srgbClr val="000000"/>
                </a:solidFill>
                <a:latin typeface="Calibri (MS)"/>
                <a:ea typeface="Calibri (MS)"/>
                <a:cs typeface="Calibri (MS)"/>
                <a:sym typeface="Calibri (MS)"/>
              </a:rPr>
              <a:t>Uncertain Future ClimateRisk,Floods, landslides, erosion and    changing weather patterns make future conditions difficult to predict. Infrastructure designed only for past conditions may not remain safe.</a:t>
            </a:r>
          </a:p>
        </p:txBody>
      </p:sp>
      <p:sp>
        <p:nvSpPr>
          <p:cNvPr id="40" name="TextBox 40"/>
          <p:cNvSpPr txBox="1"/>
          <p:nvPr/>
        </p:nvSpPr>
        <p:spPr>
          <a:xfrm>
            <a:off x="12752430" y="2185988"/>
            <a:ext cx="4856457" cy="960367"/>
          </a:xfrm>
          <a:prstGeom prst="rect">
            <a:avLst/>
          </a:prstGeom>
        </p:spPr>
        <p:txBody>
          <a:bodyPr lIns="0" tIns="0" rIns="0" bIns="0" rtlCol="0" anchor="t">
            <a:spAutoFit/>
          </a:bodyPr>
          <a:lstStyle/>
          <a:p>
            <a:pPr algn="ctr">
              <a:lnSpc>
                <a:spcPts val="3585"/>
              </a:lnSpc>
              <a:spcBef>
                <a:spcPct val="0"/>
              </a:spcBef>
            </a:pPr>
            <a:r>
              <a:rPr lang="en-US" sz="2988" b="1" spc="284">
                <a:solidFill>
                  <a:srgbClr val="000000"/>
                </a:solidFill>
                <a:latin typeface="Times New Roman MT Bold"/>
                <a:ea typeface="Times New Roman MT Bold"/>
                <a:cs typeface="Times New Roman MT Bold"/>
                <a:sym typeface="Times New Roman MT Bold"/>
              </a:rPr>
              <a:t>MAIN DIFFIICULTIES AND BOTTLENECKS</a:t>
            </a:r>
          </a:p>
        </p:txBody>
      </p:sp>
      <p:sp>
        <p:nvSpPr>
          <p:cNvPr id="41" name="TextBox 41"/>
          <p:cNvSpPr txBox="1"/>
          <p:nvPr/>
        </p:nvSpPr>
        <p:spPr>
          <a:xfrm>
            <a:off x="645331" y="3043238"/>
            <a:ext cx="5133238" cy="5791448"/>
          </a:xfrm>
          <a:prstGeom prst="rect">
            <a:avLst/>
          </a:prstGeom>
        </p:spPr>
        <p:txBody>
          <a:bodyPr lIns="0" tIns="0" rIns="0" bIns="0" rtlCol="0" anchor="t">
            <a:spAutoFit/>
          </a:bodyPr>
          <a:lstStyle/>
          <a:p>
            <a:pPr marL="509781" lvl="1" indent="-254890" algn="l">
              <a:lnSpc>
                <a:spcPts val="2833"/>
              </a:lnSpc>
              <a:spcBef>
                <a:spcPct val="0"/>
              </a:spcBef>
              <a:buFont typeface="Arial"/>
              <a:buChar char="•"/>
            </a:pPr>
            <a:r>
              <a:rPr lang="en-US" sz="2361" spc="224">
                <a:solidFill>
                  <a:srgbClr val="000000"/>
                </a:solidFill>
                <a:latin typeface="Calibri (MS)"/>
                <a:ea typeface="Calibri (MS)"/>
                <a:cs typeface="Calibri (MS)"/>
                <a:sym typeface="Calibri (MS)"/>
              </a:rPr>
              <a:t>Restoring Instead of Improving Reconstruction often focuses on bringing damaged infrastructure back to its previous condition. The opportunity to redesign it for future hazards may be overlooked.</a:t>
            </a:r>
          </a:p>
          <a:p>
            <a:pPr marL="509783" lvl="1" indent="-254892" algn="l">
              <a:lnSpc>
                <a:spcPts val="2833"/>
              </a:lnSpc>
              <a:spcBef>
                <a:spcPct val="0"/>
              </a:spcBef>
              <a:buFont typeface="Arial"/>
              <a:buChar char="•"/>
            </a:pPr>
            <a:r>
              <a:rPr lang="en-US" sz="2361" spc="224">
                <a:solidFill>
                  <a:srgbClr val="000000"/>
                </a:solidFill>
                <a:latin typeface="Calibri (MS)"/>
                <a:ea typeface="Calibri (MS)"/>
                <a:cs typeface="Calibri (MS)"/>
                <a:sym typeface="Calibri (MS)"/>
              </a:rPr>
              <a:t>Gaps in Coordination and Learning Different agencies and stakeholders may be involved in disaster recovery. Lessons from previous failures are not always effectively transferred into future reconstruction decisions.</a:t>
            </a:r>
          </a:p>
        </p:txBody>
      </p:sp>
      <p:sp>
        <p:nvSpPr>
          <p:cNvPr id="42" name="TextBox 42"/>
          <p:cNvSpPr txBox="1"/>
          <p:nvPr/>
        </p:nvSpPr>
        <p:spPr>
          <a:xfrm>
            <a:off x="868614" y="2185988"/>
            <a:ext cx="4709837" cy="914400"/>
          </a:xfrm>
          <a:prstGeom prst="rect">
            <a:avLst/>
          </a:prstGeom>
        </p:spPr>
        <p:txBody>
          <a:bodyPr lIns="0" tIns="0" rIns="0" bIns="0" rtlCol="0" anchor="t">
            <a:spAutoFit/>
          </a:bodyPr>
          <a:lstStyle/>
          <a:p>
            <a:pPr algn="ctr">
              <a:lnSpc>
                <a:spcPts val="3449"/>
              </a:lnSpc>
              <a:spcBef>
                <a:spcPct val="0"/>
              </a:spcBef>
            </a:pPr>
            <a:r>
              <a:rPr lang="en-US" sz="2874" b="1" spc="273">
                <a:solidFill>
                  <a:srgbClr val="000000"/>
                </a:solidFill>
                <a:latin typeface="Times New Roman MT Bold"/>
                <a:ea typeface="Times New Roman MT Bold"/>
                <a:cs typeface="Times New Roman MT Bold"/>
                <a:sym typeface="Times New Roman MT Bold"/>
              </a:rPr>
              <a:t>ROOT CAUSES BEHIND THEM</a:t>
            </a:r>
          </a:p>
        </p:txBody>
      </p:sp>
      <p:sp>
        <p:nvSpPr>
          <p:cNvPr id="43" name="TextBox 43"/>
          <p:cNvSpPr txBox="1"/>
          <p:nvPr/>
        </p:nvSpPr>
        <p:spPr>
          <a:xfrm>
            <a:off x="6524459" y="2185988"/>
            <a:ext cx="5333969" cy="1319255"/>
          </a:xfrm>
          <a:prstGeom prst="rect">
            <a:avLst/>
          </a:prstGeom>
        </p:spPr>
        <p:txBody>
          <a:bodyPr lIns="0" tIns="0" rIns="0" bIns="0" rtlCol="0" anchor="t">
            <a:spAutoFit/>
          </a:bodyPr>
          <a:lstStyle/>
          <a:p>
            <a:pPr algn="ctr">
              <a:lnSpc>
                <a:spcPts val="3363"/>
              </a:lnSpc>
              <a:spcBef>
                <a:spcPct val="0"/>
              </a:spcBef>
            </a:pPr>
            <a:r>
              <a:rPr lang="en-US" sz="2802" b="1" spc="266">
                <a:solidFill>
                  <a:srgbClr val="000000"/>
                </a:solidFill>
                <a:latin typeface="Times New Roman MT Bold"/>
                <a:ea typeface="Times New Roman MT Bold"/>
                <a:cs typeface="Times New Roman MT Bold"/>
                <a:sym typeface="Times New Roman MT Bold"/>
              </a:rPr>
              <a:t>CONSEQUENCES OF LEAVING THEM UNSOLVED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634936" y="164020"/>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830813" y="267176"/>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1028700" y="-739479"/>
            <a:ext cx="18453585" cy="3055726"/>
            <a:chOff x="0" y="0"/>
            <a:chExt cx="14996160" cy="2483212"/>
          </a:xfrm>
        </p:grpSpPr>
        <p:sp>
          <p:nvSpPr>
            <p:cNvPr id="14" name="Freeform 14"/>
            <p:cNvSpPr/>
            <p:nvPr/>
          </p:nvSpPr>
          <p:spPr>
            <a:xfrm>
              <a:off x="0" y="0"/>
              <a:ext cx="14996161" cy="2483212"/>
            </a:xfrm>
            <a:custGeom>
              <a:avLst/>
              <a:gdLst/>
              <a:ahLst/>
              <a:cxnLst/>
              <a:rect l="l" t="t" r="r" b="b"/>
              <a:pathLst>
                <a:path w="14996161" h="2483212">
                  <a:moveTo>
                    <a:pt x="0" y="0"/>
                  </a:moveTo>
                  <a:lnTo>
                    <a:pt x="14996161" y="0"/>
                  </a:lnTo>
                  <a:lnTo>
                    <a:pt x="14996161" y="2483212"/>
                  </a:lnTo>
                  <a:lnTo>
                    <a:pt x="0" y="2483212"/>
                  </a:lnTo>
                  <a:close/>
                </a:path>
              </a:pathLst>
            </a:custGeom>
            <a:blipFill>
              <a:blip r:embed="rId3">
                <a:alphaModFix amt="0"/>
              </a:blip>
              <a:stretch>
                <a:fillRect t="-84529" b="-50811"/>
              </a:stretch>
            </a:blipFill>
          </p:spPr>
        </p:sp>
        <p:sp>
          <p:nvSpPr>
            <p:cNvPr id="15" name="TextBox 15"/>
            <p:cNvSpPr txBox="1"/>
            <p:nvPr/>
          </p:nvSpPr>
          <p:spPr>
            <a:xfrm>
              <a:off x="0" y="-19050"/>
              <a:ext cx="14996160" cy="2502262"/>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EXISTING SOLUTIONS AND RESEARCH GAPS </a:t>
              </a:r>
            </a:p>
          </p:txBody>
        </p:sp>
      </p:grpSp>
      <p:grpSp>
        <p:nvGrpSpPr>
          <p:cNvPr id="16" name="Group 16"/>
          <p:cNvGrpSpPr/>
          <p:nvPr/>
        </p:nvGrpSpPr>
        <p:grpSpPr>
          <a:xfrm>
            <a:off x="363462" y="26717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623792" y="472916"/>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829818" y="61722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1652778" y="370332"/>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6</a:t>
              </a:r>
            </a:p>
          </p:txBody>
        </p:sp>
      </p:grpSp>
      <p:sp>
        <p:nvSpPr>
          <p:cNvPr id="28" name="Freeform 28"/>
          <p:cNvSpPr/>
          <p:nvPr/>
        </p:nvSpPr>
        <p:spPr>
          <a:xfrm>
            <a:off x="10750792" y="1586465"/>
            <a:ext cx="6575321" cy="6343251"/>
          </a:xfrm>
          <a:custGeom>
            <a:avLst/>
            <a:gdLst/>
            <a:ahLst/>
            <a:cxnLst/>
            <a:rect l="l" t="t" r="r" b="b"/>
            <a:pathLst>
              <a:path w="6575321" h="6343251">
                <a:moveTo>
                  <a:pt x="0" y="0"/>
                </a:moveTo>
                <a:lnTo>
                  <a:pt x="6575321" y="0"/>
                </a:lnTo>
                <a:lnTo>
                  <a:pt x="6575321" y="6343251"/>
                </a:lnTo>
                <a:lnTo>
                  <a:pt x="0" y="6343251"/>
                </a:lnTo>
                <a:lnTo>
                  <a:pt x="0" y="0"/>
                </a:lnTo>
                <a:close/>
              </a:path>
            </a:pathLst>
          </a:custGeom>
          <a:blipFill>
            <a:blip r:embed="rId5"/>
            <a:stretch>
              <a:fillRect/>
            </a:stretch>
          </a:blipFill>
        </p:spPr>
      </p:sp>
      <p:sp>
        <p:nvSpPr>
          <p:cNvPr id="29" name="Freeform 29"/>
          <p:cNvSpPr/>
          <p:nvPr/>
        </p:nvSpPr>
        <p:spPr>
          <a:xfrm>
            <a:off x="8549487" y="3638235"/>
            <a:ext cx="1706005" cy="483885"/>
          </a:xfrm>
          <a:custGeom>
            <a:avLst/>
            <a:gdLst/>
            <a:ahLst/>
            <a:cxnLst/>
            <a:rect l="l" t="t" r="r" b="b"/>
            <a:pathLst>
              <a:path w="1706005" h="483885">
                <a:moveTo>
                  <a:pt x="0" y="0"/>
                </a:moveTo>
                <a:lnTo>
                  <a:pt x="1706005" y="0"/>
                </a:lnTo>
                <a:lnTo>
                  <a:pt x="1706005" y="483885"/>
                </a:lnTo>
                <a:lnTo>
                  <a:pt x="0" y="483885"/>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30" name="Freeform 30"/>
          <p:cNvSpPr/>
          <p:nvPr/>
        </p:nvSpPr>
        <p:spPr>
          <a:xfrm>
            <a:off x="623792" y="1586465"/>
            <a:ext cx="7686974" cy="6198192"/>
          </a:xfrm>
          <a:custGeom>
            <a:avLst/>
            <a:gdLst/>
            <a:ahLst/>
            <a:cxnLst/>
            <a:rect l="l" t="t" r="r" b="b"/>
            <a:pathLst>
              <a:path w="7686974" h="6198192">
                <a:moveTo>
                  <a:pt x="0" y="0"/>
                </a:moveTo>
                <a:lnTo>
                  <a:pt x="7686974" y="0"/>
                </a:lnTo>
                <a:lnTo>
                  <a:pt x="7686974" y="6198193"/>
                </a:lnTo>
                <a:lnTo>
                  <a:pt x="0" y="6198193"/>
                </a:lnTo>
                <a:lnTo>
                  <a:pt x="0" y="0"/>
                </a:lnTo>
                <a:close/>
              </a:path>
            </a:pathLst>
          </a:custGeom>
          <a:blipFill>
            <a:blip r:embed="rId7"/>
            <a:stretch>
              <a:fillRect/>
            </a:stretch>
          </a:blipFill>
        </p:spPr>
      </p:sp>
      <p:grpSp>
        <p:nvGrpSpPr>
          <p:cNvPr id="31" name="Group 31"/>
          <p:cNvGrpSpPr/>
          <p:nvPr/>
        </p:nvGrpSpPr>
        <p:grpSpPr>
          <a:xfrm>
            <a:off x="12010783" y="8028623"/>
            <a:ext cx="5872881" cy="1405091"/>
            <a:chOff x="0" y="0"/>
            <a:chExt cx="1546767" cy="370065"/>
          </a:xfrm>
        </p:grpSpPr>
        <p:sp>
          <p:nvSpPr>
            <p:cNvPr id="32" name="Freeform 32"/>
            <p:cNvSpPr/>
            <p:nvPr/>
          </p:nvSpPr>
          <p:spPr>
            <a:xfrm>
              <a:off x="0" y="0"/>
              <a:ext cx="1546767" cy="370065"/>
            </a:xfrm>
            <a:custGeom>
              <a:avLst/>
              <a:gdLst/>
              <a:ahLst/>
              <a:cxnLst/>
              <a:rect l="l" t="t" r="r" b="b"/>
              <a:pathLst>
                <a:path w="1546767" h="370065">
                  <a:moveTo>
                    <a:pt x="0" y="0"/>
                  </a:moveTo>
                  <a:lnTo>
                    <a:pt x="1546767" y="0"/>
                  </a:lnTo>
                  <a:lnTo>
                    <a:pt x="1546767" y="370065"/>
                  </a:lnTo>
                  <a:lnTo>
                    <a:pt x="0" y="370065"/>
                  </a:lnTo>
                  <a:close/>
                </a:path>
              </a:pathLst>
            </a:custGeom>
            <a:solidFill>
              <a:srgbClr val="FBF2CC"/>
            </a:solidFill>
          </p:spPr>
        </p:sp>
        <p:sp>
          <p:nvSpPr>
            <p:cNvPr id="33" name="TextBox 33"/>
            <p:cNvSpPr txBox="1"/>
            <p:nvPr/>
          </p:nvSpPr>
          <p:spPr>
            <a:xfrm>
              <a:off x="0" y="-19050"/>
              <a:ext cx="1546767" cy="389115"/>
            </a:xfrm>
            <a:prstGeom prst="rect">
              <a:avLst/>
            </a:prstGeom>
          </p:spPr>
          <p:txBody>
            <a:bodyPr lIns="50800" tIns="50800" rIns="50800" bIns="50800" rtlCol="0" anchor="ctr"/>
            <a:lstStyle/>
            <a:p>
              <a:pPr algn="ctr">
                <a:lnSpc>
                  <a:spcPts val="1889"/>
                </a:lnSpc>
              </a:pPr>
              <a:endParaRPr/>
            </a:p>
          </p:txBody>
        </p:sp>
      </p:grpSp>
      <p:sp>
        <p:nvSpPr>
          <p:cNvPr id="34" name="TextBox 34"/>
          <p:cNvSpPr txBox="1"/>
          <p:nvPr/>
        </p:nvSpPr>
        <p:spPr>
          <a:xfrm>
            <a:off x="8212361" y="4171233"/>
            <a:ext cx="2380258" cy="1164191"/>
          </a:xfrm>
          <a:prstGeom prst="rect">
            <a:avLst/>
          </a:prstGeom>
        </p:spPr>
        <p:txBody>
          <a:bodyPr lIns="0" tIns="0" rIns="0" bIns="0" rtlCol="0" anchor="t">
            <a:spAutoFit/>
          </a:bodyPr>
          <a:lstStyle/>
          <a:p>
            <a:pPr algn="ctr">
              <a:lnSpc>
                <a:spcPts val="2308"/>
              </a:lnSpc>
            </a:pPr>
            <a:r>
              <a:rPr lang="en-US" sz="1923" spc="182">
                <a:solidFill>
                  <a:srgbClr val="000000"/>
                </a:solidFill>
                <a:latin typeface="Glacial Indifference"/>
                <a:ea typeface="Glacial Indifference"/>
                <a:cs typeface="Glacial Indifference"/>
                <a:sym typeface="Glacial Indifference"/>
              </a:rPr>
              <a:t>From</a:t>
            </a:r>
          </a:p>
          <a:p>
            <a:pPr algn="ctr">
              <a:lnSpc>
                <a:spcPts val="2308"/>
              </a:lnSpc>
              <a:spcBef>
                <a:spcPct val="0"/>
              </a:spcBef>
            </a:pPr>
            <a:r>
              <a:rPr lang="en-US" sz="1923" spc="183">
                <a:solidFill>
                  <a:srgbClr val="000000"/>
                </a:solidFill>
                <a:latin typeface="Glacial Indifference"/>
                <a:ea typeface="Glacial Indifference"/>
                <a:cs typeface="Glacial Indifference"/>
                <a:sym typeface="Glacial Indifference"/>
              </a:rPr>
              <a:t> principles to practical decisions</a:t>
            </a:r>
          </a:p>
        </p:txBody>
      </p:sp>
      <p:sp>
        <p:nvSpPr>
          <p:cNvPr id="35" name="TextBox 35"/>
          <p:cNvSpPr txBox="1"/>
          <p:nvPr/>
        </p:nvSpPr>
        <p:spPr>
          <a:xfrm>
            <a:off x="258291" y="7806151"/>
            <a:ext cx="11752492" cy="1685925"/>
          </a:xfrm>
          <a:prstGeom prst="rect">
            <a:avLst/>
          </a:prstGeom>
        </p:spPr>
        <p:txBody>
          <a:bodyPr lIns="0" tIns="0" rIns="0" bIns="0" rtlCol="0" anchor="t">
            <a:spAutoFit/>
          </a:bodyPr>
          <a:lstStyle/>
          <a:p>
            <a:pPr algn="l">
              <a:lnSpc>
                <a:spcPts val="1889"/>
              </a:lnSpc>
            </a:pPr>
            <a:r>
              <a:rPr lang="en-US" sz="1575" spc="149">
                <a:solidFill>
                  <a:srgbClr val="000000"/>
                </a:solidFill>
                <a:latin typeface="Calibri (MS)"/>
                <a:ea typeface="Calibri (MS)"/>
                <a:cs typeface="Calibri (MS)"/>
                <a:sym typeface="Calibri (MS)"/>
              </a:rPr>
              <a:t>source:</a:t>
            </a:r>
          </a:p>
          <a:p>
            <a:pPr algn="l">
              <a:lnSpc>
                <a:spcPts val="1889"/>
              </a:lnSpc>
            </a:pPr>
            <a:r>
              <a:rPr lang="en-US" sz="1575" spc="149">
                <a:solidFill>
                  <a:srgbClr val="000000"/>
                </a:solidFill>
                <a:latin typeface="Calibri (MS)"/>
                <a:ea typeface="Calibri (MS)"/>
                <a:cs typeface="Calibri (MS)"/>
                <a:sym typeface="Calibri (MS)"/>
              </a:rPr>
              <a:t>ADB : https://www.adb.org/results/nepal-earthquake-rehabilitation-builds-back-better-infrastructure</a:t>
            </a:r>
          </a:p>
          <a:p>
            <a:pPr algn="l">
              <a:lnSpc>
                <a:spcPts val="1889"/>
              </a:lnSpc>
            </a:pPr>
            <a:r>
              <a:rPr lang="en-US" sz="1575" spc="149">
                <a:solidFill>
                  <a:srgbClr val="000000"/>
                </a:solidFill>
                <a:latin typeface="Calibri (MS)"/>
                <a:ea typeface="Calibri (MS)"/>
                <a:cs typeface="Calibri (MS)"/>
                <a:sym typeface="Calibri (MS)"/>
              </a:rPr>
              <a:t>world bank : https://www.worldbank.org/en/news/press-release/2024/11/21/nepal-government-world-bank-launch-us-128-million-project-to-improve-provincial-and-local-roads</a:t>
            </a:r>
          </a:p>
          <a:p>
            <a:pPr algn="l">
              <a:lnSpc>
                <a:spcPts val="1889"/>
              </a:lnSpc>
            </a:pPr>
            <a:r>
              <a:rPr lang="en-US" sz="1575" spc="149">
                <a:solidFill>
                  <a:srgbClr val="000000"/>
                </a:solidFill>
                <a:latin typeface="Calibri (MS)"/>
                <a:ea typeface="Calibri (MS)"/>
                <a:cs typeface="Calibri (MS)"/>
                <a:sym typeface="Calibri (MS)"/>
              </a:rPr>
              <a:t>UNDRR : https://www.undrr.org/publication/words-action-guidelines-build-back-better-recovery-rehabilitation-and-reconstruction</a:t>
            </a:r>
          </a:p>
          <a:p>
            <a:pPr algn="l">
              <a:lnSpc>
                <a:spcPts val="1889"/>
              </a:lnSpc>
              <a:spcBef>
                <a:spcPct val="0"/>
              </a:spcBef>
            </a:pPr>
            <a:r>
              <a:rPr lang="en-US" sz="1575" spc="150">
                <a:solidFill>
                  <a:srgbClr val="000000"/>
                </a:solidFill>
                <a:latin typeface="Calibri (MS)"/>
                <a:ea typeface="Calibri (MS)"/>
                <a:cs typeface="Calibri (MS)"/>
                <a:sym typeface="Calibri (MS)"/>
              </a:rPr>
              <a:t>imaes generated by chatgpt</a:t>
            </a:r>
          </a:p>
        </p:txBody>
      </p:sp>
      <p:sp>
        <p:nvSpPr>
          <p:cNvPr id="36" name="TextBox 36"/>
          <p:cNvSpPr txBox="1"/>
          <p:nvPr/>
        </p:nvSpPr>
        <p:spPr>
          <a:xfrm>
            <a:off x="12010783" y="8252168"/>
            <a:ext cx="5695519" cy="910374"/>
          </a:xfrm>
          <a:prstGeom prst="rect">
            <a:avLst/>
          </a:prstGeom>
        </p:spPr>
        <p:txBody>
          <a:bodyPr lIns="0" tIns="0" rIns="0" bIns="0" rtlCol="0" anchor="t">
            <a:spAutoFit/>
          </a:bodyPr>
          <a:lstStyle/>
          <a:p>
            <a:pPr marL="0" lvl="0" indent="0" algn="ctr">
              <a:lnSpc>
                <a:spcPts val="2301"/>
              </a:lnSpc>
              <a:spcBef>
                <a:spcPct val="0"/>
              </a:spcBef>
            </a:pPr>
            <a:r>
              <a:rPr lang="en-US" sz="1917" i="1" spc="182">
                <a:solidFill>
                  <a:srgbClr val="000000"/>
                </a:solidFill>
                <a:latin typeface="Calibri (MS) Italics"/>
                <a:ea typeface="Calibri (MS) Italics"/>
                <a:cs typeface="Calibri (MS) Italics"/>
                <a:sym typeface="Calibri (MS) Italics"/>
              </a:rPr>
              <a:t>“</a:t>
            </a:r>
            <a:r>
              <a:rPr lang="en-US" sz="1917" i="1" u="none" strike="noStrike" spc="182">
                <a:solidFill>
                  <a:srgbClr val="000000"/>
                </a:solidFill>
                <a:latin typeface="Calibri (MS) Italics"/>
                <a:ea typeface="Calibri (MS) Italics"/>
                <a:cs typeface="Calibri (MS) Italics"/>
                <a:sym typeface="Calibri (MS) Italics"/>
              </a:rPr>
              <a:t>Building on what already exists, we want to explore the next step - from resilience principles to practical, asset - level decisions”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360159" y="47291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583920" y="57607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5002054" y="363038"/>
            <a:ext cx="11247120" cy="1234440"/>
            <a:chOff x="0" y="0"/>
            <a:chExt cx="14996160" cy="1645920"/>
          </a:xfrm>
        </p:grpSpPr>
        <p:sp>
          <p:nvSpPr>
            <p:cNvPr id="14" name="Freeform 14"/>
            <p:cNvSpPr/>
            <p:nvPr/>
          </p:nvSpPr>
          <p:spPr>
            <a:xfrm>
              <a:off x="0" y="0"/>
              <a:ext cx="14996161" cy="1645920"/>
            </a:xfrm>
            <a:custGeom>
              <a:avLst/>
              <a:gdLst/>
              <a:ahLst/>
              <a:cxnLst/>
              <a:rect l="l" t="t" r="r" b="b"/>
              <a:pathLst>
                <a:path w="14996161" h="1645920">
                  <a:moveTo>
                    <a:pt x="0" y="0"/>
                  </a:moveTo>
                  <a:lnTo>
                    <a:pt x="14996161" y="0"/>
                  </a:lnTo>
                  <a:lnTo>
                    <a:pt x="14996161" y="1645920"/>
                  </a:lnTo>
                  <a:lnTo>
                    <a:pt x="0" y="1645920"/>
                  </a:lnTo>
                  <a:close/>
                </a:path>
              </a:pathLst>
            </a:custGeom>
            <a:blipFill>
              <a:blip r:embed="rId3">
                <a:alphaModFix amt="0"/>
              </a:blip>
              <a:stretch>
                <a:fillRect t="-127530" b="-127530"/>
              </a:stretch>
            </a:blipFill>
          </p:spPr>
        </p:sp>
        <p:sp>
          <p:nvSpPr>
            <p:cNvPr id="15" name="TextBox 15"/>
            <p:cNvSpPr txBox="1"/>
            <p:nvPr/>
          </p:nvSpPr>
          <p:spPr>
            <a:xfrm>
              <a:off x="0" y="-19050"/>
              <a:ext cx="14996160" cy="1664970"/>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PROBLEM INSIGHTS &amp; OPPORTUNITY AREAS</a:t>
              </a:r>
            </a:p>
          </p:txBody>
        </p:sp>
      </p:grpSp>
      <p:grpSp>
        <p:nvGrpSpPr>
          <p:cNvPr id="16" name="Group 16"/>
          <p:cNvGrpSpPr/>
          <p:nvPr/>
        </p:nvGrpSpPr>
        <p:grpSpPr>
          <a:xfrm>
            <a:off x="678656" y="472916"/>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898112" y="678656"/>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1104138" y="82296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2057400" y="576072"/>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7</a:t>
              </a:r>
            </a:p>
          </p:txBody>
        </p:sp>
      </p:grpSp>
      <p:grpSp>
        <p:nvGrpSpPr>
          <p:cNvPr id="28" name="Group 28"/>
          <p:cNvGrpSpPr/>
          <p:nvPr/>
        </p:nvGrpSpPr>
        <p:grpSpPr>
          <a:xfrm>
            <a:off x="6567730" y="2197553"/>
            <a:ext cx="2232325" cy="2232325"/>
            <a:chOff x="0" y="0"/>
            <a:chExt cx="558800" cy="558800"/>
          </a:xfrm>
        </p:grpSpPr>
        <p:sp>
          <p:nvSpPr>
            <p:cNvPr id="29" name="Freeform 29"/>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254D4B"/>
            </a:solidFill>
          </p:spPr>
        </p:sp>
        <p:sp>
          <p:nvSpPr>
            <p:cNvPr id="30" name="TextBox 30"/>
            <p:cNvSpPr txBox="1"/>
            <p:nvPr/>
          </p:nvSpPr>
          <p:spPr>
            <a:xfrm>
              <a:off x="127000" y="107950"/>
              <a:ext cx="304800" cy="323850"/>
            </a:xfrm>
            <a:prstGeom prst="rect">
              <a:avLst/>
            </a:prstGeom>
          </p:spPr>
          <p:txBody>
            <a:bodyPr lIns="50800" tIns="50800" rIns="50800" bIns="50800" rtlCol="0" anchor="ctr"/>
            <a:lstStyle/>
            <a:p>
              <a:pPr algn="ctr">
                <a:lnSpc>
                  <a:spcPts val="1889"/>
                </a:lnSpc>
              </a:pPr>
              <a:endParaRPr/>
            </a:p>
          </p:txBody>
        </p:sp>
      </p:grpSp>
      <p:grpSp>
        <p:nvGrpSpPr>
          <p:cNvPr id="31" name="Group 31"/>
          <p:cNvGrpSpPr/>
          <p:nvPr/>
        </p:nvGrpSpPr>
        <p:grpSpPr>
          <a:xfrm rot="-10800000">
            <a:off x="6585240" y="4918628"/>
            <a:ext cx="4808595" cy="2094748"/>
            <a:chOff x="0" y="0"/>
            <a:chExt cx="757990" cy="330200"/>
          </a:xfrm>
        </p:grpSpPr>
        <p:sp>
          <p:nvSpPr>
            <p:cNvPr id="32" name="Freeform 32"/>
            <p:cNvSpPr/>
            <p:nvPr/>
          </p:nvSpPr>
          <p:spPr>
            <a:xfrm>
              <a:off x="0" y="0"/>
              <a:ext cx="757990" cy="330200"/>
            </a:xfrm>
            <a:custGeom>
              <a:avLst/>
              <a:gdLst/>
              <a:ahLst/>
              <a:cxnLst/>
              <a:rect l="l" t="t" r="r" b="b"/>
              <a:pathLst>
                <a:path w="757990" h="330200">
                  <a:moveTo>
                    <a:pt x="757990" y="330200"/>
                  </a:moveTo>
                  <a:cubicBezTo>
                    <a:pt x="757990" y="150345"/>
                    <a:pt x="585428" y="0"/>
                    <a:pt x="378995" y="0"/>
                  </a:cubicBezTo>
                  <a:cubicBezTo>
                    <a:pt x="172562" y="0"/>
                    <a:pt x="0" y="150345"/>
                    <a:pt x="0" y="330200"/>
                  </a:cubicBezTo>
                  <a:lnTo>
                    <a:pt x="210441" y="330200"/>
                  </a:lnTo>
                  <a:cubicBezTo>
                    <a:pt x="210441" y="250212"/>
                    <a:pt x="287186" y="183347"/>
                    <a:pt x="378995" y="183347"/>
                  </a:cubicBezTo>
                  <a:cubicBezTo>
                    <a:pt x="470804" y="183347"/>
                    <a:pt x="547549" y="250212"/>
                    <a:pt x="547549" y="330200"/>
                  </a:cubicBezTo>
                  <a:lnTo>
                    <a:pt x="757990" y="330200"/>
                  </a:lnTo>
                  <a:close/>
                </a:path>
              </a:pathLst>
            </a:custGeom>
            <a:solidFill>
              <a:srgbClr val="254D4B"/>
            </a:solidFill>
          </p:spPr>
        </p:sp>
        <p:sp>
          <p:nvSpPr>
            <p:cNvPr id="33" name="TextBox 33"/>
            <p:cNvSpPr txBox="1"/>
            <p:nvPr/>
          </p:nvSpPr>
          <p:spPr>
            <a:xfrm>
              <a:off x="145767" y="25400"/>
              <a:ext cx="466455" cy="165100"/>
            </a:xfrm>
            <a:prstGeom prst="rect">
              <a:avLst/>
            </a:prstGeom>
          </p:spPr>
          <p:txBody>
            <a:bodyPr lIns="50800" tIns="50800" rIns="50800" bIns="50800" rtlCol="0" anchor="ctr"/>
            <a:lstStyle/>
            <a:p>
              <a:pPr algn="ctr">
                <a:lnSpc>
                  <a:spcPts val="1889"/>
                </a:lnSpc>
              </a:pPr>
              <a:endParaRPr/>
            </a:p>
          </p:txBody>
        </p:sp>
      </p:grpSp>
      <p:grpSp>
        <p:nvGrpSpPr>
          <p:cNvPr id="34" name="Group 34"/>
          <p:cNvGrpSpPr/>
          <p:nvPr/>
        </p:nvGrpSpPr>
        <p:grpSpPr>
          <a:xfrm rot="5400000">
            <a:off x="9175583" y="2228406"/>
            <a:ext cx="2232325" cy="2232325"/>
            <a:chOff x="0" y="0"/>
            <a:chExt cx="558800" cy="558800"/>
          </a:xfrm>
        </p:grpSpPr>
        <p:sp>
          <p:nvSpPr>
            <p:cNvPr id="35" name="Freeform 35"/>
            <p:cNvSpPr/>
            <p:nvPr/>
          </p:nvSpPr>
          <p:spPr>
            <a:xfrm>
              <a:off x="0" y="0"/>
              <a:ext cx="558800" cy="558800"/>
            </a:xfrm>
            <a:custGeom>
              <a:avLst/>
              <a:gdLst/>
              <a:ahLst/>
              <a:cxnLst/>
              <a:rect l="l" t="t" r="r" b="b"/>
              <a:pathLst>
                <a:path w="558800" h="558800">
                  <a:moveTo>
                    <a:pt x="0" y="558800"/>
                  </a:moveTo>
                  <a:cubicBezTo>
                    <a:pt x="0" y="411634"/>
                    <a:pt x="59606" y="267731"/>
                    <a:pt x="163669" y="163669"/>
                  </a:cubicBezTo>
                  <a:cubicBezTo>
                    <a:pt x="267731" y="59606"/>
                    <a:pt x="411634" y="0"/>
                    <a:pt x="558800" y="0"/>
                  </a:cubicBezTo>
                  <a:lnTo>
                    <a:pt x="558800" y="285081"/>
                  </a:lnTo>
                  <a:cubicBezTo>
                    <a:pt x="486712" y="285081"/>
                    <a:pt x="416225" y="314278"/>
                    <a:pt x="365251" y="365251"/>
                  </a:cubicBezTo>
                  <a:cubicBezTo>
                    <a:pt x="314278" y="416225"/>
                    <a:pt x="285081" y="486712"/>
                    <a:pt x="285081" y="558800"/>
                  </a:cubicBezTo>
                  <a:lnTo>
                    <a:pt x="0" y="558800"/>
                  </a:lnTo>
                  <a:close/>
                </a:path>
              </a:pathLst>
            </a:custGeom>
            <a:solidFill>
              <a:srgbClr val="254D4B"/>
            </a:solidFill>
          </p:spPr>
        </p:sp>
        <p:sp>
          <p:nvSpPr>
            <p:cNvPr id="36" name="TextBox 36"/>
            <p:cNvSpPr txBox="1"/>
            <p:nvPr/>
          </p:nvSpPr>
          <p:spPr>
            <a:xfrm>
              <a:off x="127000" y="107950"/>
              <a:ext cx="304800" cy="323850"/>
            </a:xfrm>
            <a:prstGeom prst="rect">
              <a:avLst/>
            </a:prstGeom>
          </p:spPr>
          <p:txBody>
            <a:bodyPr lIns="50800" tIns="50800" rIns="50800" bIns="50800" rtlCol="0" anchor="ctr"/>
            <a:lstStyle/>
            <a:p>
              <a:pPr algn="ctr">
                <a:lnSpc>
                  <a:spcPts val="1889"/>
                </a:lnSpc>
              </a:pPr>
              <a:endParaRPr/>
            </a:p>
          </p:txBody>
        </p:sp>
      </p:grpSp>
      <p:grpSp>
        <p:nvGrpSpPr>
          <p:cNvPr id="37" name="Group 37"/>
          <p:cNvGrpSpPr/>
          <p:nvPr/>
        </p:nvGrpSpPr>
        <p:grpSpPr>
          <a:xfrm rot="5400000">
            <a:off x="3136003" y="-27119"/>
            <a:ext cx="585995" cy="5790875"/>
            <a:chOff x="0" y="0"/>
            <a:chExt cx="154336" cy="1525169"/>
          </a:xfrm>
        </p:grpSpPr>
        <p:sp>
          <p:nvSpPr>
            <p:cNvPr id="38" name="Freeform 38"/>
            <p:cNvSpPr/>
            <p:nvPr/>
          </p:nvSpPr>
          <p:spPr>
            <a:xfrm>
              <a:off x="0" y="0"/>
              <a:ext cx="154336" cy="1525169"/>
            </a:xfrm>
            <a:custGeom>
              <a:avLst/>
              <a:gdLst/>
              <a:ahLst/>
              <a:cxnLst/>
              <a:rect l="l" t="t" r="r" b="b"/>
              <a:pathLst>
                <a:path w="154336" h="1525169">
                  <a:moveTo>
                    <a:pt x="77168" y="0"/>
                  </a:moveTo>
                  <a:lnTo>
                    <a:pt x="77168" y="0"/>
                  </a:lnTo>
                  <a:cubicBezTo>
                    <a:pt x="119787" y="0"/>
                    <a:pt x="154336" y="34549"/>
                    <a:pt x="154336" y="77168"/>
                  </a:cubicBezTo>
                  <a:lnTo>
                    <a:pt x="154336" y="1448001"/>
                  </a:lnTo>
                  <a:cubicBezTo>
                    <a:pt x="154336" y="1490619"/>
                    <a:pt x="119787" y="1525169"/>
                    <a:pt x="77168" y="1525169"/>
                  </a:cubicBezTo>
                  <a:lnTo>
                    <a:pt x="77168" y="1525169"/>
                  </a:lnTo>
                  <a:cubicBezTo>
                    <a:pt x="34549" y="1525169"/>
                    <a:pt x="0" y="1490619"/>
                    <a:pt x="0" y="1448001"/>
                  </a:cubicBezTo>
                  <a:lnTo>
                    <a:pt x="0" y="77168"/>
                  </a:lnTo>
                  <a:cubicBezTo>
                    <a:pt x="0" y="34549"/>
                    <a:pt x="34549" y="0"/>
                    <a:pt x="77168" y="0"/>
                  </a:cubicBezTo>
                  <a:close/>
                </a:path>
              </a:pathLst>
            </a:custGeom>
            <a:solidFill>
              <a:srgbClr val="254D4B"/>
            </a:solidFill>
          </p:spPr>
        </p:sp>
        <p:sp>
          <p:nvSpPr>
            <p:cNvPr id="39" name="TextBox 39"/>
            <p:cNvSpPr txBox="1"/>
            <p:nvPr/>
          </p:nvSpPr>
          <p:spPr>
            <a:xfrm>
              <a:off x="0" y="-19050"/>
              <a:ext cx="154336" cy="1544219"/>
            </a:xfrm>
            <a:prstGeom prst="rect">
              <a:avLst/>
            </a:prstGeom>
          </p:spPr>
          <p:txBody>
            <a:bodyPr lIns="50800" tIns="50800" rIns="50800" bIns="50800" rtlCol="0" anchor="ctr"/>
            <a:lstStyle/>
            <a:p>
              <a:pPr algn="ctr">
                <a:lnSpc>
                  <a:spcPts val="1889"/>
                </a:lnSpc>
              </a:pPr>
              <a:endParaRPr/>
            </a:p>
          </p:txBody>
        </p:sp>
      </p:grpSp>
      <p:grpSp>
        <p:nvGrpSpPr>
          <p:cNvPr id="40" name="Group 40"/>
          <p:cNvGrpSpPr/>
          <p:nvPr/>
        </p:nvGrpSpPr>
        <p:grpSpPr>
          <a:xfrm rot="5400000">
            <a:off x="3281097" y="3930385"/>
            <a:ext cx="585995" cy="5790875"/>
            <a:chOff x="0" y="0"/>
            <a:chExt cx="154336" cy="1525169"/>
          </a:xfrm>
        </p:grpSpPr>
        <p:sp>
          <p:nvSpPr>
            <p:cNvPr id="41" name="Freeform 41"/>
            <p:cNvSpPr/>
            <p:nvPr/>
          </p:nvSpPr>
          <p:spPr>
            <a:xfrm>
              <a:off x="0" y="0"/>
              <a:ext cx="154336" cy="1525169"/>
            </a:xfrm>
            <a:custGeom>
              <a:avLst/>
              <a:gdLst/>
              <a:ahLst/>
              <a:cxnLst/>
              <a:rect l="l" t="t" r="r" b="b"/>
              <a:pathLst>
                <a:path w="154336" h="1525169">
                  <a:moveTo>
                    <a:pt x="77168" y="0"/>
                  </a:moveTo>
                  <a:lnTo>
                    <a:pt x="77168" y="0"/>
                  </a:lnTo>
                  <a:cubicBezTo>
                    <a:pt x="119787" y="0"/>
                    <a:pt x="154336" y="34549"/>
                    <a:pt x="154336" y="77168"/>
                  </a:cubicBezTo>
                  <a:lnTo>
                    <a:pt x="154336" y="1448001"/>
                  </a:lnTo>
                  <a:cubicBezTo>
                    <a:pt x="154336" y="1490619"/>
                    <a:pt x="119787" y="1525169"/>
                    <a:pt x="77168" y="1525169"/>
                  </a:cubicBezTo>
                  <a:lnTo>
                    <a:pt x="77168" y="1525169"/>
                  </a:lnTo>
                  <a:cubicBezTo>
                    <a:pt x="34549" y="1525169"/>
                    <a:pt x="0" y="1490619"/>
                    <a:pt x="0" y="1448001"/>
                  </a:cubicBezTo>
                  <a:lnTo>
                    <a:pt x="0" y="77168"/>
                  </a:lnTo>
                  <a:cubicBezTo>
                    <a:pt x="0" y="34549"/>
                    <a:pt x="34549" y="0"/>
                    <a:pt x="77168" y="0"/>
                  </a:cubicBezTo>
                  <a:close/>
                </a:path>
              </a:pathLst>
            </a:custGeom>
            <a:solidFill>
              <a:srgbClr val="254D4B"/>
            </a:solidFill>
          </p:spPr>
        </p:sp>
        <p:sp>
          <p:nvSpPr>
            <p:cNvPr id="42" name="TextBox 42"/>
            <p:cNvSpPr txBox="1"/>
            <p:nvPr/>
          </p:nvSpPr>
          <p:spPr>
            <a:xfrm>
              <a:off x="0" y="-19050"/>
              <a:ext cx="154336" cy="1544219"/>
            </a:xfrm>
            <a:prstGeom prst="rect">
              <a:avLst/>
            </a:prstGeom>
          </p:spPr>
          <p:txBody>
            <a:bodyPr lIns="50800" tIns="50800" rIns="50800" bIns="50800" rtlCol="0" anchor="ctr"/>
            <a:lstStyle/>
            <a:p>
              <a:pPr algn="ctr">
                <a:lnSpc>
                  <a:spcPts val="1889"/>
                </a:lnSpc>
              </a:pPr>
              <a:endParaRPr/>
            </a:p>
          </p:txBody>
        </p:sp>
      </p:grpSp>
      <p:grpSp>
        <p:nvGrpSpPr>
          <p:cNvPr id="43" name="Group 43"/>
          <p:cNvGrpSpPr/>
          <p:nvPr/>
        </p:nvGrpSpPr>
        <p:grpSpPr>
          <a:xfrm rot="5400000">
            <a:off x="14420451" y="-27119"/>
            <a:ext cx="585995" cy="5790875"/>
            <a:chOff x="0" y="0"/>
            <a:chExt cx="154336" cy="1525169"/>
          </a:xfrm>
        </p:grpSpPr>
        <p:sp>
          <p:nvSpPr>
            <p:cNvPr id="44" name="Freeform 44"/>
            <p:cNvSpPr/>
            <p:nvPr/>
          </p:nvSpPr>
          <p:spPr>
            <a:xfrm>
              <a:off x="0" y="0"/>
              <a:ext cx="154336" cy="1525169"/>
            </a:xfrm>
            <a:custGeom>
              <a:avLst/>
              <a:gdLst/>
              <a:ahLst/>
              <a:cxnLst/>
              <a:rect l="l" t="t" r="r" b="b"/>
              <a:pathLst>
                <a:path w="154336" h="1525169">
                  <a:moveTo>
                    <a:pt x="77168" y="0"/>
                  </a:moveTo>
                  <a:lnTo>
                    <a:pt x="77168" y="0"/>
                  </a:lnTo>
                  <a:cubicBezTo>
                    <a:pt x="119787" y="0"/>
                    <a:pt x="154336" y="34549"/>
                    <a:pt x="154336" y="77168"/>
                  </a:cubicBezTo>
                  <a:lnTo>
                    <a:pt x="154336" y="1448001"/>
                  </a:lnTo>
                  <a:cubicBezTo>
                    <a:pt x="154336" y="1490619"/>
                    <a:pt x="119787" y="1525169"/>
                    <a:pt x="77168" y="1525169"/>
                  </a:cubicBezTo>
                  <a:lnTo>
                    <a:pt x="77168" y="1525169"/>
                  </a:lnTo>
                  <a:cubicBezTo>
                    <a:pt x="34549" y="1525169"/>
                    <a:pt x="0" y="1490619"/>
                    <a:pt x="0" y="1448001"/>
                  </a:cubicBezTo>
                  <a:lnTo>
                    <a:pt x="0" y="77168"/>
                  </a:lnTo>
                  <a:cubicBezTo>
                    <a:pt x="0" y="34549"/>
                    <a:pt x="34549" y="0"/>
                    <a:pt x="77168" y="0"/>
                  </a:cubicBezTo>
                  <a:close/>
                </a:path>
              </a:pathLst>
            </a:custGeom>
            <a:solidFill>
              <a:srgbClr val="254D4B"/>
            </a:solidFill>
          </p:spPr>
        </p:sp>
        <p:sp>
          <p:nvSpPr>
            <p:cNvPr id="45" name="TextBox 45"/>
            <p:cNvSpPr txBox="1"/>
            <p:nvPr/>
          </p:nvSpPr>
          <p:spPr>
            <a:xfrm>
              <a:off x="0" y="-19050"/>
              <a:ext cx="154336" cy="1544219"/>
            </a:xfrm>
            <a:prstGeom prst="rect">
              <a:avLst/>
            </a:prstGeom>
          </p:spPr>
          <p:txBody>
            <a:bodyPr lIns="50800" tIns="50800" rIns="50800" bIns="50800" rtlCol="0" anchor="ctr"/>
            <a:lstStyle/>
            <a:p>
              <a:pPr algn="ctr">
                <a:lnSpc>
                  <a:spcPts val="1889"/>
                </a:lnSpc>
              </a:pPr>
              <a:endParaRPr/>
            </a:p>
          </p:txBody>
        </p:sp>
      </p:grpSp>
      <p:grpSp>
        <p:nvGrpSpPr>
          <p:cNvPr id="46" name="Group 46"/>
          <p:cNvGrpSpPr/>
          <p:nvPr/>
        </p:nvGrpSpPr>
        <p:grpSpPr>
          <a:xfrm rot="5400000">
            <a:off x="2043383" y="1803888"/>
            <a:ext cx="2771233" cy="5790875"/>
            <a:chOff x="0" y="0"/>
            <a:chExt cx="729872" cy="1525169"/>
          </a:xfrm>
        </p:grpSpPr>
        <p:sp>
          <p:nvSpPr>
            <p:cNvPr id="47" name="Freeform 47"/>
            <p:cNvSpPr/>
            <p:nvPr/>
          </p:nvSpPr>
          <p:spPr>
            <a:xfrm>
              <a:off x="0" y="0"/>
              <a:ext cx="729872" cy="1525169"/>
            </a:xfrm>
            <a:custGeom>
              <a:avLst/>
              <a:gdLst/>
              <a:ahLst/>
              <a:cxnLst/>
              <a:rect l="l" t="t" r="r" b="b"/>
              <a:pathLst>
                <a:path w="729872" h="1525169">
                  <a:moveTo>
                    <a:pt x="83810" y="0"/>
                  </a:moveTo>
                  <a:lnTo>
                    <a:pt x="646062" y="0"/>
                  </a:lnTo>
                  <a:cubicBezTo>
                    <a:pt x="668290" y="0"/>
                    <a:pt x="689607" y="8830"/>
                    <a:pt x="705325" y="24547"/>
                  </a:cubicBezTo>
                  <a:cubicBezTo>
                    <a:pt x="721042" y="40265"/>
                    <a:pt x="729872" y="61582"/>
                    <a:pt x="729872" y="83810"/>
                  </a:cubicBezTo>
                  <a:lnTo>
                    <a:pt x="729872" y="1441359"/>
                  </a:lnTo>
                  <a:cubicBezTo>
                    <a:pt x="729872" y="1487646"/>
                    <a:pt x="692349" y="1525169"/>
                    <a:pt x="646062" y="1525169"/>
                  </a:cubicBezTo>
                  <a:lnTo>
                    <a:pt x="83810" y="1525169"/>
                  </a:lnTo>
                  <a:cubicBezTo>
                    <a:pt x="37523" y="1525169"/>
                    <a:pt x="0" y="1487646"/>
                    <a:pt x="0" y="1441359"/>
                  </a:cubicBezTo>
                  <a:lnTo>
                    <a:pt x="0" y="83810"/>
                  </a:lnTo>
                  <a:cubicBezTo>
                    <a:pt x="0" y="37523"/>
                    <a:pt x="37523" y="0"/>
                    <a:pt x="83810" y="0"/>
                  </a:cubicBezTo>
                  <a:close/>
                </a:path>
              </a:pathLst>
            </a:custGeom>
            <a:solidFill>
              <a:srgbClr val="FBF2CC"/>
            </a:solidFill>
          </p:spPr>
        </p:sp>
        <p:sp>
          <p:nvSpPr>
            <p:cNvPr id="48" name="TextBox 48"/>
            <p:cNvSpPr txBox="1"/>
            <p:nvPr/>
          </p:nvSpPr>
          <p:spPr>
            <a:xfrm>
              <a:off x="0" y="-19050"/>
              <a:ext cx="729872" cy="1544219"/>
            </a:xfrm>
            <a:prstGeom prst="rect">
              <a:avLst/>
            </a:prstGeom>
          </p:spPr>
          <p:txBody>
            <a:bodyPr lIns="50800" tIns="50800" rIns="50800" bIns="50800" rtlCol="0" anchor="ctr"/>
            <a:lstStyle/>
            <a:p>
              <a:pPr algn="ctr">
                <a:lnSpc>
                  <a:spcPts val="1889"/>
                </a:lnSpc>
              </a:pPr>
              <a:endParaRPr/>
            </a:p>
          </p:txBody>
        </p:sp>
      </p:grpSp>
      <p:grpSp>
        <p:nvGrpSpPr>
          <p:cNvPr id="49" name="Group 49"/>
          <p:cNvGrpSpPr/>
          <p:nvPr/>
        </p:nvGrpSpPr>
        <p:grpSpPr>
          <a:xfrm rot="5400000">
            <a:off x="7068792" y="777478"/>
            <a:ext cx="1796084" cy="14721448"/>
            <a:chOff x="0" y="0"/>
            <a:chExt cx="473043" cy="3877254"/>
          </a:xfrm>
        </p:grpSpPr>
        <p:sp>
          <p:nvSpPr>
            <p:cNvPr id="50" name="Freeform 50"/>
            <p:cNvSpPr/>
            <p:nvPr/>
          </p:nvSpPr>
          <p:spPr>
            <a:xfrm>
              <a:off x="0" y="0"/>
              <a:ext cx="473043" cy="3877254"/>
            </a:xfrm>
            <a:custGeom>
              <a:avLst/>
              <a:gdLst/>
              <a:ahLst/>
              <a:cxnLst/>
              <a:rect l="l" t="t" r="r" b="b"/>
              <a:pathLst>
                <a:path w="473043" h="3877254">
                  <a:moveTo>
                    <a:pt x="129313" y="0"/>
                  </a:moveTo>
                  <a:lnTo>
                    <a:pt x="343729" y="0"/>
                  </a:lnTo>
                  <a:cubicBezTo>
                    <a:pt x="415147" y="0"/>
                    <a:pt x="473043" y="57896"/>
                    <a:pt x="473043" y="129313"/>
                  </a:cubicBezTo>
                  <a:lnTo>
                    <a:pt x="473043" y="3747941"/>
                  </a:lnTo>
                  <a:cubicBezTo>
                    <a:pt x="473043" y="3819358"/>
                    <a:pt x="415147" y="3877254"/>
                    <a:pt x="343729" y="3877254"/>
                  </a:cubicBezTo>
                  <a:lnTo>
                    <a:pt x="129313" y="3877254"/>
                  </a:lnTo>
                  <a:cubicBezTo>
                    <a:pt x="57896" y="3877254"/>
                    <a:pt x="0" y="3819358"/>
                    <a:pt x="0" y="3747941"/>
                  </a:cubicBezTo>
                  <a:lnTo>
                    <a:pt x="0" y="129313"/>
                  </a:lnTo>
                  <a:cubicBezTo>
                    <a:pt x="0" y="57896"/>
                    <a:pt x="57896" y="0"/>
                    <a:pt x="129313" y="0"/>
                  </a:cubicBezTo>
                  <a:close/>
                </a:path>
              </a:pathLst>
            </a:custGeom>
            <a:solidFill>
              <a:srgbClr val="FBF2CC"/>
            </a:solidFill>
          </p:spPr>
        </p:sp>
        <p:sp>
          <p:nvSpPr>
            <p:cNvPr id="51" name="TextBox 51"/>
            <p:cNvSpPr txBox="1"/>
            <p:nvPr/>
          </p:nvSpPr>
          <p:spPr>
            <a:xfrm>
              <a:off x="0" y="-19050"/>
              <a:ext cx="473043" cy="3896304"/>
            </a:xfrm>
            <a:prstGeom prst="rect">
              <a:avLst/>
            </a:prstGeom>
          </p:spPr>
          <p:txBody>
            <a:bodyPr lIns="50800" tIns="50800" rIns="50800" bIns="50800" rtlCol="0" anchor="ctr"/>
            <a:lstStyle/>
            <a:p>
              <a:pPr algn="ctr">
                <a:lnSpc>
                  <a:spcPts val="1889"/>
                </a:lnSpc>
              </a:pPr>
              <a:endParaRPr/>
            </a:p>
          </p:txBody>
        </p:sp>
      </p:grpSp>
      <p:grpSp>
        <p:nvGrpSpPr>
          <p:cNvPr id="52" name="Group 52"/>
          <p:cNvGrpSpPr/>
          <p:nvPr/>
        </p:nvGrpSpPr>
        <p:grpSpPr>
          <a:xfrm rot="5400000">
            <a:off x="13693819" y="1403326"/>
            <a:ext cx="1970108" cy="5790875"/>
            <a:chOff x="0" y="0"/>
            <a:chExt cx="518876" cy="1525169"/>
          </a:xfrm>
        </p:grpSpPr>
        <p:sp>
          <p:nvSpPr>
            <p:cNvPr id="53" name="Freeform 53"/>
            <p:cNvSpPr/>
            <p:nvPr/>
          </p:nvSpPr>
          <p:spPr>
            <a:xfrm>
              <a:off x="0" y="0"/>
              <a:ext cx="518876" cy="1525169"/>
            </a:xfrm>
            <a:custGeom>
              <a:avLst/>
              <a:gdLst/>
              <a:ahLst/>
              <a:cxnLst/>
              <a:rect l="l" t="t" r="r" b="b"/>
              <a:pathLst>
                <a:path w="518876" h="1525169">
                  <a:moveTo>
                    <a:pt x="117891" y="0"/>
                  </a:moveTo>
                  <a:lnTo>
                    <a:pt x="400986" y="0"/>
                  </a:lnTo>
                  <a:cubicBezTo>
                    <a:pt x="432252" y="0"/>
                    <a:pt x="462238" y="12421"/>
                    <a:pt x="484347" y="34529"/>
                  </a:cubicBezTo>
                  <a:cubicBezTo>
                    <a:pt x="506456" y="56638"/>
                    <a:pt x="518876" y="86624"/>
                    <a:pt x="518876" y="117891"/>
                  </a:cubicBezTo>
                  <a:lnTo>
                    <a:pt x="518876" y="1407278"/>
                  </a:lnTo>
                  <a:cubicBezTo>
                    <a:pt x="518876" y="1438545"/>
                    <a:pt x="506456" y="1468531"/>
                    <a:pt x="484347" y="1490639"/>
                  </a:cubicBezTo>
                  <a:cubicBezTo>
                    <a:pt x="462238" y="1512748"/>
                    <a:pt x="432252" y="1525169"/>
                    <a:pt x="400986" y="1525169"/>
                  </a:cubicBezTo>
                  <a:lnTo>
                    <a:pt x="117891" y="1525169"/>
                  </a:lnTo>
                  <a:cubicBezTo>
                    <a:pt x="86624" y="1525169"/>
                    <a:pt x="56638" y="1512748"/>
                    <a:pt x="34529" y="1490639"/>
                  </a:cubicBezTo>
                  <a:cubicBezTo>
                    <a:pt x="12421" y="1468531"/>
                    <a:pt x="0" y="1438545"/>
                    <a:pt x="0" y="1407278"/>
                  </a:cubicBezTo>
                  <a:lnTo>
                    <a:pt x="0" y="117891"/>
                  </a:lnTo>
                  <a:cubicBezTo>
                    <a:pt x="0" y="86624"/>
                    <a:pt x="12421" y="56638"/>
                    <a:pt x="34529" y="34529"/>
                  </a:cubicBezTo>
                  <a:cubicBezTo>
                    <a:pt x="56638" y="12421"/>
                    <a:pt x="86624" y="0"/>
                    <a:pt x="117891" y="0"/>
                  </a:cubicBezTo>
                  <a:close/>
                </a:path>
              </a:pathLst>
            </a:custGeom>
            <a:solidFill>
              <a:srgbClr val="FBF2CC"/>
            </a:solidFill>
          </p:spPr>
        </p:sp>
        <p:sp>
          <p:nvSpPr>
            <p:cNvPr id="54" name="TextBox 54"/>
            <p:cNvSpPr txBox="1"/>
            <p:nvPr/>
          </p:nvSpPr>
          <p:spPr>
            <a:xfrm>
              <a:off x="0" y="-19050"/>
              <a:ext cx="518876" cy="1544219"/>
            </a:xfrm>
            <a:prstGeom prst="rect">
              <a:avLst/>
            </a:prstGeom>
          </p:spPr>
          <p:txBody>
            <a:bodyPr lIns="50800" tIns="50800" rIns="50800" bIns="50800" rtlCol="0" anchor="ctr"/>
            <a:lstStyle/>
            <a:p>
              <a:pPr algn="ctr">
                <a:lnSpc>
                  <a:spcPts val="1889"/>
                </a:lnSpc>
              </a:pPr>
              <a:endParaRPr/>
            </a:p>
          </p:txBody>
        </p:sp>
      </p:grpSp>
      <p:sp>
        <p:nvSpPr>
          <p:cNvPr id="55" name="AutoShape 55"/>
          <p:cNvSpPr/>
          <p:nvPr/>
        </p:nvSpPr>
        <p:spPr>
          <a:xfrm>
            <a:off x="6775248" y="7480977"/>
            <a:ext cx="0" cy="1183205"/>
          </a:xfrm>
          <a:prstGeom prst="line">
            <a:avLst/>
          </a:prstGeom>
          <a:ln w="38100" cap="flat">
            <a:solidFill>
              <a:srgbClr val="254D4B"/>
            </a:solidFill>
            <a:prstDash val="solid"/>
            <a:headEnd type="oval" w="lg" len="lg"/>
            <a:tailEnd type="oval" w="lg" len="lg"/>
          </a:ln>
        </p:spPr>
      </p:sp>
      <p:sp>
        <p:nvSpPr>
          <p:cNvPr id="56" name="Freeform 56"/>
          <p:cNvSpPr/>
          <p:nvPr/>
        </p:nvSpPr>
        <p:spPr>
          <a:xfrm>
            <a:off x="7006846" y="3581125"/>
            <a:ext cx="570576" cy="570576"/>
          </a:xfrm>
          <a:custGeom>
            <a:avLst/>
            <a:gdLst/>
            <a:ahLst/>
            <a:cxnLst/>
            <a:rect l="l" t="t" r="r" b="b"/>
            <a:pathLst>
              <a:path w="570576" h="570576">
                <a:moveTo>
                  <a:pt x="0" y="0"/>
                </a:moveTo>
                <a:lnTo>
                  <a:pt x="570576" y="0"/>
                </a:lnTo>
                <a:lnTo>
                  <a:pt x="570576" y="570576"/>
                </a:lnTo>
                <a:lnTo>
                  <a:pt x="0" y="570576"/>
                </a:lnTo>
                <a:lnTo>
                  <a:pt x="0" y="0"/>
                </a:lnTo>
                <a:close/>
              </a:path>
            </a:pathLst>
          </a:custGeom>
          <a:blipFill>
            <a:blip r:embed="rId5"/>
            <a:stretch>
              <a:fillRect/>
            </a:stretch>
          </a:blipFill>
        </p:spPr>
      </p:sp>
      <p:sp>
        <p:nvSpPr>
          <p:cNvPr id="57" name="Freeform 57"/>
          <p:cNvSpPr/>
          <p:nvPr/>
        </p:nvSpPr>
        <p:spPr>
          <a:xfrm>
            <a:off x="8680386" y="5630245"/>
            <a:ext cx="583285" cy="583285"/>
          </a:xfrm>
          <a:custGeom>
            <a:avLst/>
            <a:gdLst/>
            <a:ahLst/>
            <a:cxnLst/>
            <a:rect l="l" t="t" r="r" b="b"/>
            <a:pathLst>
              <a:path w="583285" h="583285">
                <a:moveTo>
                  <a:pt x="0" y="0"/>
                </a:moveTo>
                <a:lnTo>
                  <a:pt x="583284" y="0"/>
                </a:lnTo>
                <a:lnTo>
                  <a:pt x="583284" y="583285"/>
                </a:lnTo>
                <a:lnTo>
                  <a:pt x="0" y="583285"/>
                </a:lnTo>
                <a:lnTo>
                  <a:pt x="0" y="0"/>
                </a:lnTo>
                <a:close/>
              </a:path>
            </a:pathLst>
          </a:custGeom>
          <a:blipFill>
            <a:blip r:embed="rId6"/>
            <a:stretch>
              <a:fillRect/>
            </a:stretch>
          </a:blipFill>
        </p:spPr>
      </p:sp>
      <p:sp>
        <p:nvSpPr>
          <p:cNvPr id="58" name="Freeform 58"/>
          <p:cNvSpPr/>
          <p:nvPr/>
        </p:nvSpPr>
        <p:spPr>
          <a:xfrm>
            <a:off x="10406057" y="3581125"/>
            <a:ext cx="565262" cy="565262"/>
          </a:xfrm>
          <a:custGeom>
            <a:avLst/>
            <a:gdLst/>
            <a:ahLst/>
            <a:cxnLst/>
            <a:rect l="l" t="t" r="r" b="b"/>
            <a:pathLst>
              <a:path w="565262" h="565262">
                <a:moveTo>
                  <a:pt x="0" y="0"/>
                </a:moveTo>
                <a:lnTo>
                  <a:pt x="565262" y="0"/>
                </a:lnTo>
                <a:lnTo>
                  <a:pt x="565262" y="565262"/>
                </a:lnTo>
                <a:lnTo>
                  <a:pt x="0" y="565262"/>
                </a:lnTo>
                <a:lnTo>
                  <a:pt x="0" y="0"/>
                </a:lnTo>
                <a:close/>
              </a:path>
            </a:pathLst>
          </a:custGeom>
          <a:blipFill>
            <a:blip r:embed="rId7"/>
            <a:stretch>
              <a:fillRect/>
            </a:stretch>
          </a:blipFill>
        </p:spPr>
      </p:sp>
      <p:sp>
        <p:nvSpPr>
          <p:cNvPr id="59" name="TextBox 59"/>
          <p:cNvSpPr txBox="1"/>
          <p:nvPr/>
        </p:nvSpPr>
        <p:spPr>
          <a:xfrm>
            <a:off x="4228194" y="1368266"/>
            <a:ext cx="12355727" cy="285750"/>
          </a:xfrm>
          <a:prstGeom prst="rect">
            <a:avLst/>
          </a:prstGeom>
        </p:spPr>
        <p:txBody>
          <a:bodyPr lIns="0" tIns="0" rIns="0" bIns="0" rtlCol="0" anchor="t">
            <a:spAutoFit/>
          </a:bodyPr>
          <a:lstStyle/>
          <a:p>
            <a:pPr algn="ctr">
              <a:lnSpc>
                <a:spcPts val="2249"/>
              </a:lnSpc>
              <a:spcBef>
                <a:spcPct val="0"/>
              </a:spcBef>
            </a:pPr>
            <a:r>
              <a:rPr lang="en-US" sz="1874" spc="178">
                <a:solidFill>
                  <a:srgbClr val="052B35"/>
                </a:solidFill>
                <a:latin typeface="Glacial Indifference"/>
                <a:ea typeface="Glacial Indifference"/>
                <a:cs typeface="Glacial Indifference"/>
                <a:sym typeface="Glacial Indifference"/>
              </a:rPr>
              <a:t>The right tools - the right technology - the right people - A stronger, safer tomorrow</a:t>
            </a:r>
          </a:p>
        </p:txBody>
      </p:sp>
      <p:sp>
        <p:nvSpPr>
          <p:cNvPr id="60" name="TextBox 60"/>
          <p:cNvSpPr txBox="1"/>
          <p:nvPr/>
        </p:nvSpPr>
        <p:spPr>
          <a:xfrm>
            <a:off x="9469775" y="2849269"/>
            <a:ext cx="1454745" cy="495300"/>
          </a:xfrm>
          <a:prstGeom prst="rect">
            <a:avLst/>
          </a:prstGeom>
        </p:spPr>
        <p:txBody>
          <a:bodyPr lIns="0" tIns="0" rIns="0" bIns="0" rtlCol="0" anchor="t">
            <a:spAutoFit/>
          </a:bodyPr>
          <a:lstStyle/>
          <a:p>
            <a:pPr algn="ctr">
              <a:lnSpc>
                <a:spcPts val="1889"/>
              </a:lnSpc>
            </a:pPr>
            <a:r>
              <a:rPr lang="en-US" sz="1575" b="1" spc="149">
                <a:solidFill>
                  <a:srgbClr val="FFFFFF"/>
                </a:solidFill>
                <a:latin typeface="Calibri (MS) Bold"/>
                <a:ea typeface="Calibri (MS) Bold"/>
                <a:cs typeface="Calibri (MS) Bold"/>
                <a:sym typeface="Calibri (MS) Bold"/>
              </a:rPr>
              <a:t>Software</a:t>
            </a:r>
          </a:p>
          <a:p>
            <a:pPr algn="ctr">
              <a:lnSpc>
                <a:spcPts val="1889"/>
              </a:lnSpc>
              <a:spcBef>
                <a:spcPct val="0"/>
              </a:spcBef>
            </a:pPr>
            <a:r>
              <a:rPr lang="en-US" sz="1575" b="1" spc="150">
                <a:solidFill>
                  <a:srgbClr val="FFFFFF"/>
                </a:solidFill>
                <a:latin typeface="Calibri (MS) Bold"/>
                <a:ea typeface="Calibri (MS) Bold"/>
                <a:cs typeface="Calibri (MS) Bold"/>
                <a:sym typeface="Calibri (MS) Bold"/>
              </a:rPr>
              <a:t> Requirements</a:t>
            </a:r>
          </a:p>
        </p:txBody>
      </p:sp>
      <p:sp>
        <p:nvSpPr>
          <p:cNvPr id="61" name="TextBox 61"/>
          <p:cNvSpPr txBox="1"/>
          <p:nvPr/>
        </p:nvSpPr>
        <p:spPr>
          <a:xfrm>
            <a:off x="7006846" y="2849269"/>
            <a:ext cx="1454745" cy="495300"/>
          </a:xfrm>
          <a:prstGeom prst="rect">
            <a:avLst/>
          </a:prstGeom>
        </p:spPr>
        <p:txBody>
          <a:bodyPr lIns="0" tIns="0" rIns="0" bIns="0" rtlCol="0" anchor="t">
            <a:spAutoFit/>
          </a:bodyPr>
          <a:lstStyle/>
          <a:p>
            <a:pPr algn="ctr">
              <a:lnSpc>
                <a:spcPts val="1889"/>
              </a:lnSpc>
            </a:pPr>
            <a:r>
              <a:rPr lang="en-US" sz="1574" b="1" spc="149">
                <a:solidFill>
                  <a:srgbClr val="FFFFFF"/>
                </a:solidFill>
                <a:latin typeface="Calibri (MS) Bold"/>
                <a:ea typeface="Calibri (MS) Bold"/>
                <a:cs typeface="Calibri (MS) Bold"/>
                <a:sym typeface="Calibri (MS) Bold"/>
              </a:rPr>
              <a:t>Hardware</a:t>
            </a:r>
          </a:p>
          <a:p>
            <a:pPr algn="ctr">
              <a:lnSpc>
                <a:spcPts val="1889"/>
              </a:lnSpc>
              <a:spcBef>
                <a:spcPct val="0"/>
              </a:spcBef>
            </a:pPr>
            <a:r>
              <a:rPr lang="en-US" sz="1574" b="1" spc="150">
                <a:solidFill>
                  <a:srgbClr val="FFFFFF"/>
                </a:solidFill>
                <a:latin typeface="Calibri (MS) Bold"/>
                <a:ea typeface="Calibri (MS) Bold"/>
                <a:cs typeface="Calibri (MS) Bold"/>
                <a:sym typeface="Calibri (MS) Bold"/>
              </a:rPr>
              <a:t> Requirements</a:t>
            </a:r>
          </a:p>
        </p:txBody>
      </p:sp>
      <p:sp>
        <p:nvSpPr>
          <p:cNvPr id="62" name="TextBox 62"/>
          <p:cNvSpPr txBox="1"/>
          <p:nvPr/>
        </p:nvSpPr>
        <p:spPr>
          <a:xfrm>
            <a:off x="8061696" y="6237550"/>
            <a:ext cx="1820664" cy="295275"/>
          </a:xfrm>
          <a:prstGeom prst="rect">
            <a:avLst/>
          </a:prstGeom>
        </p:spPr>
        <p:txBody>
          <a:bodyPr lIns="0" tIns="0" rIns="0" bIns="0" rtlCol="0" anchor="t">
            <a:spAutoFit/>
          </a:bodyPr>
          <a:lstStyle/>
          <a:p>
            <a:pPr algn="ctr">
              <a:lnSpc>
                <a:spcPts val="2082"/>
              </a:lnSpc>
              <a:spcBef>
                <a:spcPct val="0"/>
              </a:spcBef>
            </a:pPr>
            <a:r>
              <a:rPr lang="en-US" sz="1735" b="1" spc="165">
                <a:solidFill>
                  <a:srgbClr val="FFFFFF"/>
                </a:solidFill>
                <a:latin typeface="Calibri (MS) Bold"/>
                <a:ea typeface="Calibri (MS) Bold"/>
                <a:cs typeface="Calibri (MS) Bold"/>
                <a:sym typeface="Calibri (MS) Bold"/>
              </a:rPr>
              <a:t>Other Resources</a:t>
            </a:r>
          </a:p>
        </p:txBody>
      </p:sp>
      <p:sp>
        <p:nvSpPr>
          <p:cNvPr id="63" name="TextBox 63"/>
          <p:cNvSpPr txBox="1"/>
          <p:nvPr/>
        </p:nvSpPr>
        <p:spPr>
          <a:xfrm>
            <a:off x="678656" y="2720681"/>
            <a:ext cx="5395848" cy="285750"/>
          </a:xfrm>
          <a:prstGeom prst="rect">
            <a:avLst/>
          </a:prstGeom>
        </p:spPr>
        <p:txBody>
          <a:bodyPr lIns="0" tIns="0" rIns="0" bIns="0" rtlCol="0" anchor="t">
            <a:spAutoFit/>
          </a:bodyPr>
          <a:lstStyle/>
          <a:p>
            <a:pPr algn="ctr">
              <a:lnSpc>
                <a:spcPts val="2249"/>
              </a:lnSpc>
              <a:spcBef>
                <a:spcPct val="0"/>
              </a:spcBef>
            </a:pPr>
            <a:r>
              <a:rPr lang="en-US" sz="1874" b="1" spc="178">
                <a:solidFill>
                  <a:srgbClr val="FFFFFF"/>
                </a:solidFill>
                <a:latin typeface="Glacial Indifference Bold"/>
                <a:ea typeface="Glacial Indifference Bold"/>
                <a:cs typeface="Glacial Indifference Bold"/>
                <a:sym typeface="Glacial Indifference Bold"/>
              </a:rPr>
              <a:t>HARDWARE REQUIREMENTS</a:t>
            </a:r>
          </a:p>
        </p:txBody>
      </p:sp>
      <p:sp>
        <p:nvSpPr>
          <p:cNvPr id="64" name="TextBox 64"/>
          <p:cNvSpPr txBox="1"/>
          <p:nvPr/>
        </p:nvSpPr>
        <p:spPr>
          <a:xfrm>
            <a:off x="12160619" y="2720681"/>
            <a:ext cx="5395848" cy="285750"/>
          </a:xfrm>
          <a:prstGeom prst="rect">
            <a:avLst/>
          </a:prstGeom>
        </p:spPr>
        <p:txBody>
          <a:bodyPr lIns="0" tIns="0" rIns="0" bIns="0" rtlCol="0" anchor="t">
            <a:spAutoFit/>
          </a:bodyPr>
          <a:lstStyle/>
          <a:p>
            <a:pPr algn="ctr">
              <a:lnSpc>
                <a:spcPts val="2249"/>
              </a:lnSpc>
              <a:spcBef>
                <a:spcPct val="0"/>
              </a:spcBef>
            </a:pPr>
            <a:r>
              <a:rPr lang="en-US" sz="1874" b="1" spc="178">
                <a:solidFill>
                  <a:srgbClr val="FFFFFF"/>
                </a:solidFill>
                <a:latin typeface="Glacial Indifference Bold"/>
                <a:ea typeface="Glacial Indifference Bold"/>
                <a:cs typeface="Glacial Indifference Bold"/>
                <a:sym typeface="Glacial Indifference Bold"/>
              </a:rPr>
              <a:t>SOFTWARE REQUIREMENTS</a:t>
            </a:r>
          </a:p>
        </p:txBody>
      </p:sp>
      <p:sp>
        <p:nvSpPr>
          <p:cNvPr id="65" name="TextBox 65"/>
          <p:cNvSpPr txBox="1"/>
          <p:nvPr/>
        </p:nvSpPr>
        <p:spPr>
          <a:xfrm>
            <a:off x="731076" y="6678185"/>
            <a:ext cx="5395848" cy="285750"/>
          </a:xfrm>
          <a:prstGeom prst="rect">
            <a:avLst/>
          </a:prstGeom>
        </p:spPr>
        <p:txBody>
          <a:bodyPr lIns="0" tIns="0" rIns="0" bIns="0" rtlCol="0" anchor="t">
            <a:spAutoFit/>
          </a:bodyPr>
          <a:lstStyle/>
          <a:p>
            <a:pPr algn="ctr">
              <a:lnSpc>
                <a:spcPts val="2249"/>
              </a:lnSpc>
              <a:spcBef>
                <a:spcPct val="0"/>
              </a:spcBef>
            </a:pPr>
            <a:r>
              <a:rPr lang="en-US" sz="1874" b="1" spc="178">
                <a:solidFill>
                  <a:srgbClr val="FFFFFF"/>
                </a:solidFill>
                <a:latin typeface="Glacial Indifference Bold"/>
                <a:ea typeface="Glacial Indifference Bold"/>
                <a:cs typeface="Glacial Indifference Bold"/>
                <a:sym typeface="Glacial Indifference Bold"/>
              </a:rPr>
              <a:t>OTHER RESOURCES</a:t>
            </a:r>
          </a:p>
        </p:txBody>
      </p:sp>
      <p:sp>
        <p:nvSpPr>
          <p:cNvPr id="66" name="TextBox 66"/>
          <p:cNvSpPr txBox="1"/>
          <p:nvPr/>
        </p:nvSpPr>
        <p:spPr>
          <a:xfrm>
            <a:off x="11980949" y="3274043"/>
            <a:ext cx="5395848" cy="2009775"/>
          </a:xfrm>
          <a:prstGeom prst="rect">
            <a:avLst/>
          </a:prstGeom>
        </p:spPr>
        <p:txBody>
          <a:bodyPr wrap="square" lIns="0" tIns="0" rIns="0" bIns="0" rtlCol="0" anchor="t">
            <a:spAutoFit/>
          </a:bodyPr>
          <a:lstStyle/>
          <a:p>
            <a:pPr algn="ctr">
              <a:lnSpc>
                <a:spcPts val="1739"/>
              </a:lnSpc>
            </a:pPr>
            <a:endParaRPr dirty="0"/>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Python</a:t>
            </a:r>
            <a:r>
              <a:rPr lang="en-US" sz="1449" spc="137" dirty="0">
                <a:solidFill>
                  <a:srgbClr val="000000"/>
                </a:solidFill>
                <a:latin typeface="Calibri (MS)"/>
                <a:ea typeface="Calibri (MS)"/>
                <a:cs typeface="Calibri (MS)"/>
                <a:sym typeface="Calibri (MS)"/>
              </a:rPr>
              <a:t>: Data processing and risk analysis</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SQL</a:t>
            </a:r>
            <a:r>
              <a:rPr lang="en-US" sz="1449" spc="137" dirty="0">
                <a:solidFill>
                  <a:srgbClr val="000000"/>
                </a:solidFill>
                <a:latin typeface="Calibri (MS)"/>
                <a:ea typeface="Calibri (MS)"/>
                <a:cs typeface="Calibri (MS)"/>
                <a:sym typeface="Calibri (MS)"/>
              </a:rPr>
              <a:t>: Store infrastructure and damage data</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a:t>
            </a:r>
            <a:r>
              <a:rPr lang="en-US" sz="1449" b="1" spc="137" dirty="0" err="1">
                <a:solidFill>
                  <a:srgbClr val="000000"/>
                </a:solidFill>
                <a:latin typeface="Calibri (MS) Bold"/>
                <a:ea typeface="Calibri (MS) Bold"/>
                <a:cs typeface="Calibri (MS) Bold"/>
                <a:sym typeface="Calibri (MS) Bold"/>
              </a:rPr>
              <a:t>Streamlit</a:t>
            </a:r>
            <a:r>
              <a:rPr lang="en-US" sz="1449" spc="137" dirty="0">
                <a:solidFill>
                  <a:srgbClr val="000000"/>
                </a:solidFill>
                <a:latin typeface="Calibri (MS)"/>
                <a:ea typeface="Calibri (MS)"/>
                <a:cs typeface="Calibri (MS)"/>
                <a:sym typeface="Calibri (MS)"/>
              </a:rPr>
              <a:t>: Build an interactive web app</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a:t>
            </a:r>
            <a:r>
              <a:rPr lang="en-US" sz="1449" b="1" spc="137" dirty="0" err="1">
                <a:solidFill>
                  <a:srgbClr val="000000"/>
                </a:solidFill>
                <a:latin typeface="Calibri (MS) Bold"/>
                <a:ea typeface="Calibri (MS) Bold"/>
                <a:cs typeface="Calibri (MS) Bold"/>
                <a:sym typeface="Calibri (MS) Bold"/>
              </a:rPr>
              <a:t>Colab</a:t>
            </a:r>
            <a:r>
              <a:rPr lang="en-US" sz="1449" b="1" spc="137" dirty="0">
                <a:solidFill>
                  <a:srgbClr val="000000"/>
                </a:solidFill>
                <a:latin typeface="Calibri (MS) Bold"/>
                <a:ea typeface="Calibri (MS) Bold"/>
                <a:cs typeface="Calibri (MS) Bold"/>
                <a:sym typeface="Calibri (MS) Bold"/>
              </a:rPr>
              <a:t> / VS Code</a:t>
            </a:r>
            <a:r>
              <a:rPr lang="en-US" sz="1449" spc="137" dirty="0">
                <a:solidFill>
                  <a:srgbClr val="000000"/>
                </a:solidFill>
                <a:latin typeface="Calibri (MS)"/>
                <a:ea typeface="Calibri (MS)"/>
                <a:cs typeface="Calibri (MS)"/>
                <a:sym typeface="Calibri (MS)"/>
              </a:rPr>
              <a:t>: Write and run code</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GitHub</a:t>
            </a:r>
            <a:r>
              <a:rPr lang="en-US" sz="1449" spc="137" dirty="0">
                <a:solidFill>
                  <a:srgbClr val="000000"/>
                </a:solidFill>
                <a:latin typeface="Calibri (MS)"/>
                <a:ea typeface="Calibri (MS)"/>
                <a:cs typeface="Calibri (MS)"/>
                <a:sym typeface="Calibri (MS)"/>
              </a:rPr>
              <a:t>: Save and collaborate on code</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QGIS</a:t>
            </a:r>
            <a:r>
              <a:rPr lang="en-US" sz="1449" spc="137" dirty="0">
                <a:solidFill>
                  <a:srgbClr val="000000"/>
                </a:solidFill>
                <a:latin typeface="Calibri (MS)"/>
                <a:ea typeface="Calibri (MS)"/>
                <a:cs typeface="Calibri (MS)"/>
                <a:sym typeface="Calibri (MS)"/>
              </a:rPr>
              <a:t>: Map hazards and vulnerable areas</a:t>
            </a:r>
          </a:p>
          <a:p>
            <a:pPr marL="442277" lvl="1" indent="-285750">
              <a:lnSpc>
                <a:spcPts val="1739"/>
              </a:lnSpc>
              <a:spcBef>
                <a:spcPct val="0"/>
              </a:spcBef>
              <a:buFont typeface="Arial" panose="020B0604020202020204" pitchFamily="34" charset="0"/>
              <a:buChar char="•"/>
            </a:pPr>
            <a:r>
              <a:rPr lang="en-US" sz="1449" b="1" spc="137" dirty="0">
                <a:solidFill>
                  <a:srgbClr val="000000"/>
                </a:solidFill>
                <a:latin typeface="Calibri (MS) Bold"/>
                <a:ea typeface="Calibri (MS) Bold"/>
                <a:cs typeface="Calibri (MS) Bold"/>
                <a:sym typeface="Calibri (MS) Bold"/>
              </a:rPr>
              <a:t> </a:t>
            </a:r>
            <a:r>
              <a:rPr lang="en-US" sz="1449" b="1" spc="137" dirty="0" err="1">
                <a:solidFill>
                  <a:srgbClr val="000000"/>
                </a:solidFill>
                <a:latin typeface="Calibri (MS) Bold"/>
                <a:ea typeface="Calibri (MS) Bold"/>
                <a:cs typeface="Calibri (MS) Bold"/>
                <a:sym typeface="Calibri (MS) Bold"/>
              </a:rPr>
              <a:t>Streamlit</a:t>
            </a:r>
            <a:r>
              <a:rPr lang="en-US" sz="1449" b="1" spc="137" dirty="0">
                <a:solidFill>
                  <a:srgbClr val="000000"/>
                </a:solidFill>
                <a:latin typeface="Calibri (MS) Bold"/>
                <a:ea typeface="Calibri (MS) Bold"/>
                <a:cs typeface="Calibri (MS) Bold"/>
                <a:sym typeface="Calibri (MS) Bold"/>
              </a:rPr>
              <a:t> Cloud</a:t>
            </a:r>
            <a:r>
              <a:rPr lang="en-US" sz="1449" spc="137" dirty="0">
                <a:solidFill>
                  <a:srgbClr val="000000"/>
                </a:solidFill>
                <a:latin typeface="Calibri (MS)"/>
                <a:ea typeface="Calibri (MS)"/>
                <a:cs typeface="Calibri (MS)"/>
                <a:sym typeface="Calibri (MS)"/>
              </a:rPr>
              <a:t>: Host the demo app</a:t>
            </a:r>
          </a:p>
          <a:p>
            <a:pPr algn="ctr">
              <a:lnSpc>
                <a:spcPts val="1739"/>
              </a:lnSpc>
              <a:spcBef>
                <a:spcPct val="0"/>
              </a:spcBef>
            </a:pPr>
            <a:endParaRPr lang="en-US" sz="1449" spc="137" dirty="0">
              <a:solidFill>
                <a:srgbClr val="000000"/>
              </a:solidFill>
              <a:latin typeface="Calibri (MS)"/>
              <a:ea typeface="Calibri (MS)"/>
              <a:cs typeface="Calibri (MS)"/>
              <a:sym typeface="Calibri (MS)"/>
            </a:endParaRPr>
          </a:p>
        </p:txBody>
      </p:sp>
      <p:sp>
        <p:nvSpPr>
          <p:cNvPr id="67" name="TextBox 67"/>
          <p:cNvSpPr txBox="1"/>
          <p:nvPr/>
        </p:nvSpPr>
        <p:spPr>
          <a:xfrm>
            <a:off x="810246" y="3336980"/>
            <a:ext cx="5347909" cy="2876550"/>
          </a:xfrm>
          <a:prstGeom prst="rect">
            <a:avLst/>
          </a:prstGeom>
        </p:spPr>
        <p:txBody>
          <a:bodyPr lIns="0" tIns="0" rIns="0" bIns="0" rtlCol="0" anchor="t">
            <a:spAutoFit/>
          </a:bodyPr>
          <a:lstStyle/>
          <a:p>
            <a:pPr algn="l">
              <a:lnSpc>
                <a:spcPts val="1745"/>
              </a:lnSpc>
            </a:pPr>
            <a:r>
              <a:rPr lang="en-US" sz="1454" b="1" spc="138">
                <a:solidFill>
                  <a:srgbClr val="000000"/>
                </a:solidFill>
                <a:latin typeface="Calibri (MS) Bold"/>
                <a:ea typeface="Calibri (MS) Bold"/>
                <a:cs typeface="Calibri (MS) Bold"/>
                <a:sym typeface="Calibri (MS) Bold"/>
              </a:rPr>
              <a:t>Development laptop / PC:</a:t>
            </a:r>
          </a:p>
          <a:p>
            <a:pPr marL="314031" lvl="1" indent="-157015" algn="l">
              <a:lnSpc>
                <a:spcPts val="1745"/>
              </a:lnSpc>
              <a:spcBef>
                <a:spcPct val="0"/>
              </a:spcBef>
              <a:buFont typeface="Arial"/>
              <a:buChar char="•"/>
            </a:pPr>
            <a:r>
              <a:rPr lang="en-US" sz="1454" spc="138">
                <a:solidFill>
                  <a:srgbClr val="000000"/>
                </a:solidFill>
                <a:latin typeface="Calibri (MS)"/>
                <a:ea typeface="Calibri (MS)"/>
                <a:cs typeface="Calibri (MS)"/>
                <a:sym typeface="Calibri (MS)"/>
              </a:rPr>
              <a:t>A computer with adequate storage for coding, testing, mapping and data analysis.</a:t>
            </a:r>
          </a:p>
          <a:p>
            <a:pPr algn="l">
              <a:lnSpc>
                <a:spcPts val="1745"/>
              </a:lnSpc>
              <a:spcBef>
                <a:spcPct val="0"/>
              </a:spcBef>
            </a:pPr>
            <a:endParaRPr lang="en-US" sz="1454" spc="138">
              <a:solidFill>
                <a:srgbClr val="000000"/>
              </a:solidFill>
              <a:latin typeface="Calibri (MS)"/>
              <a:ea typeface="Calibri (MS)"/>
              <a:cs typeface="Calibri (MS)"/>
              <a:sym typeface="Calibri (MS)"/>
            </a:endParaRPr>
          </a:p>
          <a:p>
            <a:pPr algn="l">
              <a:lnSpc>
                <a:spcPts val="1745"/>
              </a:lnSpc>
              <a:spcBef>
                <a:spcPct val="0"/>
              </a:spcBef>
            </a:pPr>
            <a:r>
              <a:rPr lang="en-US" sz="1454" b="1" spc="138">
                <a:solidFill>
                  <a:srgbClr val="000000"/>
                </a:solidFill>
                <a:latin typeface="Calibri (MS) Bold"/>
                <a:ea typeface="Calibri (MS) Bold"/>
                <a:cs typeface="Calibri (MS) Bold"/>
                <a:sym typeface="Calibri (MS) Bold"/>
              </a:rPr>
              <a:t>Storage and backup:</a:t>
            </a:r>
          </a:p>
          <a:p>
            <a:pPr marL="314031" lvl="1" indent="-157015" algn="l">
              <a:lnSpc>
                <a:spcPts val="1745"/>
              </a:lnSpc>
              <a:spcBef>
                <a:spcPct val="0"/>
              </a:spcBef>
              <a:buFont typeface="Arial"/>
              <a:buChar char="•"/>
            </a:pPr>
            <a:r>
              <a:rPr lang="en-US" sz="1454" spc="138">
                <a:solidFill>
                  <a:srgbClr val="000000"/>
                </a:solidFill>
                <a:latin typeface="Calibri (MS)"/>
                <a:ea typeface="Calibri (MS)"/>
                <a:cs typeface="Calibri (MS)"/>
                <a:sym typeface="Calibri (MS)"/>
              </a:rPr>
              <a:t>SSD storage and cloud backup to manage source code, maps, project files and disaster-related datasets.</a:t>
            </a:r>
          </a:p>
          <a:p>
            <a:pPr algn="l">
              <a:lnSpc>
                <a:spcPts val="1745"/>
              </a:lnSpc>
              <a:spcBef>
                <a:spcPct val="0"/>
              </a:spcBef>
            </a:pPr>
            <a:endParaRPr lang="en-US" sz="1454" spc="138">
              <a:solidFill>
                <a:srgbClr val="000000"/>
              </a:solidFill>
              <a:latin typeface="Calibri (MS)"/>
              <a:ea typeface="Calibri (MS)"/>
              <a:cs typeface="Calibri (MS)"/>
              <a:sym typeface="Calibri (MS)"/>
            </a:endParaRPr>
          </a:p>
          <a:p>
            <a:pPr algn="l">
              <a:lnSpc>
                <a:spcPts val="1745"/>
              </a:lnSpc>
              <a:spcBef>
                <a:spcPct val="0"/>
              </a:spcBef>
            </a:pPr>
            <a:r>
              <a:rPr lang="en-US" sz="1454" b="1" spc="138">
                <a:solidFill>
                  <a:srgbClr val="000000"/>
                </a:solidFill>
                <a:latin typeface="Calibri (MS) Bold"/>
                <a:ea typeface="Calibri (MS) Bold"/>
                <a:cs typeface="Calibri (MS) Bold"/>
                <a:sym typeface="Calibri (MS) Bold"/>
              </a:rPr>
              <a:t>Field data collection:</a:t>
            </a:r>
          </a:p>
          <a:p>
            <a:pPr marL="314031" lvl="1" indent="-157015" algn="l">
              <a:lnSpc>
                <a:spcPts val="1745"/>
              </a:lnSpc>
              <a:spcBef>
                <a:spcPct val="0"/>
              </a:spcBef>
              <a:buFont typeface="Arial"/>
              <a:buChar char="•"/>
            </a:pPr>
            <a:r>
              <a:rPr lang="en-US" sz="1454" spc="138">
                <a:solidFill>
                  <a:srgbClr val="000000"/>
                </a:solidFill>
                <a:latin typeface="Calibri (MS)"/>
                <a:ea typeface="Calibri (MS)"/>
                <a:cs typeface="Calibri (MS)"/>
                <a:sym typeface="Calibri (MS)"/>
              </a:rPr>
              <a:t>A smartphone with GPS and a camera for recording locations and collecting observations, if field visits are undertaken.</a:t>
            </a:r>
          </a:p>
          <a:p>
            <a:pPr algn="l">
              <a:lnSpc>
                <a:spcPts val="1745"/>
              </a:lnSpc>
              <a:spcBef>
                <a:spcPct val="0"/>
              </a:spcBef>
            </a:pPr>
            <a:endParaRPr lang="en-US" sz="1454" spc="138">
              <a:solidFill>
                <a:srgbClr val="000000"/>
              </a:solidFill>
              <a:latin typeface="Calibri (MS)"/>
              <a:ea typeface="Calibri (MS)"/>
              <a:cs typeface="Calibri (MS)"/>
              <a:sym typeface="Calibri (MS)"/>
            </a:endParaRPr>
          </a:p>
        </p:txBody>
      </p:sp>
      <p:sp>
        <p:nvSpPr>
          <p:cNvPr id="68" name="TextBox 68"/>
          <p:cNvSpPr txBox="1"/>
          <p:nvPr/>
        </p:nvSpPr>
        <p:spPr>
          <a:xfrm>
            <a:off x="891397" y="7442877"/>
            <a:ext cx="5365394" cy="1352550"/>
          </a:xfrm>
          <a:prstGeom prst="rect">
            <a:avLst/>
          </a:prstGeom>
        </p:spPr>
        <p:txBody>
          <a:bodyPr lIns="0" tIns="0" rIns="0" bIns="0" rtlCol="0" anchor="t">
            <a:spAutoFit/>
          </a:bodyPr>
          <a:lstStyle/>
          <a:p>
            <a:pPr algn="just">
              <a:lnSpc>
                <a:spcPts val="1739"/>
              </a:lnSpc>
              <a:spcBef>
                <a:spcPct val="0"/>
              </a:spcBef>
            </a:pPr>
            <a:r>
              <a:rPr lang="en-US" sz="1449" spc="137">
                <a:solidFill>
                  <a:srgbClr val="000000"/>
                </a:solidFill>
                <a:latin typeface="Calibri (MS)"/>
                <a:ea typeface="Calibri (MS)"/>
                <a:cs typeface="Calibri (MS)"/>
                <a:sym typeface="Calibri (MS)"/>
              </a:rPr>
              <a:t>1. </a:t>
            </a:r>
            <a:r>
              <a:rPr lang="en-US" sz="1449" b="1" spc="137">
                <a:solidFill>
                  <a:srgbClr val="000000"/>
                </a:solidFill>
                <a:latin typeface="Calibri (MS) Bold"/>
                <a:ea typeface="Calibri (MS) Bold"/>
                <a:cs typeface="Calibri (MS) Bold"/>
                <a:sym typeface="Calibri (MS) Bold"/>
              </a:rPr>
              <a:t>Software Development Team</a:t>
            </a:r>
          </a:p>
          <a:p>
            <a:pPr marL="313054" lvl="1" indent="-156527" algn="just">
              <a:lnSpc>
                <a:spcPts val="1739"/>
              </a:lnSpc>
              <a:spcBef>
                <a:spcPct val="0"/>
              </a:spcBef>
              <a:buFont typeface="Arial"/>
              <a:buChar char="•"/>
            </a:pPr>
            <a:r>
              <a:rPr lang="en-US" sz="1449" spc="137">
                <a:solidFill>
                  <a:srgbClr val="000000"/>
                </a:solidFill>
                <a:latin typeface="Calibri (MS)"/>
                <a:ea typeface="Calibri (MS)"/>
                <a:cs typeface="Calibri (MS)"/>
                <a:sym typeface="Calibri (MS)"/>
              </a:rPr>
              <a:t>2–4 student members (coding, database, UI/UX, and research).</a:t>
            </a:r>
          </a:p>
          <a:p>
            <a:pPr marL="313054" lvl="1" indent="-156527" algn="just">
              <a:lnSpc>
                <a:spcPts val="1739"/>
              </a:lnSpc>
              <a:spcBef>
                <a:spcPct val="0"/>
              </a:spcBef>
              <a:buFont typeface="Arial"/>
              <a:buChar char="•"/>
            </a:pPr>
            <a:r>
              <a:rPr lang="en-US" sz="1449" spc="137">
                <a:solidFill>
                  <a:srgbClr val="000000"/>
                </a:solidFill>
                <a:latin typeface="Calibri (MS)"/>
                <a:ea typeface="Calibri (MS)"/>
                <a:cs typeface="Calibri (MS)"/>
                <a:sym typeface="Calibri (MS)"/>
              </a:rPr>
              <a:t>Faculty mentor / software developer (guidance and testing).</a:t>
            </a:r>
          </a:p>
          <a:p>
            <a:pPr algn="just">
              <a:lnSpc>
                <a:spcPts val="1739"/>
              </a:lnSpc>
              <a:spcBef>
                <a:spcPct val="0"/>
              </a:spcBef>
            </a:pPr>
            <a:endParaRPr lang="en-US" sz="1449" spc="137">
              <a:solidFill>
                <a:srgbClr val="000000"/>
              </a:solidFill>
              <a:latin typeface="Calibri (MS)"/>
              <a:ea typeface="Calibri (MS)"/>
              <a:cs typeface="Calibri (MS)"/>
              <a:sym typeface="Calibri (MS)"/>
            </a:endParaRPr>
          </a:p>
        </p:txBody>
      </p:sp>
      <p:sp>
        <p:nvSpPr>
          <p:cNvPr id="69" name="TextBox 69"/>
          <p:cNvSpPr txBox="1"/>
          <p:nvPr/>
        </p:nvSpPr>
        <p:spPr>
          <a:xfrm>
            <a:off x="7293705" y="7381107"/>
            <a:ext cx="8165240" cy="1571625"/>
          </a:xfrm>
          <a:prstGeom prst="rect">
            <a:avLst/>
          </a:prstGeom>
        </p:spPr>
        <p:txBody>
          <a:bodyPr lIns="0" tIns="0" rIns="0" bIns="0" rtlCol="0" anchor="t">
            <a:spAutoFit/>
          </a:bodyPr>
          <a:lstStyle/>
          <a:p>
            <a:pPr algn="l">
              <a:lnSpc>
                <a:spcPts val="1739"/>
              </a:lnSpc>
              <a:spcBef>
                <a:spcPct val="0"/>
              </a:spcBef>
            </a:pPr>
            <a:r>
              <a:rPr lang="en-US" sz="1449" spc="137">
                <a:solidFill>
                  <a:srgbClr val="000000"/>
                </a:solidFill>
                <a:latin typeface="Calibri (MS)"/>
                <a:ea typeface="Calibri (MS)"/>
                <a:cs typeface="Calibri (MS)"/>
                <a:sym typeface="Calibri (MS)"/>
              </a:rPr>
              <a:t>2. </a:t>
            </a:r>
            <a:r>
              <a:rPr lang="en-US" sz="1449" b="1" spc="137">
                <a:solidFill>
                  <a:srgbClr val="000000"/>
                </a:solidFill>
                <a:latin typeface="Calibri (MS) Bold"/>
                <a:ea typeface="Calibri (MS) Bold"/>
                <a:cs typeface="Calibri (MS) Bold"/>
                <a:sym typeface="Calibri (MS) Bold"/>
              </a:rPr>
              <a:t>Domain Experts (for real implementation)</a:t>
            </a:r>
          </a:p>
          <a:p>
            <a:pPr marL="313054" lvl="1" indent="-156527" algn="l">
              <a:lnSpc>
                <a:spcPts val="1739"/>
              </a:lnSpc>
              <a:spcBef>
                <a:spcPct val="0"/>
              </a:spcBef>
              <a:buFont typeface="Arial"/>
              <a:buChar char="•"/>
            </a:pPr>
            <a:r>
              <a:rPr lang="en-US" sz="1449" spc="137">
                <a:solidFill>
                  <a:srgbClr val="000000"/>
                </a:solidFill>
                <a:latin typeface="Calibri (MS)"/>
                <a:ea typeface="Calibri (MS)"/>
                <a:cs typeface="Calibri (MS)"/>
                <a:sym typeface="Calibri (MS)"/>
              </a:rPr>
              <a:t>Civil / Structural Engineer – 1–2: Bridge structure, materials, and safety.</a:t>
            </a:r>
          </a:p>
          <a:p>
            <a:pPr marL="313054" lvl="1" indent="-156527" algn="l">
              <a:lnSpc>
                <a:spcPts val="1739"/>
              </a:lnSpc>
              <a:spcBef>
                <a:spcPct val="0"/>
              </a:spcBef>
              <a:buFont typeface="Arial"/>
              <a:buChar char="•"/>
            </a:pPr>
            <a:r>
              <a:rPr lang="en-US" sz="1449" spc="137">
                <a:solidFill>
                  <a:srgbClr val="000000"/>
                </a:solidFill>
                <a:latin typeface="Calibri (MS)"/>
                <a:ea typeface="Calibri (MS)"/>
                <a:cs typeface="Calibri (MS)"/>
                <a:sym typeface="Calibri (MS)"/>
              </a:rPr>
              <a:t>Geotechnical Engineer – 1: Soil, foundations, and slope stability.</a:t>
            </a:r>
          </a:p>
          <a:p>
            <a:pPr marL="313054" lvl="1" indent="-156527" algn="l">
              <a:lnSpc>
                <a:spcPts val="1739"/>
              </a:lnSpc>
              <a:spcBef>
                <a:spcPct val="0"/>
              </a:spcBef>
              <a:buFont typeface="Arial"/>
              <a:buChar char="•"/>
            </a:pPr>
            <a:r>
              <a:rPr lang="en-US" sz="1449" spc="137">
                <a:solidFill>
                  <a:srgbClr val="000000"/>
                </a:solidFill>
                <a:latin typeface="Calibri (MS)"/>
                <a:ea typeface="Calibri (MS)"/>
                <a:cs typeface="Calibri (MS)"/>
                <a:sym typeface="Calibri (MS)"/>
              </a:rPr>
              <a:t>Hydrologist / Hydraulic Engineer – 1: Water flow, flood levels, and drainage.</a:t>
            </a:r>
          </a:p>
          <a:p>
            <a:pPr marL="313054" lvl="1" indent="-156527" algn="l">
              <a:lnSpc>
                <a:spcPts val="1739"/>
              </a:lnSpc>
              <a:spcBef>
                <a:spcPct val="0"/>
              </a:spcBef>
              <a:buFont typeface="Arial"/>
              <a:buChar char="•"/>
            </a:pPr>
            <a:r>
              <a:rPr lang="en-US" sz="1449" spc="137">
                <a:solidFill>
                  <a:srgbClr val="000000"/>
                </a:solidFill>
                <a:latin typeface="Calibri (MS)"/>
                <a:ea typeface="Calibri (MS)"/>
                <a:cs typeface="Calibri (MS)"/>
                <a:sym typeface="Calibri (MS)"/>
              </a:rPr>
              <a:t>Surveying &amp; Construction Specialists – 1–2: Site surveys, planning, and execution.</a:t>
            </a:r>
          </a:p>
          <a:p>
            <a:pPr marL="313054" lvl="1" indent="-156527" algn="l">
              <a:lnSpc>
                <a:spcPts val="1739"/>
              </a:lnSpc>
              <a:spcBef>
                <a:spcPct val="0"/>
              </a:spcBef>
              <a:buFont typeface="Arial"/>
              <a:buChar char="•"/>
            </a:pPr>
            <a:r>
              <a:rPr lang="en-US" sz="1449" spc="137">
                <a:solidFill>
                  <a:srgbClr val="000000"/>
                </a:solidFill>
                <a:latin typeface="Calibri (MS)"/>
                <a:ea typeface="Calibri (MS)"/>
                <a:cs typeface="Calibri (MS)"/>
                <a:sym typeface="Calibri (MS)"/>
              </a:rPr>
              <a:t>Environmental / Disaster-Risk Specialist – 1: Risk assessment and mitigation.</a:t>
            </a:r>
          </a:p>
          <a:p>
            <a:pPr algn="l">
              <a:lnSpc>
                <a:spcPts val="1739"/>
              </a:lnSpc>
              <a:spcBef>
                <a:spcPct val="0"/>
              </a:spcBef>
            </a:pPr>
            <a:endParaRPr lang="en-US" sz="1449" spc="137">
              <a:solidFill>
                <a:srgbClr val="000000"/>
              </a:solidFill>
              <a:latin typeface="Calibri (MS)"/>
              <a:ea typeface="Calibri (MS)"/>
              <a:cs typeface="Calibri (MS)"/>
              <a:sym typeface="Calibri (MS)"/>
            </a:endParaRPr>
          </a:p>
        </p:txBody>
      </p:sp>
      <p:sp>
        <p:nvSpPr>
          <p:cNvPr id="70" name="TextBox 70"/>
          <p:cNvSpPr txBox="1"/>
          <p:nvPr/>
        </p:nvSpPr>
        <p:spPr>
          <a:xfrm>
            <a:off x="7736705" y="4113601"/>
            <a:ext cx="2470646" cy="571500"/>
          </a:xfrm>
          <a:prstGeom prst="rect">
            <a:avLst/>
          </a:prstGeom>
        </p:spPr>
        <p:txBody>
          <a:bodyPr lIns="0" tIns="0" rIns="0" bIns="0" rtlCol="0" anchor="t">
            <a:spAutoFit/>
          </a:bodyPr>
          <a:lstStyle/>
          <a:p>
            <a:pPr algn="ctr">
              <a:lnSpc>
                <a:spcPts val="2173"/>
              </a:lnSpc>
            </a:pPr>
            <a:r>
              <a:rPr lang="en-US" sz="1811" b="1" spc="172">
                <a:solidFill>
                  <a:srgbClr val="052B35"/>
                </a:solidFill>
                <a:latin typeface="Calibri (MS) Bold"/>
                <a:ea typeface="Calibri (MS) Bold"/>
                <a:cs typeface="Calibri (MS) Bold"/>
                <a:sym typeface="Calibri (MS) Bold"/>
              </a:rPr>
              <a:t>DISASTER - RESILIENT</a:t>
            </a:r>
          </a:p>
          <a:p>
            <a:pPr algn="ctr">
              <a:lnSpc>
                <a:spcPts val="2173"/>
              </a:lnSpc>
              <a:spcBef>
                <a:spcPct val="0"/>
              </a:spcBef>
            </a:pPr>
            <a:r>
              <a:rPr lang="en-US" sz="1811" b="1" spc="172">
                <a:solidFill>
                  <a:srgbClr val="052B35"/>
                </a:solidFill>
                <a:latin typeface="Calibri (MS) Bold"/>
                <a:ea typeface="Calibri (MS) Bold"/>
                <a:cs typeface="Calibri (MS) Bold"/>
                <a:sym typeface="Calibri (MS) Bold"/>
              </a:rPr>
              <a:t>RECONSTRUCTION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3F8F5"/>
        </a:solidFill>
        <a:effectLst/>
      </p:bgPr>
    </p:bg>
    <p:spTree>
      <p:nvGrpSpPr>
        <p:cNvPr id="1" name=""/>
        <p:cNvGrpSpPr/>
        <p:nvPr/>
      </p:nvGrpSpPr>
      <p:grpSpPr>
        <a:xfrm>
          <a:off x="0" y="0"/>
          <a:ext cx="0" cy="0"/>
          <a:chOff x="0" y="0"/>
          <a:chExt cx="0" cy="0"/>
        </a:xfrm>
      </p:grpSpPr>
      <p:grpSp>
        <p:nvGrpSpPr>
          <p:cNvPr id="2" name="Group 2"/>
          <p:cNvGrpSpPr/>
          <p:nvPr/>
        </p:nvGrpSpPr>
        <p:grpSpPr>
          <a:xfrm>
            <a:off x="16607047" y="198596"/>
            <a:ext cx="1248727" cy="1248727"/>
            <a:chOff x="0" y="0"/>
            <a:chExt cx="1664970" cy="1664970"/>
          </a:xfrm>
        </p:grpSpPr>
        <p:sp>
          <p:nvSpPr>
            <p:cNvPr id="3" name="Freeform 3"/>
            <p:cNvSpPr/>
            <p:nvPr/>
          </p:nvSpPr>
          <p:spPr>
            <a:xfrm>
              <a:off x="0" y="0"/>
              <a:ext cx="1664970" cy="1664970"/>
            </a:xfrm>
            <a:custGeom>
              <a:avLst/>
              <a:gdLst/>
              <a:ahLst/>
              <a:cxnLst/>
              <a:rect l="l" t="t" r="r" b="b"/>
              <a:pathLst>
                <a:path w="1664970" h="1664970">
                  <a:moveTo>
                    <a:pt x="0" y="221996"/>
                  </a:moveTo>
                  <a:cubicBezTo>
                    <a:pt x="0" y="99441"/>
                    <a:pt x="99441" y="0"/>
                    <a:pt x="221996" y="0"/>
                  </a:cubicBezTo>
                  <a:lnTo>
                    <a:pt x="1442974" y="0"/>
                  </a:lnTo>
                  <a:cubicBezTo>
                    <a:pt x="1565529" y="0"/>
                    <a:pt x="1664970" y="99441"/>
                    <a:pt x="1664970" y="221996"/>
                  </a:cubicBezTo>
                  <a:lnTo>
                    <a:pt x="1664970" y="1442974"/>
                  </a:lnTo>
                  <a:cubicBezTo>
                    <a:pt x="1664970" y="1565529"/>
                    <a:pt x="1565529" y="1664970"/>
                    <a:pt x="144297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4" name="Group 4"/>
          <p:cNvGrpSpPr/>
          <p:nvPr/>
        </p:nvGrpSpPr>
        <p:grpSpPr>
          <a:xfrm>
            <a:off x="16807691" y="301752"/>
            <a:ext cx="801195" cy="1042416"/>
            <a:chOff x="0" y="0"/>
            <a:chExt cx="1068260" cy="1389888"/>
          </a:xfrm>
        </p:grpSpPr>
        <p:sp>
          <p:nvSpPr>
            <p:cNvPr id="5" name="Freeform 5" descr="Genesis logo"/>
            <p:cNvSpPr/>
            <p:nvPr/>
          </p:nvSpPr>
          <p:spPr>
            <a:xfrm>
              <a:off x="0" y="0"/>
              <a:ext cx="1068324" cy="1389888"/>
            </a:xfrm>
            <a:custGeom>
              <a:avLst/>
              <a:gdLst/>
              <a:ahLst/>
              <a:cxnLst/>
              <a:rect l="l" t="t" r="r" b="b"/>
              <a:pathLst>
                <a:path w="1068324" h="1389888">
                  <a:moveTo>
                    <a:pt x="0" y="0"/>
                  </a:moveTo>
                  <a:lnTo>
                    <a:pt x="1068324" y="0"/>
                  </a:lnTo>
                  <a:lnTo>
                    <a:pt x="1068324" y="1389888"/>
                  </a:lnTo>
                  <a:lnTo>
                    <a:pt x="0" y="1389888"/>
                  </a:lnTo>
                  <a:lnTo>
                    <a:pt x="0" y="0"/>
                  </a:lnTo>
                  <a:close/>
                </a:path>
              </a:pathLst>
            </a:custGeom>
            <a:blipFill>
              <a:blip r:embed="rId2"/>
              <a:stretch>
                <a:fillRect r="5"/>
              </a:stretch>
            </a:blipFill>
          </p:spPr>
        </p:sp>
      </p:grpSp>
      <p:grpSp>
        <p:nvGrpSpPr>
          <p:cNvPr id="6" name="Group 6"/>
          <p:cNvGrpSpPr/>
          <p:nvPr/>
        </p:nvGrpSpPr>
        <p:grpSpPr>
          <a:xfrm>
            <a:off x="0" y="9532620"/>
            <a:ext cx="18287543" cy="754380"/>
            <a:chOff x="0" y="0"/>
            <a:chExt cx="24383390" cy="1005840"/>
          </a:xfrm>
        </p:grpSpPr>
        <p:sp>
          <p:nvSpPr>
            <p:cNvPr id="7" name="Freeform 7"/>
            <p:cNvSpPr/>
            <p:nvPr/>
          </p:nvSpPr>
          <p:spPr>
            <a:xfrm>
              <a:off x="0" y="0"/>
              <a:ext cx="24383364" cy="1005840"/>
            </a:xfrm>
            <a:custGeom>
              <a:avLst/>
              <a:gdLst/>
              <a:ahLst/>
              <a:cxnLst/>
              <a:rect l="l" t="t" r="r" b="b"/>
              <a:pathLst>
                <a:path w="24383364" h="1005840">
                  <a:moveTo>
                    <a:pt x="0" y="0"/>
                  </a:moveTo>
                  <a:lnTo>
                    <a:pt x="24383364" y="0"/>
                  </a:lnTo>
                  <a:lnTo>
                    <a:pt x="24383364" y="1005840"/>
                  </a:lnTo>
                  <a:lnTo>
                    <a:pt x="0" y="1005840"/>
                  </a:lnTo>
                  <a:close/>
                </a:path>
              </a:pathLst>
            </a:custGeom>
            <a:solidFill>
              <a:srgbClr val="052B35"/>
            </a:solidFill>
          </p:spPr>
        </p:sp>
      </p:grpSp>
      <p:grpSp>
        <p:nvGrpSpPr>
          <p:cNvPr id="8" name="Group 8"/>
          <p:cNvGrpSpPr/>
          <p:nvPr/>
        </p:nvGrpSpPr>
        <p:grpSpPr>
          <a:xfrm>
            <a:off x="3429000" y="9532620"/>
            <a:ext cx="11429543" cy="754380"/>
            <a:chOff x="0" y="0"/>
            <a:chExt cx="15239390" cy="1005840"/>
          </a:xfrm>
        </p:grpSpPr>
        <p:sp>
          <p:nvSpPr>
            <p:cNvPr id="9" name="Freeform 9"/>
            <p:cNvSpPr/>
            <p:nvPr/>
          </p:nvSpPr>
          <p:spPr>
            <a:xfrm>
              <a:off x="0" y="0"/>
              <a:ext cx="15239391" cy="1005840"/>
            </a:xfrm>
            <a:custGeom>
              <a:avLst/>
              <a:gdLst/>
              <a:ahLst/>
              <a:cxnLst/>
              <a:rect l="l" t="t" r="r" b="b"/>
              <a:pathLst>
                <a:path w="15239391" h="1005840">
                  <a:moveTo>
                    <a:pt x="0" y="0"/>
                  </a:moveTo>
                  <a:lnTo>
                    <a:pt x="15239391" y="0"/>
                  </a:lnTo>
                  <a:lnTo>
                    <a:pt x="15239391" y="1005840"/>
                  </a:lnTo>
                  <a:lnTo>
                    <a:pt x="0" y="1005840"/>
                  </a:lnTo>
                  <a:close/>
                </a:path>
              </a:pathLst>
            </a:custGeom>
            <a:blipFill>
              <a:blip r:embed="rId3">
                <a:alphaModFix amt="0"/>
              </a:blip>
              <a:stretch>
                <a:fillRect t="-245216" b="-245216"/>
              </a:stretch>
            </a:blipFill>
          </p:spPr>
        </p:sp>
        <p:sp>
          <p:nvSpPr>
            <p:cNvPr id="10" name="TextBox 10"/>
            <p:cNvSpPr txBox="1"/>
            <p:nvPr/>
          </p:nvSpPr>
          <p:spPr>
            <a:xfrm>
              <a:off x="0" y="-19050"/>
              <a:ext cx="15239390" cy="1024890"/>
            </a:xfrm>
            <a:prstGeom prst="rect">
              <a:avLst/>
            </a:prstGeom>
          </p:spPr>
          <p:txBody>
            <a:bodyPr lIns="0" tIns="0" rIns="0" bIns="0" rtlCol="0" anchor="ctr"/>
            <a:lstStyle/>
            <a:p>
              <a:pPr algn="ctr">
                <a:lnSpc>
                  <a:spcPts val="1889"/>
                </a:lnSpc>
              </a:pPr>
              <a:r>
                <a:rPr lang="en-US" sz="1575" spc="150">
                  <a:solidFill>
                    <a:srgbClr val="D3E6DD"/>
                  </a:solidFill>
                  <a:latin typeface="Calibri (MS)"/>
                  <a:ea typeface="Calibri (MS)"/>
                  <a:cs typeface="Calibri (MS)"/>
                  <a:sym typeface="Calibri (MS)"/>
                </a:rPr>
                <a:t>Genesis Ideathon – Pre-Ideathon Template</a:t>
              </a:r>
            </a:p>
          </p:txBody>
        </p:sp>
      </p:grpSp>
      <p:grpSp>
        <p:nvGrpSpPr>
          <p:cNvPr id="11" name="Group 11"/>
          <p:cNvGrpSpPr/>
          <p:nvPr/>
        </p:nvGrpSpPr>
        <p:grpSpPr>
          <a:xfrm>
            <a:off x="16888511" y="9614916"/>
            <a:ext cx="685800" cy="593903"/>
            <a:chOff x="0" y="0"/>
            <a:chExt cx="914400" cy="791870"/>
          </a:xfrm>
        </p:grpSpPr>
        <p:sp>
          <p:nvSpPr>
            <p:cNvPr id="12" name="Freeform 12"/>
            <p:cNvSpPr/>
            <p:nvPr/>
          </p:nvSpPr>
          <p:spPr>
            <a:xfrm>
              <a:off x="0" y="0"/>
              <a:ext cx="914400" cy="791845"/>
            </a:xfrm>
            <a:custGeom>
              <a:avLst/>
              <a:gdLst/>
              <a:ahLst/>
              <a:cxnLst/>
              <a:rect l="l" t="t" r="r" b="b"/>
              <a:pathLst>
                <a:path w="914400" h="791845">
                  <a:moveTo>
                    <a:pt x="0" y="395986"/>
                  </a:moveTo>
                  <a:lnTo>
                    <a:pt x="197993" y="0"/>
                  </a:lnTo>
                  <a:lnTo>
                    <a:pt x="716407" y="0"/>
                  </a:lnTo>
                  <a:lnTo>
                    <a:pt x="914400" y="395986"/>
                  </a:lnTo>
                  <a:lnTo>
                    <a:pt x="716407" y="791845"/>
                  </a:lnTo>
                  <a:lnTo>
                    <a:pt x="197993" y="791845"/>
                  </a:lnTo>
                  <a:close/>
                </a:path>
              </a:pathLst>
            </a:custGeom>
            <a:solidFill>
              <a:srgbClr val="7AC143"/>
            </a:solidFill>
          </p:spPr>
        </p:sp>
      </p:grpSp>
      <p:grpSp>
        <p:nvGrpSpPr>
          <p:cNvPr id="13" name="Group 13"/>
          <p:cNvGrpSpPr/>
          <p:nvPr/>
        </p:nvGrpSpPr>
        <p:grpSpPr>
          <a:xfrm>
            <a:off x="2160441" y="-185516"/>
            <a:ext cx="16127559" cy="1770098"/>
            <a:chOff x="0" y="0"/>
            <a:chExt cx="14996160" cy="1645920"/>
          </a:xfrm>
        </p:grpSpPr>
        <p:sp>
          <p:nvSpPr>
            <p:cNvPr id="14" name="Freeform 14"/>
            <p:cNvSpPr/>
            <p:nvPr/>
          </p:nvSpPr>
          <p:spPr>
            <a:xfrm>
              <a:off x="0" y="0"/>
              <a:ext cx="14996161" cy="1645920"/>
            </a:xfrm>
            <a:custGeom>
              <a:avLst/>
              <a:gdLst/>
              <a:ahLst/>
              <a:cxnLst/>
              <a:rect l="l" t="t" r="r" b="b"/>
              <a:pathLst>
                <a:path w="14996161" h="1645920">
                  <a:moveTo>
                    <a:pt x="0" y="0"/>
                  </a:moveTo>
                  <a:lnTo>
                    <a:pt x="14996161" y="0"/>
                  </a:lnTo>
                  <a:lnTo>
                    <a:pt x="14996161" y="1645920"/>
                  </a:lnTo>
                  <a:lnTo>
                    <a:pt x="0" y="1645920"/>
                  </a:lnTo>
                  <a:close/>
                </a:path>
              </a:pathLst>
            </a:custGeom>
            <a:blipFill>
              <a:blip r:embed="rId3">
                <a:alphaModFix amt="0"/>
              </a:blip>
              <a:stretch>
                <a:fillRect t="-127530" b="-127530"/>
              </a:stretch>
            </a:blipFill>
          </p:spPr>
        </p:sp>
        <p:sp>
          <p:nvSpPr>
            <p:cNvPr id="15" name="TextBox 15"/>
            <p:cNvSpPr txBox="1"/>
            <p:nvPr/>
          </p:nvSpPr>
          <p:spPr>
            <a:xfrm>
              <a:off x="0" y="-19050"/>
              <a:ext cx="14996160" cy="1664970"/>
            </a:xfrm>
            <a:prstGeom prst="rect">
              <a:avLst/>
            </a:prstGeom>
          </p:spPr>
          <p:txBody>
            <a:bodyPr lIns="0" tIns="0" rIns="0" bIns="0" rtlCol="0" anchor="ctr"/>
            <a:lstStyle/>
            <a:p>
              <a:pPr algn="ctr">
                <a:lnSpc>
                  <a:spcPts val="4320"/>
                </a:lnSpc>
              </a:pPr>
              <a:r>
                <a:rPr lang="en-US" sz="3600" b="1" spc="150">
                  <a:solidFill>
                    <a:srgbClr val="052B35"/>
                  </a:solidFill>
                  <a:latin typeface="Cambria Bold"/>
                  <a:ea typeface="Cambria Bold"/>
                  <a:cs typeface="Cambria Bold"/>
                  <a:sym typeface="Cambria Bold"/>
                </a:rPr>
                <a:t>INITIAL DIRECTION &amp; EXPECTED OUTCOME</a:t>
              </a:r>
            </a:p>
          </p:txBody>
        </p:sp>
      </p:grpSp>
      <p:grpSp>
        <p:nvGrpSpPr>
          <p:cNvPr id="16" name="Group 16"/>
          <p:cNvGrpSpPr/>
          <p:nvPr/>
        </p:nvGrpSpPr>
        <p:grpSpPr>
          <a:xfrm>
            <a:off x="450533" y="122872"/>
            <a:ext cx="3923347" cy="1248727"/>
            <a:chOff x="0" y="0"/>
            <a:chExt cx="5231130" cy="1664970"/>
          </a:xfrm>
        </p:grpSpPr>
        <p:sp>
          <p:nvSpPr>
            <p:cNvPr id="17" name="Freeform 17"/>
            <p:cNvSpPr/>
            <p:nvPr/>
          </p:nvSpPr>
          <p:spPr>
            <a:xfrm>
              <a:off x="0" y="0"/>
              <a:ext cx="5231130" cy="1664970"/>
            </a:xfrm>
            <a:custGeom>
              <a:avLst/>
              <a:gdLst/>
              <a:ahLst/>
              <a:cxnLst/>
              <a:rect l="l" t="t" r="r" b="b"/>
              <a:pathLst>
                <a:path w="5231130" h="1664970">
                  <a:moveTo>
                    <a:pt x="0" y="221996"/>
                  </a:moveTo>
                  <a:cubicBezTo>
                    <a:pt x="0" y="99441"/>
                    <a:pt x="99441" y="0"/>
                    <a:pt x="221996" y="0"/>
                  </a:cubicBezTo>
                  <a:lnTo>
                    <a:pt x="5009134" y="0"/>
                  </a:lnTo>
                  <a:cubicBezTo>
                    <a:pt x="5131689" y="0"/>
                    <a:pt x="5231130" y="99441"/>
                    <a:pt x="5231130" y="221996"/>
                  </a:cubicBezTo>
                  <a:lnTo>
                    <a:pt x="5231130" y="1442974"/>
                  </a:lnTo>
                  <a:cubicBezTo>
                    <a:pt x="5231130" y="1565529"/>
                    <a:pt x="5131689" y="1664970"/>
                    <a:pt x="5009134" y="1664970"/>
                  </a:cubicBezTo>
                  <a:lnTo>
                    <a:pt x="221996" y="1664970"/>
                  </a:lnTo>
                  <a:cubicBezTo>
                    <a:pt x="99441" y="1664970"/>
                    <a:pt x="0" y="1565529"/>
                    <a:pt x="0" y="1442974"/>
                  </a:cubicBezTo>
                  <a:close/>
                </a:path>
              </a:pathLst>
            </a:custGeom>
            <a:solidFill>
              <a:srgbClr val="FFFFFF"/>
            </a:solidFill>
            <a:ln w="14288" cap="sq">
              <a:solidFill>
                <a:srgbClr val="D3E6DD"/>
              </a:solidFill>
              <a:prstDash val="solid"/>
              <a:miter/>
            </a:ln>
          </p:spPr>
        </p:sp>
      </p:grpSp>
      <p:grpSp>
        <p:nvGrpSpPr>
          <p:cNvPr id="18" name="Group 18"/>
          <p:cNvGrpSpPr/>
          <p:nvPr/>
        </p:nvGrpSpPr>
        <p:grpSpPr>
          <a:xfrm>
            <a:off x="692086" y="403765"/>
            <a:ext cx="960692" cy="837248"/>
            <a:chOff x="0" y="0"/>
            <a:chExt cx="1280922" cy="1116330"/>
          </a:xfrm>
        </p:grpSpPr>
        <p:sp>
          <p:nvSpPr>
            <p:cNvPr id="19" name="Freeform 19"/>
            <p:cNvSpPr/>
            <p:nvPr/>
          </p:nvSpPr>
          <p:spPr>
            <a:xfrm>
              <a:off x="0" y="0"/>
              <a:ext cx="1280922" cy="1116330"/>
            </a:xfrm>
            <a:custGeom>
              <a:avLst/>
              <a:gdLst/>
              <a:ahLst/>
              <a:cxnLst/>
              <a:rect l="l" t="t" r="r" b="b"/>
              <a:pathLst>
                <a:path w="1280922" h="1116330">
                  <a:moveTo>
                    <a:pt x="0" y="558165"/>
                  </a:moveTo>
                  <a:lnTo>
                    <a:pt x="279019" y="0"/>
                  </a:lnTo>
                  <a:lnTo>
                    <a:pt x="1001776" y="0"/>
                  </a:lnTo>
                  <a:lnTo>
                    <a:pt x="1280922" y="558165"/>
                  </a:lnTo>
                  <a:lnTo>
                    <a:pt x="1001776" y="1116330"/>
                  </a:lnTo>
                  <a:lnTo>
                    <a:pt x="279019" y="1116330"/>
                  </a:lnTo>
                  <a:close/>
                </a:path>
              </a:pathLst>
            </a:custGeom>
            <a:solidFill>
              <a:srgbClr val="F3F8F5"/>
            </a:solidFill>
            <a:ln w="14288" cap="sq">
              <a:solidFill>
                <a:srgbClr val="D3E6DD"/>
              </a:solidFill>
              <a:prstDash val="solid"/>
              <a:miter/>
            </a:ln>
          </p:spPr>
        </p:sp>
      </p:grpSp>
      <p:grpSp>
        <p:nvGrpSpPr>
          <p:cNvPr id="20" name="Group 20"/>
          <p:cNvGrpSpPr/>
          <p:nvPr/>
        </p:nvGrpSpPr>
        <p:grpSpPr>
          <a:xfrm>
            <a:off x="898112" y="548640"/>
            <a:ext cx="548640" cy="548640"/>
            <a:chOff x="0" y="0"/>
            <a:chExt cx="731520" cy="731520"/>
          </a:xfrm>
        </p:grpSpPr>
        <p:sp>
          <p:nvSpPr>
            <p:cNvPr id="21" name="Freeform 21" descr="Team icon"/>
            <p:cNvSpPr/>
            <p:nvPr/>
          </p:nvSpPr>
          <p:spPr>
            <a:xfrm>
              <a:off x="0" y="0"/>
              <a:ext cx="731520" cy="731520"/>
            </a:xfrm>
            <a:custGeom>
              <a:avLst/>
              <a:gdLst/>
              <a:ahLst/>
              <a:cxnLst/>
              <a:rect l="l" t="t" r="r" b="b"/>
              <a:pathLst>
                <a:path w="731520" h="731520">
                  <a:moveTo>
                    <a:pt x="0" y="0"/>
                  </a:moveTo>
                  <a:lnTo>
                    <a:pt x="731520" y="0"/>
                  </a:lnTo>
                  <a:lnTo>
                    <a:pt x="731520" y="731520"/>
                  </a:lnTo>
                  <a:lnTo>
                    <a:pt x="0" y="731520"/>
                  </a:lnTo>
                  <a:lnTo>
                    <a:pt x="0" y="0"/>
                  </a:lnTo>
                  <a:close/>
                </a:path>
              </a:pathLst>
            </a:custGeom>
            <a:blipFill>
              <a:blip r:embed="rId4"/>
              <a:stretch>
                <a:fillRect/>
              </a:stretch>
            </a:blipFill>
          </p:spPr>
        </p:sp>
      </p:grpSp>
      <p:grpSp>
        <p:nvGrpSpPr>
          <p:cNvPr id="22" name="Group 22"/>
          <p:cNvGrpSpPr/>
          <p:nvPr/>
        </p:nvGrpSpPr>
        <p:grpSpPr>
          <a:xfrm>
            <a:off x="1732407" y="198596"/>
            <a:ext cx="2441448" cy="1042416"/>
            <a:chOff x="0" y="0"/>
            <a:chExt cx="3255264" cy="1389888"/>
          </a:xfrm>
        </p:grpSpPr>
        <p:sp>
          <p:nvSpPr>
            <p:cNvPr id="23" name="Freeform 23"/>
            <p:cNvSpPr/>
            <p:nvPr/>
          </p:nvSpPr>
          <p:spPr>
            <a:xfrm>
              <a:off x="0" y="0"/>
              <a:ext cx="3255264" cy="1389888"/>
            </a:xfrm>
            <a:custGeom>
              <a:avLst/>
              <a:gdLst/>
              <a:ahLst/>
              <a:cxnLst/>
              <a:rect l="l" t="t" r="r" b="b"/>
              <a:pathLst>
                <a:path w="3255264" h="1389888">
                  <a:moveTo>
                    <a:pt x="0" y="0"/>
                  </a:moveTo>
                  <a:lnTo>
                    <a:pt x="3255264" y="0"/>
                  </a:lnTo>
                  <a:lnTo>
                    <a:pt x="3255264" y="1389888"/>
                  </a:lnTo>
                  <a:lnTo>
                    <a:pt x="0" y="1389888"/>
                  </a:lnTo>
                  <a:close/>
                </a:path>
              </a:pathLst>
            </a:custGeom>
            <a:blipFill>
              <a:blip r:embed="rId3">
                <a:alphaModFix amt="0"/>
              </a:blip>
              <a:stretch>
                <a:fillRect l="-4781" r="-4781"/>
              </a:stretch>
            </a:blipFill>
          </p:spPr>
        </p:sp>
        <p:sp>
          <p:nvSpPr>
            <p:cNvPr id="24" name="TextBox 24"/>
            <p:cNvSpPr txBox="1"/>
            <p:nvPr/>
          </p:nvSpPr>
          <p:spPr>
            <a:xfrm>
              <a:off x="0" y="-28575"/>
              <a:ext cx="3255264" cy="1418463"/>
            </a:xfrm>
            <a:prstGeom prst="rect">
              <a:avLst/>
            </a:prstGeom>
          </p:spPr>
          <p:txBody>
            <a:bodyPr lIns="0" tIns="0" rIns="0" bIns="0" rtlCol="0" anchor="ctr"/>
            <a:lstStyle/>
            <a:p>
              <a:pPr algn="l">
                <a:lnSpc>
                  <a:spcPts val="1620"/>
                </a:lnSpc>
              </a:pPr>
              <a:r>
                <a:rPr lang="en-US" sz="1350" b="1" spc="449">
                  <a:solidFill>
                    <a:srgbClr val="5B6F6B"/>
                  </a:solidFill>
                  <a:latin typeface="Calibri (MS) Bold"/>
                  <a:ea typeface="Calibri (MS) Bold"/>
                  <a:cs typeface="Calibri (MS) Bold"/>
                  <a:sym typeface="Calibri (MS) Bold"/>
                </a:rPr>
                <a:t>TEAM</a:t>
              </a:r>
            </a:p>
            <a:p>
              <a:pPr algn="l">
                <a:lnSpc>
                  <a:spcPts val="2700"/>
                </a:lnSpc>
              </a:pPr>
              <a:r>
                <a:rPr lang="en-US" sz="2250" b="1" spc="749">
                  <a:solidFill>
                    <a:srgbClr val="026855"/>
                  </a:solidFill>
                  <a:latin typeface="Calibri (MS) Bold"/>
                  <a:ea typeface="Calibri (MS) Bold"/>
                  <a:cs typeface="Calibri (MS) Bold"/>
                  <a:sym typeface="Calibri (MS) Bold"/>
                </a:rPr>
                <a:t>INNOV4</a:t>
              </a:r>
            </a:p>
          </p:txBody>
        </p:sp>
      </p:grpSp>
      <p:grpSp>
        <p:nvGrpSpPr>
          <p:cNvPr id="25" name="Group 25"/>
          <p:cNvGrpSpPr/>
          <p:nvPr/>
        </p:nvGrpSpPr>
        <p:grpSpPr>
          <a:xfrm>
            <a:off x="16888511" y="9614916"/>
            <a:ext cx="685800" cy="593903"/>
            <a:chOff x="0" y="0"/>
            <a:chExt cx="914400" cy="791870"/>
          </a:xfrm>
        </p:grpSpPr>
        <p:sp>
          <p:nvSpPr>
            <p:cNvPr id="26" name="Freeform 26"/>
            <p:cNvSpPr/>
            <p:nvPr/>
          </p:nvSpPr>
          <p:spPr>
            <a:xfrm>
              <a:off x="0" y="0"/>
              <a:ext cx="914400" cy="791870"/>
            </a:xfrm>
            <a:custGeom>
              <a:avLst/>
              <a:gdLst/>
              <a:ahLst/>
              <a:cxnLst/>
              <a:rect l="l" t="t" r="r" b="b"/>
              <a:pathLst>
                <a:path w="914400" h="791870">
                  <a:moveTo>
                    <a:pt x="0" y="0"/>
                  </a:moveTo>
                  <a:lnTo>
                    <a:pt x="914400" y="0"/>
                  </a:lnTo>
                  <a:lnTo>
                    <a:pt x="914400" y="791870"/>
                  </a:lnTo>
                  <a:lnTo>
                    <a:pt x="0" y="791870"/>
                  </a:lnTo>
                  <a:close/>
                </a:path>
              </a:pathLst>
            </a:custGeom>
            <a:blipFill>
              <a:blip r:embed="rId3">
                <a:alphaModFix amt="0"/>
              </a:blip>
              <a:stretch>
                <a:fillRect l="-61110" r="-61110"/>
              </a:stretch>
            </a:blipFill>
          </p:spPr>
        </p:sp>
        <p:sp>
          <p:nvSpPr>
            <p:cNvPr id="27" name="TextBox 27"/>
            <p:cNvSpPr txBox="1"/>
            <p:nvPr/>
          </p:nvSpPr>
          <p:spPr>
            <a:xfrm>
              <a:off x="0" y="-28575"/>
              <a:ext cx="914400" cy="820445"/>
            </a:xfrm>
            <a:prstGeom prst="rect">
              <a:avLst/>
            </a:prstGeom>
          </p:spPr>
          <p:txBody>
            <a:bodyPr lIns="0" tIns="0" rIns="0" bIns="0" rtlCol="0" anchor="ctr"/>
            <a:lstStyle/>
            <a:p>
              <a:pPr algn="ctr">
                <a:lnSpc>
                  <a:spcPts val="1980"/>
                </a:lnSpc>
              </a:pPr>
              <a:r>
                <a:rPr lang="en-US" sz="1650" b="1">
                  <a:solidFill>
                    <a:srgbClr val="052B35"/>
                  </a:solidFill>
                  <a:latin typeface="Calibri (MS) Bold"/>
                  <a:ea typeface="Calibri (MS) Bold"/>
                  <a:cs typeface="Calibri (MS) Bold"/>
                  <a:sym typeface="Calibri (MS) Bold"/>
                </a:rPr>
                <a:t>8</a:t>
              </a:r>
            </a:p>
          </p:txBody>
        </p:sp>
      </p:grpSp>
      <p:grpSp>
        <p:nvGrpSpPr>
          <p:cNvPr id="28" name="Group 28"/>
          <p:cNvGrpSpPr/>
          <p:nvPr/>
        </p:nvGrpSpPr>
        <p:grpSpPr>
          <a:xfrm>
            <a:off x="5954119" y="1139380"/>
            <a:ext cx="8139389" cy="457581"/>
            <a:chOff x="0" y="0"/>
            <a:chExt cx="2143760" cy="120523"/>
          </a:xfrm>
        </p:grpSpPr>
        <p:sp>
          <p:nvSpPr>
            <p:cNvPr id="29" name="Freeform 29"/>
            <p:cNvSpPr/>
            <p:nvPr/>
          </p:nvSpPr>
          <p:spPr>
            <a:xfrm>
              <a:off x="12897" y="212"/>
              <a:ext cx="2117966" cy="120311"/>
            </a:xfrm>
            <a:custGeom>
              <a:avLst/>
              <a:gdLst/>
              <a:ahLst/>
              <a:cxnLst/>
              <a:rect l="l" t="t" r="r" b="b"/>
              <a:pathLst>
                <a:path w="2117966" h="120311">
                  <a:moveTo>
                    <a:pt x="1074196" y="211"/>
                  </a:moveTo>
                  <a:lnTo>
                    <a:pt x="1904624" y="23315"/>
                  </a:lnTo>
                  <a:cubicBezTo>
                    <a:pt x="1914735" y="23596"/>
                    <a:pt x="1924784" y="24992"/>
                    <a:pt x="1934589" y="27478"/>
                  </a:cubicBezTo>
                  <a:lnTo>
                    <a:pt x="2116111" y="73499"/>
                  </a:lnTo>
                  <a:cubicBezTo>
                    <a:pt x="2117281" y="73796"/>
                    <a:pt x="2118063" y="74897"/>
                    <a:pt x="2117956" y="76100"/>
                  </a:cubicBezTo>
                  <a:cubicBezTo>
                    <a:pt x="2117850" y="77302"/>
                    <a:pt x="2116888" y="78249"/>
                    <a:pt x="2115684" y="78336"/>
                  </a:cubicBezTo>
                  <a:lnTo>
                    <a:pt x="1549809" y="119214"/>
                  </a:lnTo>
                  <a:cubicBezTo>
                    <a:pt x="1539693" y="119945"/>
                    <a:pt x="1529554" y="120311"/>
                    <a:pt x="1519411" y="120311"/>
                  </a:cubicBezTo>
                  <a:lnTo>
                    <a:pt x="598555" y="120311"/>
                  </a:lnTo>
                  <a:cubicBezTo>
                    <a:pt x="588412" y="120311"/>
                    <a:pt x="578273" y="119945"/>
                    <a:pt x="568157" y="119214"/>
                  </a:cubicBezTo>
                  <a:lnTo>
                    <a:pt x="2282" y="78336"/>
                  </a:lnTo>
                  <a:cubicBezTo>
                    <a:pt x="1079" y="78249"/>
                    <a:pt x="116" y="77302"/>
                    <a:pt x="10" y="76100"/>
                  </a:cubicBezTo>
                  <a:cubicBezTo>
                    <a:pt x="-97" y="74897"/>
                    <a:pt x="685" y="73796"/>
                    <a:pt x="1855" y="73499"/>
                  </a:cubicBezTo>
                  <a:lnTo>
                    <a:pt x="183377" y="27478"/>
                  </a:lnTo>
                  <a:cubicBezTo>
                    <a:pt x="193182" y="24992"/>
                    <a:pt x="203231" y="23596"/>
                    <a:pt x="213342" y="23315"/>
                  </a:cubicBezTo>
                  <a:lnTo>
                    <a:pt x="1043770" y="211"/>
                  </a:lnTo>
                  <a:cubicBezTo>
                    <a:pt x="1053910" y="-71"/>
                    <a:pt x="1064056" y="-71"/>
                    <a:pt x="1074196" y="211"/>
                  </a:cubicBezTo>
                  <a:close/>
                </a:path>
              </a:pathLst>
            </a:custGeom>
            <a:solidFill>
              <a:srgbClr val="F2D868">
                <a:alpha val="74902"/>
              </a:srgbClr>
            </a:solidFill>
          </p:spPr>
        </p:sp>
        <p:sp>
          <p:nvSpPr>
            <p:cNvPr id="30" name="TextBox 30"/>
            <p:cNvSpPr txBox="1"/>
            <p:nvPr/>
          </p:nvSpPr>
          <p:spPr>
            <a:xfrm>
              <a:off x="330259" y="1583"/>
              <a:ext cx="1483241" cy="102424"/>
            </a:xfrm>
            <a:prstGeom prst="rect">
              <a:avLst/>
            </a:prstGeom>
          </p:spPr>
          <p:txBody>
            <a:bodyPr lIns="50800" tIns="50800" rIns="50800" bIns="50800" rtlCol="0" anchor="ctr"/>
            <a:lstStyle/>
            <a:p>
              <a:pPr algn="ctr">
                <a:lnSpc>
                  <a:spcPts val="1889"/>
                </a:lnSpc>
              </a:pPr>
              <a:endParaRPr/>
            </a:p>
          </p:txBody>
        </p:sp>
      </p:grpSp>
      <p:grpSp>
        <p:nvGrpSpPr>
          <p:cNvPr id="31" name="Group 31"/>
          <p:cNvGrpSpPr/>
          <p:nvPr/>
        </p:nvGrpSpPr>
        <p:grpSpPr>
          <a:xfrm>
            <a:off x="7878801" y="2649620"/>
            <a:ext cx="3093999" cy="3408280"/>
            <a:chOff x="0" y="0"/>
            <a:chExt cx="812800" cy="895362"/>
          </a:xfrm>
        </p:grpSpPr>
        <p:sp>
          <p:nvSpPr>
            <p:cNvPr id="32" name="Freeform 32"/>
            <p:cNvSpPr/>
            <p:nvPr/>
          </p:nvSpPr>
          <p:spPr>
            <a:xfrm>
              <a:off x="0" y="0"/>
              <a:ext cx="812800" cy="895362"/>
            </a:xfrm>
            <a:custGeom>
              <a:avLst/>
              <a:gdLst/>
              <a:ahLst/>
              <a:cxnLst/>
              <a:rect l="l" t="t" r="r" b="b"/>
              <a:pathLst>
                <a:path w="812800" h="895362">
                  <a:moveTo>
                    <a:pt x="0" y="0"/>
                  </a:moveTo>
                  <a:lnTo>
                    <a:pt x="812800" y="0"/>
                  </a:lnTo>
                  <a:lnTo>
                    <a:pt x="812800" y="895362"/>
                  </a:lnTo>
                  <a:lnTo>
                    <a:pt x="0" y="895362"/>
                  </a:lnTo>
                  <a:close/>
                </a:path>
              </a:pathLst>
            </a:custGeom>
            <a:solidFill>
              <a:srgbClr val="FBF2CC"/>
            </a:solidFill>
          </p:spPr>
        </p:sp>
        <p:sp>
          <p:nvSpPr>
            <p:cNvPr id="33" name="TextBox 33"/>
            <p:cNvSpPr txBox="1"/>
            <p:nvPr/>
          </p:nvSpPr>
          <p:spPr>
            <a:xfrm>
              <a:off x="0" y="-19050"/>
              <a:ext cx="812800" cy="914412"/>
            </a:xfrm>
            <a:prstGeom prst="rect">
              <a:avLst/>
            </a:prstGeom>
          </p:spPr>
          <p:txBody>
            <a:bodyPr lIns="50800" tIns="50800" rIns="50800" bIns="50800" rtlCol="0" anchor="ctr"/>
            <a:lstStyle/>
            <a:p>
              <a:pPr algn="ctr">
                <a:lnSpc>
                  <a:spcPts val="1889"/>
                </a:lnSpc>
              </a:pPr>
              <a:endParaRPr/>
            </a:p>
          </p:txBody>
        </p:sp>
      </p:grpSp>
      <p:grpSp>
        <p:nvGrpSpPr>
          <p:cNvPr id="34" name="Group 34"/>
          <p:cNvGrpSpPr/>
          <p:nvPr/>
        </p:nvGrpSpPr>
        <p:grpSpPr>
          <a:xfrm>
            <a:off x="4173855" y="2619368"/>
            <a:ext cx="3093999" cy="3408280"/>
            <a:chOff x="0" y="0"/>
            <a:chExt cx="812800" cy="895362"/>
          </a:xfrm>
        </p:grpSpPr>
        <p:sp>
          <p:nvSpPr>
            <p:cNvPr id="35" name="Freeform 35"/>
            <p:cNvSpPr/>
            <p:nvPr/>
          </p:nvSpPr>
          <p:spPr>
            <a:xfrm>
              <a:off x="0" y="0"/>
              <a:ext cx="812800" cy="895362"/>
            </a:xfrm>
            <a:custGeom>
              <a:avLst/>
              <a:gdLst/>
              <a:ahLst/>
              <a:cxnLst/>
              <a:rect l="l" t="t" r="r" b="b"/>
              <a:pathLst>
                <a:path w="812800" h="895362">
                  <a:moveTo>
                    <a:pt x="0" y="0"/>
                  </a:moveTo>
                  <a:lnTo>
                    <a:pt x="812800" y="0"/>
                  </a:lnTo>
                  <a:lnTo>
                    <a:pt x="812800" y="895362"/>
                  </a:lnTo>
                  <a:lnTo>
                    <a:pt x="0" y="895362"/>
                  </a:lnTo>
                  <a:close/>
                </a:path>
              </a:pathLst>
            </a:custGeom>
            <a:solidFill>
              <a:srgbClr val="FBF2CC"/>
            </a:solidFill>
          </p:spPr>
        </p:sp>
        <p:sp>
          <p:nvSpPr>
            <p:cNvPr id="36" name="TextBox 36"/>
            <p:cNvSpPr txBox="1"/>
            <p:nvPr/>
          </p:nvSpPr>
          <p:spPr>
            <a:xfrm>
              <a:off x="0" y="-19050"/>
              <a:ext cx="812800" cy="914412"/>
            </a:xfrm>
            <a:prstGeom prst="rect">
              <a:avLst/>
            </a:prstGeom>
          </p:spPr>
          <p:txBody>
            <a:bodyPr lIns="50800" tIns="50800" rIns="50800" bIns="50800" rtlCol="0" anchor="ctr"/>
            <a:lstStyle/>
            <a:p>
              <a:pPr algn="ctr">
                <a:lnSpc>
                  <a:spcPts val="1889"/>
                </a:lnSpc>
              </a:pPr>
              <a:endParaRPr/>
            </a:p>
          </p:txBody>
        </p:sp>
      </p:grpSp>
      <p:grpSp>
        <p:nvGrpSpPr>
          <p:cNvPr id="37" name="Group 37"/>
          <p:cNvGrpSpPr/>
          <p:nvPr/>
        </p:nvGrpSpPr>
        <p:grpSpPr>
          <a:xfrm>
            <a:off x="692086" y="2619368"/>
            <a:ext cx="3093999" cy="3408280"/>
            <a:chOff x="0" y="0"/>
            <a:chExt cx="812800" cy="895362"/>
          </a:xfrm>
        </p:grpSpPr>
        <p:sp>
          <p:nvSpPr>
            <p:cNvPr id="38" name="Freeform 38"/>
            <p:cNvSpPr/>
            <p:nvPr/>
          </p:nvSpPr>
          <p:spPr>
            <a:xfrm>
              <a:off x="0" y="0"/>
              <a:ext cx="812800" cy="895362"/>
            </a:xfrm>
            <a:custGeom>
              <a:avLst/>
              <a:gdLst/>
              <a:ahLst/>
              <a:cxnLst/>
              <a:rect l="l" t="t" r="r" b="b"/>
              <a:pathLst>
                <a:path w="812800" h="895362">
                  <a:moveTo>
                    <a:pt x="0" y="0"/>
                  </a:moveTo>
                  <a:lnTo>
                    <a:pt x="812800" y="0"/>
                  </a:lnTo>
                  <a:lnTo>
                    <a:pt x="812800" y="895362"/>
                  </a:lnTo>
                  <a:lnTo>
                    <a:pt x="0" y="895362"/>
                  </a:lnTo>
                  <a:close/>
                </a:path>
              </a:pathLst>
            </a:custGeom>
            <a:solidFill>
              <a:srgbClr val="FBF2CC"/>
            </a:solidFill>
          </p:spPr>
        </p:sp>
        <p:sp>
          <p:nvSpPr>
            <p:cNvPr id="39" name="TextBox 39"/>
            <p:cNvSpPr txBox="1"/>
            <p:nvPr/>
          </p:nvSpPr>
          <p:spPr>
            <a:xfrm>
              <a:off x="0" y="-19050"/>
              <a:ext cx="812800" cy="914412"/>
            </a:xfrm>
            <a:prstGeom prst="rect">
              <a:avLst/>
            </a:prstGeom>
          </p:spPr>
          <p:txBody>
            <a:bodyPr lIns="50800" tIns="50800" rIns="50800" bIns="50800" rtlCol="0" anchor="ctr"/>
            <a:lstStyle/>
            <a:p>
              <a:pPr algn="ctr">
                <a:lnSpc>
                  <a:spcPts val="1889"/>
                </a:lnSpc>
              </a:pPr>
              <a:endParaRPr/>
            </a:p>
          </p:txBody>
        </p:sp>
      </p:grpSp>
      <p:sp>
        <p:nvSpPr>
          <p:cNvPr id="40" name="Freeform 40"/>
          <p:cNvSpPr/>
          <p:nvPr/>
        </p:nvSpPr>
        <p:spPr>
          <a:xfrm>
            <a:off x="1732407" y="3136056"/>
            <a:ext cx="912747" cy="529393"/>
          </a:xfrm>
          <a:custGeom>
            <a:avLst/>
            <a:gdLst/>
            <a:ahLst/>
            <a:cxnLst/>
            <a:rect l="l" t="t" r="r" b="b"/>
            <a:pathLst>
              <a:path w="912747" h="529393">
                <a:moveTo>
                  <a:pt x="0" y="0"/>
                </a:moveTo>
                <a:lnTo>
                  <a:pt x="912747" y="0"/>
                </a:lnTo>
                <a:lnTo>
                  <a:pt x="912747" y="529393"/>
                </a:lnTo>
                <a:lnTo>
                  <a:pt x="0" y="529393"/>
                </a:lnTo>
                <a:lnTo>
                  <a:pt x="0" y="0"/>
                </a:lnTo>
                <a:close/>
              </a:path>
            </a:pathLst>
          </a:custGeom>
          <a:blipFill>
            <a:blip>
              <a:extLst>
                <a:ext uri="{96DAC541-7B7A-43D3-8B79-37D633B846F1}">
                  <asvg:svgBlip xmlns:asvg="http://schemas.microsoft.com/office/drawing/2016/SVG/main" r:embed="rId5"/>
                </a:ext>
              </a:extLst>
            </a:blip>
            <a:stretch>
              <a:fillRect/>
            </a:stretch>
          </a:blipFill>
        </p:spPr>
      </p:sp>
      <p:sp>
        <p:nvSpPr>
          <p:cNvPr id="41" name="Freeform 41"/>
          <p:cNvSpPr/>
          <p:nvPr/>
        </p:nvSpPr>
        <p:spPr>
          <a:xfrm>
            <a:off x="5384314" y="3136056"/>
            <a:ext cx="673082" cy="504811"/>
          </a:xfrm>
          <a:custGeom>
            <a:avLst/>
            <a:gdLst/>
            <a:ahLst/>
            <a:cxnLst/>
            <a:rect l="l" t="t" r="r" b="b"/>
            <a:pathLst>
              <a:path w="673082" h="504811">
                <a:moveTo>
                  <a:pt x="0" y="0"/>
                </a:moveTo>
                <a:lnTo>
                  <a:pt x="673081" y="0"/>
                </a:lnTo>
                <a:lnTo>
                  <a:pt x="673081" y="504811"/>
                </a:lnTo>
                <a:lnTo>
                  <a:pt x="0" y="504811"/>
                </a:lnTo>
                <a:lnTo>
                  <a:pt x="0" y="0"/>
                </a:lnTo>
                <a:close/>
              </a:path>
            </a:pathLst>
          </a:custGeom>
          <a:blipFill>
            <a:blip>
              <a:extLst>
                <a:ext uri="{96DAC541-7B7A-43D3-8B79-37D633B846F1}">
                  <asvg:svgBlip xmlns:asvg="http://schemas.microsoft.com/office/drawing/2016/SVG/main" r:embed="rId6"/>
                </a:ext>
              </a:extLst>
            </a:blip>
            <a:stretch>
              <a:fillRect/>
            </a:stretch>
          </a:blipFill>
        </p:spPr>
      </p:sp>
      <p:sp>
        <p:nvSpPr>
          <p:cNvPr id="42" name="Freeform 42"/>
          <p:cNvSpPr/>
          <p:nvPr/>
        </p:nvSpPr>
        <p:spPr>
          <a:xfrm>
            <a:off x="8868054" y="3283409"/>
            <a:ext cx="601626" cy="589593"/>
          </a:xfrm>
          <a:custGeom>
            <a:avLst/>
            <a:gdLst/>
            <a:ahLst/>
            <a:cxnLst/>
            <a:rect l="l" t="t" r="r" b="b"/>
            <a:pathLst>
              <a:path w="601626" h="589593">
                <a:moveTo>
                  <a:pt x="0" y="0"/>
                </a:moveTo>
                <a:lnTo>
                  <a:pt x="601626" y="0"/>
                </a:lnTo>
                <a:lnTo>
                  <a:pt x="601626" y="589594"/>
                </a:lnTo>
                <a:lnTo>
                  <a:pt x="0" y="589594"/>
                </a:lnTo>
                <a:lnTo>
                  <a:pt x="0" y="0"/>
                </a:lnTo>
                <a:close/>
              </a:path>
            </a:pathLst>
          </a:custGeom>
          <a:blipFill>
            <a:blip>
              <a:extLst>
                <a:ext uri="{96DAC541-7B7A-43D3-8B79-37D633B846F1}">
                  <asvg:svgBlip xmlns:asvg="http://schemas.microsoft.com/office/drawing/2016/SVG/main" r:embed="rId7"/>
                </a:ext>
              </a:extLst>
            </a:blip>
            <a:stretch>
              <a:fillRect/>
            </a:stretch>
          </a:blipFill>
        </p:spPr>
      </p:sp>
      <p:sp>
        <p:nvSpPr>
          <p:cNvPr id="43" name="AutoShape 43"/>
          <p:cNvSpPr/>
          <p:nvPr/>
        </p:nvSpPr>
        <p:spPr>
          <a:xfrm flipH="1">
            <a:off x="11277488" y="2384620"/>
            <a:ext cx="0" cy="6448064"/>
          </a:xfrm>
          <a:prstGeom prst="line">
            <a:avLst/>
          </a:prstGeom>
          <a:ln w="38100" cap="flat">
            <a:solidFill>
              <a:srgbClr val="000000"/>
            </a:solidFill>
            <a:prstDash val="solid"/>
            <a:headEnd type="diamond" w="lg" len="lg"/>
            <a:tailEnd type="diamond" w="lg" len="lg"/>
          </a:ln>
        </p:spPr>
      </p:sp>
      <p:grpSp>
        <p:nvGrpSpPr>
          <p:cNvPr id="44" name="Group 44"/>
          <p:cNvGrpSpPr/>
          <p:nvPr/>
        </p:nvGrpSpPr>
        <p:grpSpPr>
          <a:xfrm>
            <a:off x="11629913" y="3136056"/>
            <a:ext cx="6398349" cy="5658353"/>
            <a:chOff x="0" y="0"/>
            <a:chExt cx="1685162" cy="1490266"/>
          </a:xfrm>
        </p:grpSpPr>
        <p:sp>
          <p:nvSpPr>
            <p:cNvPr id="45" name="Freeform 45"/>
            <p:cNvSpPr/>
            <p:nvPr/>
          </p:nvSpPr>
          <p:spPr>
            <a:xfrm>
              <a:off x="0" y="0"/>
              <a:ext cx="1685162" cy="1490266"/>
            </a:xfrm>
            <a:custGeom>
              <a:avLst/>
              <a:gdLst/>
              <a:ahLst/>
              <a:cxnLst/>
              <a:rect l="l" t="t" r="r" b="b"/>
              <a:pathLst>
                <a:path w="1685162" h="1490266">
                  <a:moveTo>
                    <a:pt x="61709" y="0"/>
                  </a:moveTo>
                  <a:lnTo>
                    <a:pt x="1623453" y="0"/>
                  </a:lnTo>
                  <a:cubicBezTo>
                    <a:pt x="1657534" y="0"/>
                    <a:pt x="1685162" y="27628"/>
                    <a:pt x="1685162" y="61709"/>
                  </a:cubicBezTo>
                  <a:lnTo>
                    <a:pt x="1685162" y="1428557"/>
                  </a:lnTo>
                  <a:cubicBezTo>
                    <a:pt x="1685162" y="1462638"/>
                    <a:pt x="1657534" y="1490266"/>
                    <a:pt x="1623453" y="1490266"/>
                  </a:cubicBezTo>
                  <a:lnTo>
                    <a:pt x="61709" y="1490266"/>
                  </a:lnTo>
                  <a:cubicBezTo>
                    <a:pt x="27628" y="1490266"/>
                    <a:pt x="0" y="1462638"/>
                    <a:pt x="0" y="1428557"/>
                  </a:cubicBezTo>
                  <a:lnTo>
                    <a:pt x="0" y="61709"/>
                  </a:lnTo>
                  <a:cubicBezTo>
                    <a:pt x="0" y="27628"/>
                    <a:pt x="27628" y="0"/>
                    <a:pt x="61709" y="0"/>
                  </a:cubicBezTo>
                  <a:close/>
                </a:path>
              </a:pathLst>
            </a:custGeom>
            <a:solidFill>
              <a:srgbClr val="CCDED5"/>
            </a:solidFill>
          </p:spPr>
        </p:sp>
        <p:sp>
          <p:nvSpPr>
            <p:cNvPr id="46" name="TextBox 46"/>
            <p:cNvSpPr txBox="1"/>
            <p:nvPr/>
          </p:nvSpPr>
          <p:spPr>
            <a:xfrm>
              <a:off x="0" y="-19050"/>
              <a:ext cx="1685162" cy="1509316"/>
            </a:xfrm>
            <a:prstGeom prst="rect">
              <a:avLst/>
            </a:prstGeom>
          </p:spPr>
          <p:txBody>
            <a:bodyPr lIns="50800" tIns="50800" rIns="50800" bIns="50800" rtlCol="0" anchor="ctr"/>
            <a:lstStyle/>
            <a:p>
              <a:pPr algn="ctr">
                <a:lnSpc>
                  <a:spcPts val="1889"/>
                </a:lnSpc>
              </a:pPr>
              <a:endParaRPr/>
            </a:p>
          </p:txBody>
        </p:sp>
      </p:grpSp>
      <p:grpSp>
        <p:nvGrpSpPr>
          <p:cNvPr id="47" name="Group 47"/>
          <p:cNvGrpSpPr/>
          <p:nvPr/>
        </p:nvGrpSpPr>
        <p:grpSpPr>
          <a:xfrm>
            <a:off x="261996" y="6770599"/>
            <a:ext cx="6903109" cy="2023810"/>
            <a:chOff x="0" y="0"/>
            <a:chExt cx="1818103" cy="533020"/>
          </a:xfrm>
        </p:grpSpPr>
        <p:sp>
          <p:nvSpPr>
            <p:cNvPr id="48" name="Freeform 48"/>
            <p:cNvSpPr/>
            <p:nvPr/>
          </p:nvSpPr>
          <p:spPr>
            <a:xfrm>
              <a:off x="0" y="0"/>
              <a:ext cx="1818103" cy="533020"/>
            </a:xfrm>
            <a:custGeom>
              <a:avLst/>
              <a:gdLst/>
              <a:ahLst/>
              <a:cxnLst/>
              <a:rect l="l" t="t" r="r" b="b"/>
              <a:pathLst>
                <a:path w="1818103" h="533020">
                  <a:moveTo>
                    <a:pt x="14580" y="0"/>
                  </a:moveTo>
                  <a:lnTo>
                    <a:pt x="1803523" y="0"/>
                  </a:lnTo>
                  <a:cubicBezTo>
                    <a:pt x="1811575" y="0"/>
                    <a:pt x="1818103" y="6528"/>
                    <a:pt x="1818103" y="14580"/>
                  </a:cubicBezTo>
                  <a:lnTo>
                    <a:pt x="1818103" y="518440"/>
                  </a:lnTo>
                  <a:cubicBezTo>
                    <a:pt x="1818103" y="526492"/>
                    <a:pt x="1811575" y="533020"/>
                    <a:pt x="1803523" y="533020"/>
                  </a:cubicBezTo>
                  <a:lnTo>
                    <a:pt x="14580" y="533020"/>
                  </a:lnTo>
                  <a:cubicBezTo>
                    <a:pt x="6528" y="533020"/>
                    <a:pt x="0" y="526492"/>
                    <a:pt x="0" y="518440"/>
                  </a:cubicBezTo>
                  <a:lnTo>
                    <a:pt x="0" y="14580"/>
                  </a:lnTo>
                  <a:cubicBezTo>
                    <a:pt x="0" y="6528"/>
                    <a:pt x="6528" y="0"/>
                    <a:pt x="14580" y="0"/>
                  </a:cubicBezTo>
                  <a:close/>
                </a:path>
              </a:pathLst>
            </a:custGeom>
            <a:solidFill>
              <a:srgbClr val="CCDED5"/>
            </a:solidFill>
          </p:spPr>
        </p:sp>
        <p:sp>
          <p:nvSpPr>
            <p:cNvPr id="49" name="TextBox 49"/>
            <p:cNvSpPr txBox="1"/>
            <p:nvPr/>
          </p:nvSpPr>
          <p:spPr>
            <a:xfrm>
              <a:off x="0" y="-19050"/>
              <a:ext cx="1818103" cy="552070"/>
            </a:xfrm>
            <a:prstGeom prst="rect">
              <a:avLst/>
            </a:prstGeom>
          </p:spPr>
          <p:txBody>
            <a:bodyPr lIns="50800" tIns="50800" rIns="50800" bIns="50800" rtlCol="0" anchor="ctr"/>
            <a:lstStyle/>
            <a:p>
              <a:pPr algn="ctr">
                <a:lnSpc>
                  <a:spcPts val="1889"/>
                </a:lnSpc>
              </a:pPr>
              <a:endParaRPr/>
            </a:p>
          </p:txBody>
        </p:sp>
      </p:grpSp>
      <p:sp>
        <p:nvSpPr>
          <p:cNvPr id="50" name="AutoShape 50"/>
          <p:cNvSpPr/>
          <p:nvPr/>
        </p:nvSpPr>
        <p:spPr>
          <a:xfrm>
            <a:off x="926898" y="6451941"/>
            <a:ext cx="9252671" cy="0"/>
          </a:xfrm>
          <a:prstGeom prst="line">
            <a:avLst/>
          </a:prstGeom>
          <a:ln w="38100" cap="flat">
            <a:solidFill>
              <a:srgbClr val="000000"/>
            </a:solidFill>
            <a:prstDash val="solid"/>
            <a:headEnd type="diamond" w="lg" len="lg"/>
            <a:tailEnd type="diamond" w="lg" len="lg"/>
          </a:ln>
        </p:spPr>
      </p:sp>
      <p:sp>
        <p:nvSpPr>
          <p:cNvPr id="51" name="Freeform 51"/>
          <p:cNvSpPr/>
          <p:nvPr/>
        </p:nvSpPr>
        <p:spPr>
          <a:xfrm>
            <a:off x="7680857" y="6594816"/>
            <a:ext cx="3165814" cy="2849232"/>
          </a:xfrm>
          <a:custGeom>
            <a:avLst/>
            <a:gdLst/>
            <a:ahLst/>
            <a:cxnLst/>
            <a:rect l="l" t="t" r="r" b="b"/>
            <a:pathLst>
              <a:path w="3165814" h="2849232">
                <a:moveTo>
                  <a:pt x="0" y="0"/>
                </a:moveTo>
                <a:lnTo>
                  <a:pt x="3165814" y="0"/>
                </a:lnTo>
                <a:lnTo>
                  <a:pt x="3165814" y="2849232"/>
                </a:lnTo>
                <a:lnTo>
                  <a:pt x="0" y="2849232"/>
                </a:lnTo>
                <a:lnTo>
                  <a:pt x="0" y="0"/>
                </a:lnTo>
                <a:close/>
              </a:path>
            </a:pathLst>
          </a:custGeom>
          <a:blipFill>
            <a:blip>
              <a:extLst>
                <a:ext uri="{96DAC541-7B7A-43D3-8B79-37D633B846F1}">
                  <asvg:svgBlip xmlns:asvg="http://schemas.microsoft.com/office/drawing/2016/SVG/main" r:embed="rId8"/>
                </a:ext>
              </a:extLst>
            </a:blip>
            <a:stretch>
              <a:fillRect/>
            </a:stretch>
          </a:blipFill>
        </p:spPr>
      </p:sp>
      <p:sp>
        <p:nvSpPr>
          <p:cNvPr id="52" name="TextBox 52"/>
          <p:cNvSpPr txBox="1"/>
          <p:nvPr/>
        </p:nvSpPr>
        <p:spPr>
          <a:xfrm>
            <a:off x="6148091" y="1129855"/>
            <a:ext cx="7751445" cy="419100"/>
          </a:xfrm>
          <a:prstGeom prst="rect">
            <a:avLst/>
          </a:prstGeom>
        </p:spPr>
        <p:txBody>
          <a:bodyPr lIns="0" tIns="0" rIns="0" bIns="0" rtlCol="0" anchor="t">
            <a:spAutoFit/>
          </a:bodyPr>
          <a:lstStyle/>
          <a:p>
            <a:pPr algn="ctr">
              <a:lnSpc>
                <a:spcPts val="3249"/>
              </a:lnSpc>
              <a:spcBef>
                <a:spcPct val="0"/>
              </a:spcBef>
            </a:pPr>
            <a:r>
              <a:rPr lang="en-US" sz="2707" spc="257">
                <a:solidFill>
                  <a:srgbClr val="000000"/>
                </a:solidFill>
                <a:latin typeface="Glacial Indifference"/>
                <a:ea typeface="Glacial Indifference"/>
                <a:cs typeface="Glacial Indifference"/>
                <a:sym typeface="Glacial Indifference"/>
              </a:rPr>
              <a:t>“Rebuild with the next disaster in the mind”</a:t>
            </a:r>
          </a:p>
        </p:txBody>
      </p:sp>
      <p:sp>
        <p:nvSpPr>
          <p:cNvPr id="53" name="TextBox 53"/>
          <p:cNvSpPr txBox="1"/>
          <p:nvPr/>
        </p:nvSpPr>
        <p:spPr>
          <a:xfrm>
            <a:off x="414339" y="1705369"/>
            <a:ext cx="4461629" cy="798195"/>
          </a:xfrm>
          <a:prstGeom prst="rect">
            <a:avLst/>
          </a:prstGeom>
        </p:spPr>
        <p:txBody>
          <a:bodyPr lIns="0" tIns="0" rIns="0" bIns="0" rtlCol="0" anchor="t">
            <a:spAutoFit/>
          </a:bodyPr>
          <a:lstStyle/>
          <a:p>
            <a:pPr algn="ctr">
              <a:lnSpc>
                <a:spcPts val="6295"/>
              </a:lnSpc>
              <a:spcBef>
                <a:spcPct val="0"/>
              </a:spcBef>
            </a:pPr>
            <a:r>
              <a:rPr lang="en-US" sz="5246" b="1" spc="499">
                <a:solidFill>
                  <a:srgbClr val="000000"/>
                </a:solidFill>
                <a:latin typeface="Cooper BT Bold"/>
                <a:ea typeface="Cooper BT Bold"/>
                <a:cs typeface="Cooper BT Bold"/>
                <a:sym typeface="Cooper BT Bold"/>
              </a:rPr>
              <a:t>OUR PLAN </a:t>
            </a:r>
          </a:p>
        </p:txBody>
      </p:sp>
      <p:sp>
        <p:nvSpPr>
          <p:cNvPr id="54" name="TextBox 54"/>
          <p:cNvSpPr txBox="1"/>
          <p:nvPr/>
        </p:nvSpPr>
        <p:spPr>
          <a:xfrm>
            <a:off x="900568" y="2781693"/>
            <a:ext cx="2806562" cy="307777"/>
          </a:xfrm>
          <a:prstGeom prst="rect">
            <a:avLst/>
          </a:prstGeom>
        </p:spPr>
        <p:txBody>
          <a:bodyPr wrap="square" lIns="0" tIns="0" rIns="0" bIns="0" rtlCol="0" anchor="t">
            <a:spAutoFit/>
          </a:bodyPr>
          <a:lstStyle/>
          <a:p>
            <a:pPr marL="438020" lvl="1" indent="-219010" algn="l">
              <a:lnSpc>
                <a:spcPts val="2434"/>
              </a:lnSpc>
              <a:spcBef>
                <a:spcPct val="0"/>
              </a:spcBef>
              <a:buAutoNum type="arabicPeriod"/>
            </a:pPr>
            <a:r>
              <a:rPr lang="en-US" sz="2028" spc="193" dirty="0">
                <a:solidFill>
                  <a:srgbClr val="000000"/>
                </a:solidFill>
                <a:latin typeface="Times New Roman MT"/>
                <a:ea typeface="Times New Roman MT"/>
                <a:cs typeface="Times New Roman MT"/>
                <a:sym typeface="Times New Roman MT"/>
              </a:rPr>
              <a:t>INVESTIGATE</a:t>
            </a:r>
          </a:p>
        </p:txBody>
      </p:sp>
      <p:sp>
        <p:nvSpPr>
          <p:cNvPr id="55" name="TextBox 55"/>
          <p:cNvSpPr txBox="1"/>
          <p:nvPr/>
        </p:nvSpPr>
        <p:spPr>
          <a:xfrm>
            <a:off x="4719360" y="2774105"/>
            <a:ext cx="2291040" cy="320601"/>
          </a:xfrm>
          <a:prstGeom prst="rect">
            <a:avLst/>
          </a:prstGeom>
        </p:spPr>
        <p:txBody>
          <a:bodyPr wrap="square" lIns="0" tIns="0" rIns="0" bIns="0" rtlCol="0" anchor="t">
            <a:spAutoFit/>
          </a:bodyPr>
          <a:lstStyle/>
          <a:p>
            <a:pPr marL="225139" lvl="1" algn="l">
              <a:lnSpc>
                <a:spcPts val="2502"/>
              </a:lnSpc>
              <a:spcBef>
                <a:spcPct val="0"/>
              </a:spcBef>
            </a:pPr>
            <a:r>
              <a:rPr lang="en-US" sz="2085" spc="198" dirty="0">
                <a:solidFill>
                  <a:srgbClr val="000000"/>
                </a:solidFill>
                <a:latin typeface="Times New Roman MT"/>
                <a:ea typeface="Times New Roman MT"/>
                <a:cs typeface="Times New Roman MT"/>
                <a:sym typeface="Times New Roman MT"/>
              </a:rPr>
              <a:t>2.COMPARE</a:t>
            </a:r>
          </a:p>
        </p:txBody>
      </p:sp>
      <p:sp>
        <p:nvSpPr>
          <p:cNvPr id="56" name="TextBox 56"/>
          <p:cNvSpPr txBox="1"/>
          <p:nvPr/>
        </p:nvSpPr>
        <p:spPr>
          <a:xfrm>
            <a:off x="7909086" y="2643865"/>
            <a:ext cx="2758914" cy="610808"/>
          </a:xfrm>
          <a:prstGeom prst="rect">
            <a:avLst/>
          </a:prstGeom>
        </p:spPr>
        <p:txBody>
          <a:bodyPr wrap="square" lIns="0" tIns="0" rIns="0" bIns="0" rtlCol="0" anchor="t">
            <a:spAutoFit/>
          </a:bodyPr>
          <a:lstStyle/>
          <a:p>
            <a:pPr marL="214716" lvl="1" algn="ctr">
              <a:lnSpc>
                <a:spcPts val="2386"/>
              </a:lnSpc>
            </a:pPr>
            <a:r>
              <a:rPr lang="en-US" sz="1989" spc="188" dirty="0">
                <a:solidFill>
                  <a:srgbClr val="000000"/>
                </a:solidFill>
                <a:latin typeface="Times New Roman MT"/>
                <a:ea typeface="Times New Roman MT"/>
                <a:cs typeface="Times New Roman MT"/>
                <a:sym typeface="Times New Roman MT"/>
              </a:rPr>
              <a:t>3.IDENTIFY AN</a:t>
            </a:r>
          </a:p>
          <a:p>
            <a:pPr algn="ctr">
              <a:lnSpc>
                <a:spcPts val="2386"/>
              </a:lnSpc>
              <a:spcBef>
                <a:spcPct val="0"/>
              </a:spcBef>
            </a:pPr>
            <a:r>
              <a:rPr lang="en-US" sz="1989" spc="189" dirty="0">
                <a:solidFill>
                  <a:srgbClr val="000000"/>
                </a:solidFill>
                <a:latin typeface="Times New Roman MT"/>
                <a:ea typeface="Times New Roman MT"/>
                <a:cs typeface="Times New Roman MT"/>
                <a:sym typeface="Times New Roman MT"/>
              </a:rPr>
              <a:t> OPPORTUNITY</a:t>
            </a:r>
          </a:p>
        </p:txBody>
      </p:sp>
      <p:sp>
        <p:nvSpPr>
          <p:cNvPr id="57" name="TextBox 57"/>
          <p:cNvSpPr txBox="1"/>
          <p:nvPr/>
        </p:nvSpPr>
        <p:spPr>
          <a:xfrm>
            <a:off x="898112" y="3825378"/>
            <a:ext cx="2696462" cy="1817329"/>
          </a:xfrm>
          <a:prstGeom prst="rect">
            <a:avLst/>
          </a:prstGeom>
        </p:spPr>
        <p:txBody>
          <a:bodyPr lIns="0" tIns="0" rIns="0" bIns="0" rtlCol="0" anchor="t">
            <a:spAutoFit/>
          </a:bodyPr>
          <a:lstStyle/>
          <a:p>
            <a:pPr algn="ctr">
              <a:lnSpc>
                <a:spcPts val="2341"/>
              </a:lnSpc>
              <a:spcBef>
                <a:spcPct val="0"/>
              </a:spcBef>
            </a:pPr>
            <a:r>
              <a:rPr lang="en-US" sz="1950" spc="185">
                <a:solidFill>
                  <a:srgbClr val="000000"/>
                </a:solidFill>
                <a:latin typeface="Calibri (MS)"/>
                <a:ea typeface="Calibri (MS)"/>
                <a:cs typeface="Calibri (MS)"/>
                <a:sym typeface="Calibri (MS)"/>
              </a:rPr>
              <a:t>Study a real disaster case, identify what was damaged, and understand the factors influencing reconstruction</a:t>
            </a:r>
          </a:p>
        </p:txBody>
      </p:sp>
      <p:sp>
        <p:nvSpPr>
          <p:cNvPr id="58" name="TextBox 58"/>
          <p:cNvSpPr txBox="1"/>
          <p:nvPr/>
        </p:nvSpPr>
        <p:spPr>
          <a:xfrm>
            <a:off x="4173855" y="3617824"/>
            <a:ext cx="2991250" cy="2114550"/>
          </a:xfrm>
          <a:prstGeom prst="rect">
            <a:avLst/>
          </a:prstGeom>
        </p:spPr>
        <p:txBody>
          <a:bodyPr lIns="0" tIns="0" rIns="0" bIns="0" rtlCol="0" anchor="t">
            <a:spAutoFit/>
          </a:bodyPr>
          <a:lstStyle/>
          <a:p>
            <a:pPr algn="ctr">
              <a:lnSpc>
                <a:spcPts val="2369"/>
              </a:lnSpc>
              <a:spcBef>
                <a:spcPct val="0"/>
              </a:spcBef>
            </a:pPr>
            <a:r>
              <a:rPr lang="en-US" sz="1974" spc="188">
                <a:solidFill>
                  <a:srgbClr val="000000"/>
                </a:solidFill>
                <a:latin typeface="Calibri (MS)"/>
                <a:ea typeface="Calibri (MS)"/>
                <a:cs typeface="Calibri (MS)"/>
                <a:sym typeface="Calibri (MS)"/>
              </a:rPr>
              <a:t>Examine existing reconstruction practics and compare them with approaches that account for future risks, costs and local constraints</a:t>
            </a:r>
          </a:p>
        </p:txBody>
      </p:sp>
      <p:sp>
        <p:nvSpPr>
          <p:cNvPr id="59" name="TextBox 59"/>
          <p:cNvSpPr txBox="1"/>
          <p:nvPr/>
        </p:nvSpPr>
        <p:spPr>
          <a:xfrm>
            <a:off x="7909086" y="3825378"/>
            <a:ext cx="2832003" cy="2144177"/>
          </a:xfrm>
          <a:prstGeom prst="rect">
            <a:avLst/>
          </a:prstGeom>
        </p:spPr>
        <p:txBody>
          <a:bodyPr wrap="square" lIns="0" tIns="0" rIns="0" bIns="0" rtlCol="0" anchor="t">
            <a:spAutoFit/>
          </a:bodyPr>
          <a:lstStyle/>
          <a:p>
            <a:pPr algn="ctr">
              <a:lnSpc>
                <a:spcPts val="2364"/>
              </a:lnSpc>
              <a:spcBef>
                <a:spcPct val="0"/>
              </a:spcBef>
            </a:pPr>
            <a:r>
              <a:rPr lang="en-US" sz="1970" spc="187" dirty="0">
                <a:solidFill>
                  <a:srgbClr val="000000"/>
                </a:solidFill>
                <a:latin typeface="Calibri (MS)"/>
                <a:ea typeface="Calibri (MS)"/>
                <a:cs typeface="Calibri (MS)"/>
                <a:sym typeface="Calibri (MS)"/>
              </a:rPr>
              <a:t>Develop a reasoned proposal for improving reconstruction decisions, supported by evidence from the selected case study</a:t>
            </a:r>
          </a:p>
        </p:txBody>
      </p:sp>
      <p:sp>
        <p:nvSpPr>
          <p:cNvPr id="60" name="TextBox 60"/>
          <p:cNvSpPr txBox="1"/>
          <p:nvPr/>
        </p:nvSpPr>
        <p:spPr>
          <a:xfrm>
            <a:off x="11556898" y="3608299"/>
            <a:ext cx="6544379" cy="5181204"/>
          </a:xfrm>
          <a:prstGeom prst="rect">
            <a:avLst/>
          </a:prstGeom>
        </p:spPr>
        <p:txBody>
          <a:bodyPr lIns="0" tIns="0" rIns="0" bIns="0" rtlCol="0" anchor="t">
            <a:spAutoFit/>
          </a:bodyPr>
          <a:lstStyle/>
          <a:p>
            <a:pPr marL="562858" lvl="1" indent="-281429" algn="l">
              <a:lnSpc>
                <a:spcPts val="3128"/>
              </a:lnSpc>
              <a:spcBef>
                <a:spcPct val="0"/>
              </a:spcBef>
              <a:buFont typeface="Arial"/>
              <a:buChar char="•"/>
            </a:pPr>
            <a:r>
              <a:rPr lang="en-US" sz="2607" spc="247">
                <a:solidFill>
                  <a:srgbClr val="000000"/>
                </a:solidFill>
                <a:latin typeface="Calibri (MS)"/>
                <a:ea typeface="Calibri (MS)"/>
                <a:cs typeface="Calibri (MS)"/>
                <a:sym typeface="Calibri (MS)"/>
              </a:rPr>
              <a:t>A clearer understanding of why infrastructure is damaged and how reconstruction decisions are made.</a:t>
            </a:r>
          </a:p>
          <a:p>
            <a:pPr marL="562858" lvl="1" indent="-281429" algn="l">
              <a:lnSpc>
                <a:spcPts val="3128"/>
              </a:lnSpc>
              <a:spcBef>
                <a:spcPct val="0"/>
              </a:spcBef>
              <a:buFont typeface="Arial"/>
              <a:buChar char="•"/>
            </a:pPr>
            <a:r>
              <a:rPr lang="en-US" sz="2607" spc="247">
                <a:solidFill>
                  <a:srgbClr val="000000"/>
                </a:solidFill>
                <a:latin typeface="Calibri (MS)"/>
                <a:ea typeface="Calibri (MS)"/>
                <a:cs typeface="Calibri (MS)"/>
                <a:sym typeface="Calibri (MS)"/>
              </a:rPr>
              <a:t>Identification of gaps between immediate recovery and long-term resilience.</a:t>
            </a:r>
          </a:p>
          <a:p>
            <a:pPr marL="562858" lvl="1" indent="-281429" algn="l">
              <a:lnSpc>
                <a:spcPts val="3128"/>
              </a:lnSpc>
              <a:spcBef>
                <a:spcPct val="0"/>
              </a:spcBef>
              <a:buFont typeface="Arial"/>
              <a:buChar char="•"/>
            </a:pPr>
            <a:r>
              <a:rPr lang="en-US" sz="2607" spc="247">
                <a:solidFill>
                  <a:srgbClr val="000000"/>
                </a:solidFill>
                <a:latin typeface="Calibri (MS)"/>
                <a:ea typeface="Calibri (MS)"/>
                <a:cs typeface="Calibri (MS)"/>
                <a:sym typeface="Calibri (MS)"/>
              </a:rPr>
              <a:t>A practical, evidence-informed proposal for considering resilience in future reconstruction decisions.</a:t>
            </a:r>
          </a:p>
          <a:p>
            <a:pPr marL="562858" lvl="1" indent="-281429" algn="l">
              <a:lnSpc>
                <a:spcPts val="3128"/>
              </a:lnSpc>
              <a:spcBef>
                <a:spcPct val="0"/>
              </a:spcBef>
              <a:buFont typeface="Arial"/>
              <a:buChar char="•"/>
            </a:pPr>
            <a:r>
              <a:rPr lang="en-US" sz="2607" spc="247">
                <a:solidFill>
                  <a:srgbClr val="000000"/>
                </a:solidFill>
                <a:latin typeface="Calibri (MS)"/>
                <a:ea typeface="Calibri (MS)"/>
                <a:cs typeface="Calibri (MS)"/>
                <a:sym typeface="Calibri (MS)"/>
              </a:rPr>
              <a:t>Criteria to evaluate the proposal, such as safety, cost, durability, feasibility and community needs.</a:t>
            </a:r>
          </a:p>
          <a:p>
            <a:pPr algn="l">
              <a:lnSpc>
                <a:spcPts val="3128"/>
              </a:lnSpc>
              <a:spcBef>
                <a:spcPct val="0"/>
              </a:spcBef>
            </a:pPr>
            <a:endParaRPr lang="en-US" sz="2607" spc="247">
              <a:solidFill>
                <a:srgbClr val="000000"/>
              </a:solidFill>
              <a:latin typeface="Calibri (MS)"/>
              <a:ea typeface="Calibri (MS)"/>
              <a:cs typeface="Calibri (MS)"/>
              <a:sym typeface="Calibri (MS)"/>
            </a:endParaRPr>
          </a:p>
        </p:txBody>
      </p:sp>
      <p:sp>
        <p:nvSpPr>
          <p:cNvPr id="61" name="TextBox 61"/>
          <p:cNvSpPr txBox="1"/>
          <p:nvPr/>
        </p:nvSpPr>
        <p:spPr>
          <a:xfrm>
            <a:off x="11415601" y="2427364"/>
            <a:ext cx="6826974" cy="656784"/>
          </a:xfrm>
          <a:prstGeom prst="rect">
            <a:avLst/>
          </a:prstGeom>
        </p:spPr>
        <p:txBody>
          <a:bodyPr lIns="0" tIns="0" rIns="0" bIns="0" rtlCol="0" anchor="t">
            <a:spAutoFit/>
          </a:bodyPr>
          <a:lstStyle/>
          <a:p>
            <a:pPr algn="ctr">
              <a:lnSpc>
                <a:spcPts val="4608"/>
              </a:lnSpc>
              <a:spcBef>
                <a:spcPct val="0"/>
              </a:spcBef>
            </a:pPr>
            <a:r>
              <a:rPr lang="en-US" sz="3840" spc="365">
                <a:solidFill>
                  <a:srgbClr val="000000"/>
                </a:solidFill>
                <a:latin typeface="Times New Roman MT"/>
                <a:ea typeface="Times New Roman MT"/>
                <a:cs typeface="Times New Roman MT"/>
                <a:sym typeface="Times New Roman MT"/>
              </a:rPr>
              <a:t>EXPECTED OUTCOME</a:t>
            </a:r>
          </a:p>
        </p:txBody>
      </p:sp>
      <p:sp>
        <p:nvSpPr>
          <p:cNvPr id="62" name="TextBox 62"/>
          <p:cNvSpPr txBox="1"/>
          <p:nvPr/>
        </p:nvSpPr>
        <p:spPr>
          <a:xfrm>
            <a:off x="330927" y="7407856"/>
            <a:ext cx="6679473" cy="378117"/>
          </a:xfrm>
          <a:prstGeom prst="rect">
            <a:avLst/>
          </a:prstGeom>
        </p:spPr>
        <p:txBody>
          <a:bodyPr wrap="square" lIns="0" tIns="0" rIns="0" bIns="0" rtlCol="0" anchor="t">
            <a:spAutoFit/>
          </a:bodyPr>
          <a:lstStyle/>
          <a:p>
            <a:pPr algn="ctr">
              <a:lnSpc>
                <a:spcPts val="2961"/>
              </a:lnSpc>
              <a:spcBef>
                <a:spcPct val="0"/>
              </a:spcBef>
            </a:pPr>
            <a:r>
              <a:rPr lang="en-US" sz="2468" b="1" spc="235" dirty="0">
                <a:solidFill>
                  <a:srgbClr val="000000"/>
                </a:solidFill>
                <a:latin typeface="Times New Roman MT Bold"/>
                <a:ea typeface="Times New Roman MT Bold"/>
                <a:cs typeface="Times New Roman MT Bold"/>
                <a:sym typeface="Times New Roman MT Bold"/>
              </a:rPr>
              <a:t>The goal is not merely to rebuild faster</a:t>
            </a:r>
          </a:p>
        </p:txBody>
      </p:sp>
      <p:sp>
        <p:nvSpPr>
          <p:cNvPr id="63" name="TextBox 63"/>
          <p:cNvSpPr txBox="1"/>
          <p:nvPr/>
        </p:nvSpPr>
        <p:spPr>
          <a:xfrm>
            <a:off x="-153115" y="7967216"/>
            <a:ext cx="7165105" cy="573687"/>
          </a:xfrm>
          <a:prstGeom prst="rect">
            <a:avLst/>
          </a:prstGeom>
        </p:spPr>
        <p:txBody>
          <a:bodyPr lIns="0" tIns="0" rIns="0" bIns="0" rtlCol="0" anchor="t">
            <a:spAutoFit/>
          </a:bodyPr>
          <a:lstStyle/>
          <a:p>
            <a:pPr algn="ctr">
              <a:lnSpc>
                <a:spcPts val="2276"/>
              </a:lnSpc>
              <a:spcBef>
                <a:spcPct val="0"/>
              </a:spcBef>
            </a:pPr>
            <a:r>
              <a:rPr lang="en-US" sz="1897" spc="180" dirty="0">
                <a:solidFill>
                  <a:srgbClr val="000000"/>
                </a:solidFill>
                <a:latin typeface="Glacial Indifference"/>
                <a:ea typeface="Glacial Indifference"/>
                <a:cs typeface="Glacial Indifference"/>
                <a:sym typeface="Glacial Indifference"/>
              </a:rPr>
              <a:t>It is to make every reconstruction decision an opportunity to reduce future vulnerability</a:t>
            </a:r>
          </a:p>
        </p:txBody>
      </p:sp>
      <p:sp>
        <p:nvSpPr>
          <p:cNvPr id="64" name="TextBox 64"/>
          <p:cNvSpPr txBox="1"/>
          <p:nvPr/>
        </p:nvSpPr>
        <p:spPr>
          <a:xfrm>
            <a:off x="-309836" y="6884899"/>
            <a:ext cx="5909979" cy="456282"/>
          </a:xfrm>
          <a:prstGeom prst="rect">
            <a:avLst/>
          </a:prstGeom>
        </p:spPr>
        <p:txBody>
          <a:bodyPr lIns="0" tIns="0" rIns="0" bIns="0" rtlCol="0" anchor="t">
            <a:spAutoFit/>
          </a:bodyPr>
          <a:lstStyle/>
          <a:p>
            <a:pPr algn="ctr">
              <a:lnSpc>
                <a:spcPts val="3545"/>
              </a:lnSpc>
              <a:spcBef>
                <a:spcPct val="0"/>
              </a:spcBef>
            </a:pPr>
            <a:r>
              <a:rPr lang="en-US" sz="2954" spc="281">
                <a:solidFill>
                  <a:srgbClr val="000000"/>
                </a:solidFill>
                <a:latin typeface="Archivo Black"/>
                <a:ea typeface="Archivo Black"/>
                <a:cs typeface="Archivo Black"/>
                <a:sym typeface="Archivo Black"/>
              </a:rPr>
              <a:t>OUR BIG PICTURE</a:t>
            </a:r>
          </a:p>
        </p:txBody>
      </p:sp>
      <p:sp>
        <p:nvSpPr>
          <p:cNvPr id="65" name="TextBox 65"/>
          <p:cNvSpPr txBox="1"/>
          <p:nvPr/>
        </p:nvSpPr>
        <p:spPr>
          <a:xfrm>
            <a:off x="9064274" y="1978859"/>
            <a:ext cx="6452132" cy="294953"/>
          </a:xfrm>
          <a:prstGeom prst="rect">
            <a:avLst/>
          </a:prstGeom>
        </p:spPr>
        <p:txBody>
          <a:bodyPr wrap="square" lIns="0" tIns="0" rIns="0" bIns="0" rtlCol="0" anchor="t">
            <a:spAutoFit/>
          </a:bodyPr>
          <a:lstStyle/>
          <a:p>
            <a:pPr algn="ctr">
              <a:lnSpc>
                <a:spcPts val="2335"/>
              </a:lnSpc>
              <a:spcBef>
                <a:spcPct val="0"/>
              </a:spcBef>
            </a:pPr>
            <a:r>
              <a:rPr lang="en-US" sz="1946" spc="185" dirty="0">
                <a:solidFill>
                  <a:srgbClr val="000000"/>
                </a:solidFill>
                <a:latin typeface="Glacial Indifference"/>
                <a:ea typeface="Glacial Indifference"/>
                <a:cs typeface="Glacial Indifference"/>
                <a:sym typeface="Glacial Indifference"/>
              </a:rPr>
              <a:t>“Not just what we lost, but what could be safer”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TotalTime>
  <Words>1391</Words>
  <Application>Microsoft Office PowerPoint</Application>
  <PresentationFormat>Custom</PresentationFormat>
  <Paragraphs>158</Paragraphs>
  <Slides>8</Slides>
  <Notes>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8</vt:i4>
      </vt:variant>
    </vt:vector>
  </HeadingPairs>
  <TitlesOfParts>
    <vt:vector size="21" baseType="lpstr">
      <vt:lpstr>Times New Roman MT Bold</vt:lpstr>
      <vt:lpstr>Calibri</vt:lpstr>
      <vt:lpstr>Calibri (MS) Bold</vt:lpstr>
      <vt:lpstr>Times New Roman MT</vt:lpstr>
      <vt:lpstr>Glacial Indifference Bold</vt:lpstr>
      <vt:lpstr>Calibri (MS)</vt:lpstr>
      <vt:lpstr>Cooper BT Bold</vt:lpstr>
      <vt:lpstr>Archivo Black</vt:lpstr>
      <vt:lpstr>Cambria Bold</vt:lpstr>
      <vt:lpstr>Arial</vt:lpstr>
      <vt:lpstr>Glacial Indifference</vt:lpstr>
      <vt:lpstr>Calibri (MS) Italics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Name – INNOV4 Team Members – Danushree K S - CB.SC.U4CSE26313 Nibashini V G - CB.SC.U4CSE26363 Kavyashree Rupesh - CB.SC.U4CSE26325 Shamritha - CB.SC.U4CSE26354 Selected Domain – 4. Climate action, water and environmental resilience Problem Statement</dc:title>
  <cp:lastModifiedBy>kavyashree rupesh</cp:lastModifiedBy>
  <cp:revision>3</cp:revision>
  <dcterms:created xsi:type="dcterms:W3CDTF">2006-08-16T00:00:00Z</dcterms:created>
  <dcterms:modified xsi:type="dcterms:W3CDTF">2026-10-09T17:18:54Z</dcterms:modified>
  <dc:identifier>DAHXWSPbeuc</dc:identifier>
</cp:coreProperties>
</file>